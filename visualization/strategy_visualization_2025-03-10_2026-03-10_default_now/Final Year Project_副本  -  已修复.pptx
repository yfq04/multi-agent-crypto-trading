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56" r:id="rId2"/>
    <p:sldId id="289" r:id="rId3"/>
    <p:sldId id="291" r:id="rId4"/>
    <p:sldId id="292" r:id="rId5"/>
    <p:sldId id="293" r:id="rId6"/>
    <p:sldId id="286" r:id="rId7"/>
    <p:sldId id="295" r:id="rId8"/>
    <p:sldId id="296" r:id="rId9"/>
    <p:sldId id="300" r:id="rId10"/>
    <p:sldId id="298" r:id="rId11"/>
    <p:sldId id="301" r:id="rId12"/>
    <p:sldId id="302" r:id="rId13"/>
    <p:sldId id="304" r:id="rId14"/>
    <p:sldId id="299" r:id="rId15"/>
    <p:sldId id="307" r:id="rId16"/>
    <p:sldId id="269" r:id="rId17"/>
    <p:sldId id="311" r:id="rId18"/>
    <p:sldId id="312" r:id="rId19"/>
    <p:sldId id="271" r:id="rId20"/>
    <p:sldId id="315" r:id="rId21"/>
    <p:sldId id="316" r:id="rId22"/>
    <p:sldId id="317" r:id="rId23"/>
    <p:sldId id="274" r:id="rId24"/>
    <p:sldId id="318" r:id="rId25"/>
    <p:sldId id="319" r:id="rId26"/>
    <p:sldId id="320" r:id="rId27"/>
    <p:sldId id="276" r:id="rId28"/>
  </p:sldIdLst>
  <p:sldSz cx="18288000" cy="10287000"/>
  <p:notesSz cx="6858000" cy="9144000"/>
  <p:embeddedFontLst>
    <p:embeddedFont>
      <p:font typeface="等线" panose="02010600030101010101" pitchFamily="2" charset="-122"/>
      <p:regular r:id="rId30"/>
      <p:bold r:id="rId31"/>
    </p:embeddedFont>
    <p:embeddedFont>
      <p:font typeface="League Spartan" pitchFamily="2" charset="0"/>
      <p:regular r:id="rId32"/>
      <p:bold r:id="rId32"/>
    </p:embeddedFont>
    <p:embeddedFont>
      <p:font typeface="Poppins" pitchFamily="2" charset="0"/>
      <p:regular r:id="rId33"/>
      <p:bold r:id="rId34"/>
      <p:italic r:id="rId35"/>
      <p:boldItalic r:id="rId36"/>
    </p:embeddedFont>
    <p:embeddedFont>
      <p:font typeface="Poppins Bold" pitchFamily="2" charset="0"/>
      <p:regular r:id="rId37"/>
      <p:bold r:id="rId37"/>
      <p:italic r:id="rId38"/>
      <p:boldItalic r:id="rId39"/>
    </p:embeddedFont>
    <p:embeddedFont>
      <p:font typeface="Roboto" panose="02000000000000000000" pitchFamily="2" charset="0"/>
      <p:regular r:id="rId40"/>
      <p:bold r:id="rId41"/>
      <p:italic r:id="rId42"/>
      <p:boldItalic r:id="rId43"/>
    </p:embeddedFont>
    <p:embeddedFont>
      <p:font typeface="Roboto Bold" panose="02000000000000000000" pitchFamily="2" charset="0"/>
      <p:regular r:id="rId44"/>
      <p:bold r:id="rId44"/>
      <p:italic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AAD"/>
    <a:srgbClr val="FF8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404" autoAdjust="0"/>
    <p:restoredTop sz="94617" autoAdjust="0"/>
  </p:normalViewPr>
  <p:slideViewPr>
    <p:cSldViewPr>
      <p:cViewPr>
        <p:scale>
          <a:sx n="45" d="100"/>
          <a:sy n="45" d="100"/>
        </p:scale>
        <p:origin x="312" y="14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B51F73-1162-2041-B4EF-7A4BA1B337C6}" type="datetimeFigureOut">
              <a:rPr kumimoji="1" lang="zh-CN" altLang="en-US" smtClean="0"/>
              <a:t>2026/8/19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D97B3-2681-C747-9787-E79F721025FB}" type="slidenum">
              <a:rPr kumimoji="1" lang="zh-CN" altLang="en-US" smtClean="0"/>
              <a:t>‹#›</a:t>
            </a:fld>
            <a:endParaRPr kumimoji="1" lang="zh-CN" altLang="en-US"/>
          </a:p>
        </p:txBody>
      </p:sp>
    </p:spTree>
    <p:extLst>
      <p:ext uri="{BB962C8B-B14F-4D97-AF65-F5344CB8AC3E}">
        <p14:creationId xmlns:p14="http://schemas.microsoft.com/office/powerpoint/2010/main" val="2179295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afternoon, professors. This is Nora. Today I’m glad to introduce my final year project to you and my topic is multi-agent synergistic framework for cryptocurrency investment. </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21BD97B3-2681-C747-9787-E79F721025FB}" type="slidenum">
              <a:rPr kumimoji="1" lang="zh-CN" altLang="en-US" smtClean="0"/>
              <a:t>1</a:t>
            </a:fld>
            <a:endParaRPr kumimoji="1" lang="zh-CN" altLang="en-US"/>
          </a:p>
        </p:txBody>
      </p:sp>
    </p:spTree>
    <p:extLst>
      <p:ext uri="{BB962C8B-B14F-4D97-AF65-F5344CB8AC3E}">
        <p14:creationId xmlns:p14="http://schemas.microsoft.com/office/powerpoint/2010/main" val="150079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8BCE0-4658-3174-3A3C-5CBF32082F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1CFB72-E5A5-5ADF-5D19-AA627B2229A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23C774-ED82-9654-4493-AA888C13D2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afternoon, professors. This is Nora. Today I’m glad to introduce my final year project to you and my topic is multi-agent synergistic framework for cryptocurrency investment. </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C1616A28-FD9E-4C7F-FF00-2E42E4FDE3A9}"/>
              </a:ext>
            </a:extLst>
          </p:cNvPr>
          <p:cNvSpPr>
            <a:spLocks noGrp="1"/>
          </p:cNvSpPr>
          <p:nvPr>
            <p:ph type="sldNum" sz="quarter" idx="5"/>
          </p:nvPr>
        </p:nvSpPr>
        <p:spPr/>
        <p:txBody>
          <a:bodyPr/>
          <a:lstStyle/>
          <a:p>
            <a:fld id="{21BD97B3-2681-C747-9787-E79F721025FB}" type="slidenum">
              <a:rPr kumimoji="1" lang="zh-CN" altLang="en-US" smtClean="0"/>
              <a:t>2</a:t>
            </a:fld>
            <a:endParaRPr kumimoji="1" lang="zh-CN" altLang="en-US"/>
          </a:p>
        </p:txBody>
      </p:sp>
    </p:spTree>
    <p:extLst>
      <p:ext uri="{BB962C8B-B14F-4D97-AF65-F5344CB8AC3E}">
        <p14:creationId xmlns:p14="http://schemas.microsoft.com/office/powerpoint/2010/main" val="2823079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B7955-2EB5-920C-1F7F-52FE9E45DB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A57819-8770-40FC-89D6-D5500DE25E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8F9798-15F7-95A2-A433-1E76138DB67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afternoon, professors. This is Nora. Today I’m glad to introduce my final year project to you and my topic is multi-agent synergistic framework for cryptocurrency investment. </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5CE55A3A-822C-CD58-788B-DDC6C997545C}"/>
              </a:ext>
            </a:extLst>
          </p:cNvPr>
          <p:cNvSpPr>
            <a:spLocks noGrp="1"/>
          </p:cNvSpPr>
          <p:nvPr>
            <p:ph type="sldNum" sz="quarter" idx="5"/>
          </p:nvPr>
        </p:nvSpPr>
        <p:spPr/>
        <p:txBody>
          <a:bodyPr/>
          <a:lstStyle/>
          <a:p>
            <a:fld id="{21BD97B3-2681-C747-9787-E79F721025FB}" type="slidenum">
              <a:rPr kumimoji="1" lang="zh-CN" altLang="en-US" smtClean="0"/>
              <a:t>3</a:t>
            </a:fld>
            <a:endParaRPr kumimoji="1" lang="zh-CN" altLang="en-US"/>
          </a:p>
        </p:txBody>
      </p:sp>
    </p:spTree>
    <p:extLst>
      <p:ext uri="{BB962C8B-B14F-4D97-AF65-F5344CB8AC3E}">
        <p14:creationId xmlns:p14="http://schemas.microsoft.com/office/powerpoint/2010/main" val="27550532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DB288-37D9-61B5-A2AC-ABCD8D2119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A41159-BC06-ABD0-8A06-E2D8E539FAC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CB8BCA4-5233-90D0-E0AC-DCA83DF3E99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afternoon, professors. This is Nora. Today I’m glad to introduce my final year project to you and my topic is multi-agent synergistic framework for cryptocurrency investment. </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2EC40634-6D66-4A12-F76A-E3EE62D69F8A}"/>
              </a:ext>
            </a:extLst>
          </p:cNvPr>
          <p:cNvSpPr>
            <a:spLocks noGrp="1"/>
          </p:cNvSpPr>
          <p:nvPr>
            <p:ph type="sldNum" sz="quarter" idx="5"/>
          </p:nvPr>
        </p:nvSpPr>
        <p:spPr/>
        <p:txBody>
          <a:bodyPr/>
          <a:lstStyle/>
          <a:p>
            <a:fld id="{21BD97B3-2681-C747-9787-E79F721025FB}" type="slidenum">
              <a:rPr kumimoji="1" lang="zh-CN" altLang="en-US" smtClean="0"/>
              <a:t>4</a:t>
            </a:fld>
            <a:endParaRPr kumimoji="1" lang="zh-CN" altLang="en-US"/>
          </a:p>
        </p:txBody>
      </p:sp>
    </p:spTree>
    <p:extLst>
      <p:ext uri="{BB962C8B-B14F-4D97-AF65-F5344CB8AC3E}">
        <p14:creationId xmlns:p14="http://schemas.microsoft.com/office/powerpoint/2010/main" val="234790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F658A-04DD-D9F8-737F-99F160A464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F34BCB-66FC-589C-31E2-70DAF79EAC2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13ECD1-F15D-0673-508C-F10D619C9B6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afternoon, professors. This is Nora. Today I’m glad to introduce my final year project to you and my topic is multi-agent synergistic framework for cryptocurrency investment. </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4F2C087B-6F2D-1FB2-75C3-96742B5B8509}"/>
              </a:ext>
            </a:extLst>
          </p:cNvPr>
          <p:cNvSpPr>
            <a:spLocks noGrp="1"/>
          </p:cNvSpPr>
          <p:nvPr>
            <p:ph type="sldNum" sz="quarter" idx="5"/>
          </p:nvPr>
        </p:nvSpPr>
        <p:spPr/>
        <p:txBody>
          <a:bodyPr/>
          <a:lstStyle/>
          <a:p>
            <a:fld id="{21BD97B3-2681-C747-9787-E79F721025FB}" type="slidenum">
              <a:rPr kumimoji="1" lang="zh-CN" altLang="en-US" smtClean="0"/>
              <a:t>5</a:t>
            </a:fld>
            <a:endParaRPr kumimoji="1" lang="zh-CN" altLang="en-US"/>
          </a:p>
        </p:txBody>
      </p:sp>
    </p:spTree>
    <p:extLst>
      <p:ext uri="{BB962C8B-B14F-4D97-AF65-F5344CB8AC3E}">
        <p14:creationId xmlns:p14="http://schemas.microsoft.com/office/powerpoint/2010/main" val="4168212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6FD04-C0BA-A7BD-7506-5DF103451F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44F669-1386-AF84-6105-731DCDF175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6B5726-600F-3386-7AC1-39656495B45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afternoon, professors. This is Nora. Today I’m glad to introduce my final year project to you and my topic is multi-agent synergistic framework for cryptocurrency investment. </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CC906677-5F70-58E1-09D0-E1215E188737}"/>
              </a:ext>
            </a:extLst>
          </p:cNvPr>
          <p:cNvSpPr>
            <a:spLocks noGrp="1"/>
          </p:cNvSpPr>
          <p:nvPr>
            <p:ph type="sldNum" sz="quarter" idx="5"/>
          </p:nvPr>
        </p:nvSpPr>
        <p:spPr/>
        <p:txBody>
          <a:bodyPr/>
          <a:lstStyle/>
          <a:p>
            <a:fld id="{21BD97B3-2681-C747-9787-E79F721025FB}" type="slidenum">
              <a:rPr kumimoji="1" lang="zh-CN" altLang="en-US" smtClean="0"/>
              <a:t>6</a:t>
            </a:fld>
            <a:endParaRPr kumimoji="1" lang="zh-CN" altLang="en-US"/>
          </a:p>
        </p:txBody>
      </p:sp>
    </p:spTree>
    <p:extLst>
      <p:ext uri="{BB962C8B-B14F-4D97-AF65-F5344CB8AC3E}">
        <p14:creationId xmlns:p14="http://schemas.microsoft.com/office/powerpoint/2010/main" val="3510902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C01FD-80AE-245C-472F-4D12ABC1BA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CB3348-727C-53A9-3BF0-98F9F43931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2F3C6B-6BC7-0807-3151-01CDC996D7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afternoon, professors. This is Nora. Today I’m glad to introduce my final year project to you and my topic is multi-agent synergistic framework for cryptocurrency investment. </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A101FD45-DD57-5977-5118-ADA196078D17}"/>
              </a:ext>
            </a:extLst>
          </p:cNvPr>
          <p:cNvSpPr>
            <a:spLocks noGrp="1"/>
          </p:cNvSpPr>
          <p:nvPr>
            <p:ph type="sldNum" sz="quarter" idx="5"/>
          </p:nvPr>
        </p:nvSpPr>
        <p:spPr/>
        <p:txBody>
          <a:bodyPr/>
          <a:lstStyle/>
          <a:p>
            <a:fld id="{21BD97B3-2681-C747-9787-E79F721025FB}" type="slidenum">
              <a:rPr kumimoji="1" lang="zh-CN" altLang="en-US" smtClean="0"/>
              <a:t>7</a:t>
            </a:fld>
            <a:endParaRPr kumimoji="1" lang="zh-CN" altLang="en-US"/>
          </a:p>
        </p:txBody>
      </p:sp>
    </p:spTree>
    <p:extLst>
      <p:ext uri="{BB962C8B-B14F-4D97-AF65-F5344CB8AC3E}">
        <p14:creationId xmlns:p14="http://schemas.microsoft.com/office/powerpoint/2010/main" val="1986760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136C9-546C-FD6A-BE56-AB4DDEEDCE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25BA92-3FB3-0375-5B61-D1949A4785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AF617FF-6D17-C09E-D919-604A37A12A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afternoon, professors. This is Nora. Today I’m glad to introduce my final year project to you and my topic is multi-agent synergistic framework for cryptocurrency investment. </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630D508B-5FC5-2726-2E9B-C394A57F11A6}"/>
              </a:ext>
            </a:extLst>
          </p:cNvPr>
          <p:cNvSpPr>
            <a:spLocks noGrp="1"/>
          </p:cNvSpPr>
          <p:nvPr>
            <p:ph type="sldNum" sz="quarter" idx="5"/>
          </p:nvPr>
        </p:nvSpPr>
        <p:spPr/>
        <p:txBody>
          <a:bodyPr/>
          <a:lstStyle/>
          <a:p>
            <a:fld id="{21BD97B3-2681-C747-9787-E79F721025FB}" type="slidenum">
              <a:rPr kumimoji="1" lang="zh-CN" altLang="en-US" smtClean="0"/>
              <a:t>8</a:t>
            </a:fld>
            <a:endParaRPr kumimoji="1" lang="zh-CN" altLang="en-US"/>
          </a:p>
        </p:txBody>
      </p:sp>
    </p:spTree>
    <p:extLst>
      <p:ext uri="{BB962C8B-B14F-4D97-AF65-F5344CB8AC3E}">
        <p14:creationId xmlns:p14="http://schemas.microsoft.com/office/powerpoint/2010/main" val="1398628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0532F-4126-B101-0B86-3BDFF2719F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DAC3E6-466A-0AD6-13F7-C91DF1C2ABA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AACE716-4E9A-8C36-7CFA-2D9A3C84EC5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afternoon, professors. This is Nora. Today I’m glad to introduce my final year project to you and my topic is multi-agent synergistic framework for cryptocurrency investment. </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3226E6D3-E80A-9A9F-A390-4DBD8FC636BA}"/>
              </a:ext>
            </a:extLst>
          </p:cNvPr>
          <p:cNvSpPr>
            <a:spLocks noGrp="1"/>
          </p:cNvSpPr>
          <p:nvPr>
            <p:ph type="sldNum" sz="quarter" idx="5"/>
          </p:nvPr>
        </p:nvSpPr>
        <p:spPr/>
        <p:txBody>
          <a:bodyPr/>
          <a:lstStyle/>
          <a:p>
            <a:fld id="{21BD97B3-2681-C747-9787-E79F721025FB}" type="slidenum">
              <a:rPr kumimoji="1" lang="zh-CN" altLang="en-US" smtClean="0"/>
              <a:t>9</a:t>
            </a:fld>
            <a:endParaRPr kumimoji="1" lang="zh-CN" altLang="en-US"/>
          </a:p>
        </p:txBody>
      </p:sp>
    </p:spTree>
    <p:extLst>
      <p:ext uri="{BB962C8B-B14F-4D97-AF65-F5344CB8AC3E}">
        <p14:creationId xmlns:p14="http://schemas.microsoft.com/office/powerpoint/2010/main" val="19972445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27AB9-D489-5FFF-86D7-3558EEE758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A5F772-400D-3316-E882-8DF498B09B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80A092-5330-74CA-33FD-2838B30999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afternoon, professors. This is Nora. Today I’m glad to introduce my final year project to you and my topic is multi-agent synergistic framework for cryptocurrency investment. </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F5E57AC8-3C3E-80A3-B5BD-BBEBDE117A78}"/>
              </a:ext>
            </a:extLst>
          </p:cNvPr>
          <p:cNvSpPr>
            <a:spLocks noGrp="1"/>
          </p:cNvSpPr>
          <p:nvPr>
            <p:ph type="sldNum" sz="quarter" idx="5"/>
          </p:nvPr>
        </p:nvSpPr>
        <p:spPr/>
        <p:txBody>
          <a:bodyPr/>
          <a:lstStyle/>
          <a:p>
            <a:fld id="{21BD97B3-2681-C747-9787-E79F721025FB}" type="slidenum">
              <a:rPr kumimoji="1" lang="zh-CN" altLang="en-US" smtClean="0"/>
              <a:t>10</a:t>
            </a:fld>
            <a:endParaRPr kumimoji="1" lang="zh-CN" altLang="en-US"/>
          </a:p>
        </p:txBody>
      </p:sp>
    </p:spTree>
    <p:extLst>
      <p:ext uri="{BB962C8B-B14F-4D97-AF65-F5344CB8AC3E}">
        <p14:creationId xmlns:p14="http://schemas.microsoft.com/office/powerpoint/2010/main" val="3470355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899A4-17C4-A0EB-B74A-5E85CFEF1A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80DD9A-A888-DCA4-F2CF-ABA7E7A37F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FC1A17-E763-AEF2-B624-48D07ACF72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afternoon, professors. This is Nora. Today I’m glad to introduce my final year project to you and my topic is multi-agent synergistic framework for cryptocurrency investment. </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AB0AE224-A71A-34F7-CD0E-1789C7D83070}"/>
              </a:ext>
            </a:extLst>
          </p:cNvPr>
          <p:cNvSpPr>
            <a:spLocks noGrp="1"/>
          </p:cNvSpPr>
          <p:nvPr>
            <p:ph type="sldNum" sz="quarter" idx="5"/>
          </p:nvPr>
        </p:nvSpPr>
        <p:spPr/>
        <p:txBody>
          <a:bodyPr/>
          <a:lstStyle/>
          <a:p>
            <a:fld id="{21BD97B3-2681-C747-9787-E79F721025FB}" type="slidenum">
              <a:rPr kumimoji="1" lang="zh-CN" altLang="en-US" smtClean="0"/>
              <a:t>11</a:t>
            </a:fld>
            <a:endParaRPr kumimoji="1" lang="zh-CN" altLang="en-US"/>
          </a:p>
        </p:txBody>
      </p:sp>
    </p:spTree>
    <p:extLst>
      <p:ext uri="{BB962C8B-B14F-4D97-AF65-F5344CB8AC3E}">
        <p14:creationId xmlns:p14="http://schemas.microsoft.com/office/powerpoint/2010/main" val="3700516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19DE7-91B6-AAED-03B8-0A0257E057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CC525C-AC19-D421-D9BC-98EF4469DB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2A0519-B552-94ED-BF76-F3F22AB4C2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afternoon, professors. This is Nora. Today I’m glad to introduce my final year project to you and my topic is multi-agent synergistic framework for cryptocurrency investment. </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A62AA7F0-0055-17C3-BEDC-A113C9F15E45}"/>
              </a:ext>
            </a:extLst>
          </p:cNvPr>
          <p:cNvSpPr>
            <a:spLocks noGrp="1"/>
          </p:cNvSpPr>
          <p:nvPr>
            <p:ph type="sldNum" sz="quarter" idx="5"/>
          </p:nvPr>
        </p:nvSpPr>
        <p:spPr/>
        <p:txBody>
          <a:bodyPr/>
          <a:lstStyle/>
          <a:p>
            <a:fld id="{21BD97B3-2681-C747-9787-E79F721025FB}" type="slidenum">
              <a:rPr kumimoji="1" lang="zh-CN" altLang="en-US" smtClean="0"/>
              <a:t>12</a:t>
            </a:fld>
            <a:endParaRPr kumimoji="1" lang="zh-CN" altLang="en-US"/>
          </a:p>
        </p:txBody>
      </p:sp>
    </p:spTree>
    <p:extLst>
      <p:ext uri="{BB962C8B-B14F-4D97-AF65-F5344CB8AC3E}">
        <p14:creationId xmlns:p14="http://schemas.microsoft.com/office/powerpoint/2010/main" val="424547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34277-E207-B7A3-6639-09FF837397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30038C-6BB2-F003-6F39-9205E7D233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0E09BE-BC12-9957-F71D-5BDE36686B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afternoon, professors. This is Nora. Today I’m glad to introduce my final year project to you and my topic is multi-agent synergistic framework for cryptocurrency investment. </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E832B904-CE13-9748-AC56-B7A14B0BA708}"/>
              </a:ext>
            </a:extLst>
          </p:cNvPr>
          <p:cNvSpPr>
            <a:spLocks noGrp="1"/>
          </p:cNvSpPr>
          <p:nvPr>
            <p:ph type="sldNum" sz="quarter" idx="5"/>
          </p:nvPr>
        </p:nvSpPr>
        <p:spPr/>
        <p:txBody>
          <a:bodyPr/>
          <a:lstStyle/>
          <a:p>
            <a:fld id="{21BD97B3-2681-C747-9787-E79F721025FB}" type="slidenum">
              <a:rPr kumimoji="1" lang="zh-CN" altLang="en-US" smtClean="0"/>
              <a:t>13</a:t>
            </a:fld>
            <a:endParaRPr kumimoji="1" lang="zh-CN" altLang="en-US"/>
          </a:p>
        </p:txBody>
      </p:sp>
    </p:spTree>
    <p:extLst>
      <p:ext uri="{BB962C8B-B14F-4D97-AF65-F5344CB8AC3E}">
        <p14:creationId xmlns:p14="http://schemas.microsoft.com/office/powerpoint/2010/main" val="1386968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33D6D-ADB5-94D0-2E8B-576D5BAF467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6E588B-9055-669C-7B00-1665CBA0EE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D23AB2-269C-494A-2DB8-25E5E52A5B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afternoon, professors. This is Nora. Today I’m glad to introduce my final year project to you and my topic is multi-agent synergistic framework for cryptocurrency investment. </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0DB2B93C-73A8-E892-DC8A-A953257ADABD}"/>
              </a:ext>
            </a:extLst>
          </p:cNvPr>
          <p:cNvSpPr>
            <a:spLocks noGrp="1"/>
          </p:cNvSpPr>
          <p:nvPr>
            <p:ph type="sldNum" sz="quarter" idx="5"/>
          </p:nvPr>
        </p:nvSpPr>
        <p:spPr/>
        <p:txBody>
          <a:bodyPr/>
          <a:lstStyle/>
          <a:p>
            <a:fld id="{21BD97B3-2681-C747-9787-E79F721025FB}" type="slidenum">
              <a:rPr kumimoji="1" lang="zh-CN" altLang="en-US" smtClean="0"/>
              <a:t>14</a:t>
            </a:fld>
            <a:endParaRPr kumimoji="1" lang="zh-CN" altLang="en-US"/>
          </a:p>
        </p:txBody>
      </p:sp>
    </p:spTree>
    <p:extLst>
      <p:ext uri="{BB962C8B-B14F-4D97-AF65-F5344CB8AC3E}">
        <p14:creationId xmlns:p14="http://schemas.microsoft.com/office/powerpoint/2010/main" val="1327605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6082F-3A18-31B5-5A68-CEEADCF4D0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E26D72-156F-E229-E515-B077A2A9A77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9F5FC51-4FE6-75C2-90AE-FDAA90FBD2C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Additionally, here comes a real-world pain point: as one of the retail investors, I know clearly how hard is for me to afford a professional quant team who can help me with crypto trading and risk management. Also, finding a quant team is expensive and most retail investors cannot meet the requirement for them to offer such service. That’s why I’m thinking about using AI to replace the quant team to lower the barrier for </a:t>
            </a:r>
            <a:r>
              <a:rPr lang="en-US" altLang="zh-CN" sz="1200" kern="1200" dirty="0" err="1">
                <a:solidFill>
                  <a:schemeClr val="tx1"/>
                </a:solidFill>
                <a:effectLst/>
                <a:latin typeface="+mn-lt"/>
                <a:ea typeface="+mn-ea"/>
                <a:cs typeface="+mn-cs"/>
              </a:rPr>
              <a:t>cypto</a:t>
            </a:r>
            <a:r>
              <a:rPr lang="en-US" altLang="zh-CN" sz="1200" kern="1200" dirty="0">
                <a:solidFill>
                  <a:schemeClr val="tx1"/>
                </a:solidFill>
                <a:effectLst/>
                <a:latin typeface="+mn-lt"/>
                <a:ea typeface="+mn-ea"/>
                <a:cs typeface="+mn-cs"/>
              </a:rPr>
              <a:t> trading and asset management. </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D29BE59-EC6D-FA91-F78A-515211C36135}"/>
              </a:ext>
            </a:extLst>
          </p:cNvPr>
          <p:cNvSpPr>
            <a:spLocks noGrp="1"/>
          </p:cNvSpPr>
          <p:nvPr>
            <p:ph type="sldNum" sz="quarter" idx="5"/>
          </p:nvPr>
        </p:nvSpPr>
        <p:spPr/>
        <p:txBody>
          <a:bodyPr/>
          <a:lstStyle/>
          <a:p>
            <a:fld id="{21BD97B3-2681-C747-9787-E79F721025FB}" type="slidenum">
              <a:rPr kumimoji="1" lang="zh-CN" altLang="en-US" smtClean="0"/>
              <a:t>15</a:t>
            </a:fld>
            <a:endParaRPr kumimoji="1" lang="zh-CN" altLang="en-US"/>
          </a:p>
        </p:txBody>
      </p:sp>
    </p:spTree>
    <p:extLst>
      <p:ext uri="{BB962C8B-B14F-4D97-AF65-F5344CB8AC3E}">
        <p14:creationId xmlns:p14="http://schemas.microsoft.com/office/powerpoint/2010/main" val="21252699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Now let me show you my result and do the analysis. </a:t>
            </a:r>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In the evaluation period the multi‑agent framework achieved a total return of 22.64% while baseline strategies were negative, and the maximum drawdown was limited to –12.92% compared with –49.94% for buy‑and‑hold, which indicates the system’s ability to preserve capital through volatile phases rather than relying on extreme leverage to chase returns.</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21BD97B3-2681-C747-9787-E79F721025FB}" type="slidenum">
              <a:rPr kumimoji="1" lang="zh-CN" altLang="en-US" smtClean="0"/>
              <a:t>16</a:t>
            </a:fld>
            <a:endParaRPr kumimoji="1" lang="zh-CN" altLang="en-US"/>
          </a:p>
        </p:txBody>
      </p:sp>
    </p:spTree>
    <p:extLst>
      <p:ext uri="{BB962C8B-B14F-4D97-AF65-F5344CB8AC3E}">
        <p14:creationId xmlns:p14="http://schemas.microsoft.com/office/powerpoint/2010/main" val="5862858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91D62-9D9B-254B-2598-1DBA8D9C40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E457F9-81BA-DD5F-C924-ACE1CDE9D3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365446-4D50-062A-ACE5-7A867B6AFEEF}"/>
              </a:ext>
            </a:extLst>
          </p:cNvPr>
          <p:cNvSpPr>
            <a:spLocks noGrp="1"/>
          </p:cNvSpPr>
          <p:nvPr>
            <p:ph type="body" idx="1"/>
          </p:nvPr>
        </p:nvSpPr>
        <p:spPr/>
        <p:txBody>
          <a:bodyPr/>
          <a:lstStyle/>
          <a:p>
            <a:r>
              <a:rPr kumimoji="1" lang="en-US" altLang="zh-CN" dirty="0"/>
              <a:t>Now let me show you my result and do the analysis. </a:t>
            </a:r>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In the evaluation period the multi‑agent framework achieved a total return of 22.64% while baseline strategies were negative, and the maximum drawdown was limited to –12.92% compared with –49.94% for buy‑and‑hold, which indicates the system’s ability to preserve capital through volatile phases rather than relying on extreme leverage to chase returns.</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BE901FFF-D18F-C3FB-BA0D-A35001757118}"/>
              </a:ext>
            </a:extLst>
          </p:cNvPr>
          <p:cNvSpPr>
            <a:spLocks noGrp="1"/>
          </p:cNvSpPr>
          <p:nvPr>
            <p:ph type="sldNum" sz="quarter" idx="5"/>
          </p:nvPr>
        </p:nvSpPr>
        <p:spPr/>
        <p:txBody>
          <a:bodyPr/>
          <a:lstStyle/>
          <a:p>
            <a:fld id="{21BD97B3-2681-C747-9787-E79F721025FB}" type="slidenum">
              <a:rPr kumimoji="1" lang="zh-CN" altLang="en-US" smtClean="0"/>
              <a:t>17</a:t>
            </a:fld>
            <a:endParaRPr kumimoji="1" lang="zh-CN" altLang="en-US"/>
          </a:p>
        </p:txBody>
      </p:sp>
    </p:spTree>
    <p:extLst>
      <p:ext uri="{BB962C8B-B14F-4D97-AF65-F5344CB8AC3E}">
        <p14:creationId xmlns:p14="http://schemas.microsoft.com/office/powerpoint/2010/main" val="28852436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1C38A-39B8-467E-3DBC-770C90C128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6A8D02-6CE1-B05E-EEDE-4F7D42FDEB3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392573B-AD1D-141C-9208-BB770F71B338}"/>
              </a:ext>
            </a:extLst>
          </p:cNvPr>
          <p:cNvSpPr>
            <a:spLocks noGrp="1"/>
          </p:cNvSpPr>
          <p:nvPr>
            <p:ph type="body" idx="1"/>
          </p:nvPr>
        </p:nvSpPr>
        <p:spPr/>
        <p:txBody>
          <a:bodyPr/>
          <a:lstStyle/>
          <a:p>
            <a:r>
              <a:rPr kumimoji="1" lang="en-US" altLang="zh-CN" dirty="0"/>
              <a:t>Now let me show you my result and do the analysis. </a:t>
            </a:r>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In the evaluation period the multi‑agent framework achieved a total return of 22.64% while baseline strategies were negative, and the maximum drawdown was limited to –12.92% compared with –49.94% for buy‑and‑hold, which indicates the system’s ability to preserve capital through volatile phases rather than relying on extreme leverage to chase returns.</a:t>
            </a:r>
            <a:endParaRPr lang="zh-CN" altLang="zh-CN" sz="1200" kern="1200" dirty="0">
              <a:solidFill>
                <a:schemeClr val="tx1"/>
              </a:solidFill>
              <a:effectLst/>
              <a:latin typeface="+mn-lt"/>
              <a:ea typeface="+mn-ea"/>
              <a:cs typeface="+mn-cs"/>
            </a:endParaRPr>
          </a:p>
          <a:p>
            <a:endParaRPr kumimoji="1" lang="zh-CN" altLang="en-US" dirty="0"/>
          </a:p>
        </p:txBody>
      </p:sp>
      <p:sp>
        <p:nvSpPr>
          <p:cNvPr id="4" name="灯片编号占位符 3">
            <a:extLst>
              <a:ext uri="{FF2B5EF4-FFF2-40B4-BE49-F238E27FC236}">
                <a16:creationId xmlns:a16="http://schemas.microsoft.com/office/drawing/2014/main" id="{2DBAD9EE-3F29-AABC-F3EC-4A67CCA10507}"/>
              </a:ext>
            </a:extLst>
          </p:cNvPr>
          <p:cNvSpPr>
            <a:spLocks noGrp="1"/>
          </p:cNvSpPr>
          <p:nvPr>
            <p:ph type="sldNum" sz="quarter" idx="5"/>
          </p:nvPr>
        </p:nvSpPr>
        <p:spPr/>
        <p:txBody>
          <a:bodyPr/>
          <a:lstStyle/>
          <a:p>
            <a:fld id="{21BD97B3-2681-C747-9787-E79F721025FB}" type="slidenum">
              <a:rPr kumimoji="1" lang="zh-CN" altLang="en-US" smtClean="0"/>
              <a:t>18</a:t>
            </a:fld>
            <a:endParaRPr kumimoji="1" lang="zh-CN" altLang="en-US"/>
          </a:p>
        </p:txBody>
      </p:sp>
    </p:spTree>
    <p:extLst>
      <p:ext uri="{BB962C8B-B14F-4D97-AF65-F5344CB8AC3E}">
        <p14:creationId xmlns:p14="http://schemas.microsoft.com/office/powerpoint/2010/main" val="7102127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Risk‑adjusted metrics include a Sharpe ratio of 1.193 and a daily win rate of 48.36%; the performance comes from favorable return asymmetry—average winning days of +0.72% versus losing days of –0.56%</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21BD97B3-2681-C747-9787-E79F721025FB}" type="slidenum">
              <a:rPr kumimoji="1" lang="zh-CN" altLang="en-US" smtClean="0"/>
              <a:t>19</a:t>
            </a:fld>
            <a:endParaRPr kumimoji="1" lang="zh-CN" altLang="en-US"/>
          </a:p>
        </p:txBody>
      </p:sp>
    </p:spTree>
    <p:extLst>
      <p:ext uri="{BB962C8B-B14F-4D97-AF65-F5344CB8AC3E}">
        <p14:creationId xmlns:p14="http://schemas.microsoft.com/office/powerpoint/2010/main" val="984112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1B267-FDE4-7066-F14D-8EB5C8D723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DABF85-C955-70B5-41A8-5B1AC168D1B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D7873E2-B129-47F7-6D33-D71669C976AF}"/>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Risk‑adjusted metrics include a Sharpe ratio of 1.193 and a daily win rate of 48.36%; the performance comes from favorable return asymmetry—average winning days of +0.72% versus losing days of –0.56%</a:t>
            </a:r>
            <a:r>
              <a:rPr lang="zh-CN" altLang="zh-CN" dirty="0">
                <a:effectLst/>
              </a:rPr>
              <a:t> </a:t>
            </a:r>
            <a:endParaRPr kumimoji="1" lang="zh-CN" altLang="en-US" dirty="0"/>
          </a:p>
        </p:txBody>
      </p:sp>
      <p:sp>
        <p:nvSpPr>
          <p:cNvPr id="4" name="灯片编号占位符 3">
            <a:extLst>
              <a:ext uri="{FF2B5EF4-FFF2-40B4-BE49-F238E27FC236}">
                <a16:creationId xmlns:a16="http://schemas.microsoft.com/office/drawing/2014/main" id="{3888376F-ECE1-B079-CD3A-6D0C693C68A6}"/>
              </a:ext>
            </a:extLst>
          </p:cNvPr>
          <p:cNvSpPr>
            <a:spLocks noGrp="1"/>
          </p:cNvSpPr>
          <p:nvPr>
            <p:ph type="sldNum" sz="quarter" idx="5"/>
          </p:nvPr>
        </p:nvSpPr>
        <p:spPr/>
        <p:txBody>
          <a:bodyPr/>
          <a:lstStyle/>
          <a:p>
            <a:fld id="{21BD97B3-2681-C747-9787-E79F721025FB}" type="slidenum">
              <a:rPr kumimoji="1" lang="zh-CN" altLang="en-US" smtClean="0"/>
              <a:t>20</a:t>
            </a:fld>
            <a:endParaRPr kumimoji="1" lang="zh-CN" altLang="en-US"/>
          </a:p>
        </p:txBody>
      </p:sp>
    </p:spTree>
    <p:extLst>
      <p:ext uri="{BB962C8B-B14F-4D97-AF65-F5344CB8AC3E}">
        <p14:creationId xmlns:p14="http://schemas.microsoft.com/office/powerpoint/2010/main" val="28739562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4D64A-E08D-BCE1-A48D-019DF24007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88AD44-DF64-C659-7509-F78472C283D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26696E-A9F8-EEC5-206B-85C54CDCB85B}"/>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Risk‑adjusted metrics include a Sharpe ratio of 1.193 and a daily win rate of 48.36%; the performance comes from favorable return asymmetry—average winning days of +0.72% versus losing days of –0.56%</a:t>
            </a:r>
            <a:r>
              <a:rPr lang="zh-CN" altLang="zh-CN" dirty="0">
                <a:effectLst/>
              </a:rPr>
              <a:t> </a:t>
            </a:r>
            <a:endParaRPr kumimoji="1" lang="zh-CN" altLang="en-US" dirty="0"/>
          </a:p>
        </p:txBody>
      </p:sp>
      <p:sp>
        <p:nvSpPr>
          <p:cNvPr id="4" name="灯片编号占位符 3">
            <a:extLst>
              <a:ext uri="{FF2B5EF4-FFF2-40B4-BE49-F238E27FC236}">
                <a16:creationId xmlns:a16="http://schemas.microsoft.com/office/drawing/2014/main" id="{B97B4611-5CDB-4114-647D-A3C0E372170D}"/>
              </a:ext>
            </a:extLst>
          </p:cNvPr>
          <p:cNvSpPr>
            <a:spLocks noGrp="1"/>
          </p:cNvSpPr>
          <p:nvPr>
            <p:ph type="sldNum" sz="quarter" idx="5"/>
          </p:nvPr>
        </p:nvSpPr>
        <p:spPr/>
        <p:txBody>
          <a:bodyPr/>
          <a:lstStyle/>
          <a:p>
            <a:fld id="{21BD97B3-2681-C747-9787-E79F721025FB}" type="slidenum">
              <a:rPr kumimoji="1" lang="zh-CN" altLang="en-US" smtClean="0"/>
              <a:t>21</a:t>
            </a:fld>
            <a:endParaRPr kumimoji="1" lang="zh-CN" altLang="en-US"/>
          </a:p>
        </p:txBody>
      </p:sp>
    </p:spTree>
    <p:extLst>
      <p:ext uri="{BB962C8B-B14F-4D97-AF65-F5344CB8AC3E}">
        <p14:creationId xmlns:p14="http://schemas.microsoft.com/office/powerpoint/2010/main" val="4158431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034A7-F461-F9C6-FB9C-95762650E3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55C246-1708-DB3F-B343-BB7960A0E2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513A9E-78BF-E088-78F8-619616434226}"/>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Risk‑adjusted metrics include a Sharpe ratio of 1.193 and a daily win rate of 48.36%; the performance comes from favorable return asymmetry—average winning days of +0.72% versus losing days of –0.56%</a:t>
            </a:r>
            <a:r>
              <a:rPr lang="zh-CN" altLang="zh-CN" dirty="0">
                <a:effectLst/>
              </a:rPr>
              <a:t> </a:t>
            </a:r>
            <a:endParaRPr kumimoji="1" lang="zh-CN" altLang="en-US" dirty="0"/>
          </a:p>
        </p:txBody>
      </p:sp>
      <p:sp>
        <p:nvSpPr>
          <p:cNvPr id="4" name="灯片编号占位符 3">
            <a:extLst>
              <a:ext uri="{FF2B5EF4-FFF2-40B4-BE49-F238E27FC236}">
                <a16:creationId xmlns:a16="http://schemas.microsoft.com/office/drawing/2014/main" id="{93F6E17D-1237-4641-E134-553C858ECB96}"/>
              </a:ext>
            </a:extLst>
          </p:cNvPr>
          <p:cNvSpPr>
            <a:spLocks noGrp="1"/>
          </p:cNvSpPr>
          <p:nvPr>
            <p:ph type="sldNum" sz="quarter" idx="5"/>
          </p:nvPr>
        </p:nvSpPr>
        <p:spPr/>
        <p:txBody>
          <a:bodyPr/>
          <a:lstStyle/>
          <a:p>
            <a:fld id="{21BD97B3-2681-C747-9787-E79F721025FB}" type="slidenum">
              <a:rPr kumimoji="1" lang="zh-CN" altLang="en-US" smtClean="0"/>
              <a:t>22</a:t>
            </a:fld>
            <a:endParaRPr kumimoji="1" lang="zh-CN" altLang="en-US"/>
          </a:p>
        </p:txBody>
      </p:sp>
    </p:spTree>
    <p:extLst>
      <p:ext uri="{BB962C8B-B14F-4D97-AF65-F5344CB8AC3E}">
        <p14:creationId xmlns:p14="http://schemas.microsoft.com/office/powerpoint/2010/main" val="8793521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kern="1200" dirty="0">
                <a:solidFill>
                  <a:schemeClr val="tx1"/>
                </a:solidFill>
                <a:effectLst/>
                <a:latin typeface="+mn-lt"/>
                <a:ea typeface="+mn-ea"/>
                <a:cs typeface="+mn-cs"/>
              </a:rPr>
              <a:t>First of all...Current system runs as backend code. The ultimate vision is to build a user-friendly web or mobile application. Users can choose the type of trading asset and require the agent team to give personalized AI strategies according to their preferred investment style.</a:t>
            </a:r>
          </a:p>
          <a:p>
            <a:endParaRPr lang="en" altLang="zh-CN" sz="1200" kern="1200" dirty="0">
              <a:solidFill>
                <a:schemeClr val="tx1"/>
              </a:solidFill>
              <a:effectLst/>
              <a:latin typeface="+mn-lt"/>
              <a:ea typeface="+mn-ea"/>
              <a:cs typeface="+mn-cs"/>
            </a:endParaRPr>
          </a:p>
          <a:p>
            <a:r>
              <a:rPr lang="en" altLang="zh-CN" sz="1200" kern="1200" dirty="0">
                <a:solidFill>
                  <a:schemeClr val="tx1"/>
                </a:solidFill>
                <a:effectLst/>
                <a:latin typeface="+mn-lt"/>
                <a:ea typeface="+mn-ea"/>
                <a:cs typeface="+mn-cs"/>
              </a:rPr>
              <a:t>Second...I plan to implement a feature where the AI can review its own past trading history. If it made a poor decision that resulted in a loss, the system will analyze the mistake, adjust its own parameters, and learn from it.</a:t>
            </a:r>
          </a:p>
          <a:p>
            <a:endParaRPr lang="e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Thirdly...Inspired by previous hackathons using LLMs to predict crises like pandemics and droughts,</a:t>
            </a:r>
            <a:r>
              <a:rPr lang="zh-CN" altLang="zh-CN" dirty="0">
                <a:effectLst/>
              </a:rPr>
              <a:t> </a:t>
            </a:r>
            <a:r>
              <a:rPr lang="en" altLang="zh-CN" sz="1200" kern="1200" dirty="0">
                <a:solidFill>
                  <a:schemeClr val="tx1"/>
                </a:solidFill>
                <a:effectLst/>
                <a:latin typeface="+mn-lt"/>
                <a:ea typeface="+mn-ea"/>
                <a:cs typeface="+mn-cs"/>
              </a:rPr>
              <a:t>I'm thinking about  training a specialized agent to monitor macro-economic anomalies and extreme outliers in order to </a:t>
            </a:r>
            <a:r>
              <a:rPr lang="en-US" altLang="zh-CN" sz="1200" kern="1200" dirty="0">
                <a:solidFill>
                  <a:schemeClr val="tx1"/>
                </a:solidFill>
                <a:effectLst/>
                <a:latin typeface="+mn-lt"/>
                <a:ea typeface="+mn-ea"/>
                <a:cs typeface="+mn-cs"/>
              </a:rPr>
              <a:t>detect potential risks earlier and  </a:t>
            </a:r>
            <a:r>
              <a:rPr lang="en" altLang="zh-CN" sz="1200" kern="1200" dirty="0">
                <a:solidFill>
                  <a:schemeClr val="tx1"/>
                </a:solidFill>
                <a:effectLst/>
                <a:latin typeface="+mn-lt"/>
                <a:ea typeface="+mn-ea"/>
                <a:cs typeface="+mn-cs"/>
              </a:rPr>
              <a:t>protect the user’s funds before the disaster strikes.</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1BD97B3-2681-C747-9787-E79F721025FB}" type="slidenum">
              <a:rPr kumimoji="1" lang="zh-CN" altLang="en-US" smtClean="0"/>
              <a:t>23</a:t>
            </a:fld>
            <a:endParaRPr kumimoji="1" lang="zh-CN" altLang="en-US"/>
          </a:p>
        </p:txBody>
      </p:sp>
    </p:spTree>
    <p:extLst>
      <p:ext uri="{BB962C8B-B14F-4D97-AF65-F5344CB8AC3E}">
        <p14:creationId xmlns:p14="http://schemas.microsoft.com/office/powerpoint/2010/main" val="20170994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B8D66-1697-7435-A50B-240CFCE076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4B1027-2D14-938A-89F0-1554DD6758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2A02E4-3653-9D9B-3361-B2516BC7832E}"/>
              </a:ext>
            </a:extLst>
          </p:cNvPr>
          <p:cNvSpPr>
            <a:spLocks noGrp="1"/>
          </p:cNvSpPr>
          <p:nvPr>
            <p:ph type="body" idx="1"/>
          </p:nvPr>
        </p:nvSpPr>
        <p:spPr/>
        <p:txBody>
          <a:bodyPr/>
          <a:lstStyle/>
          <a:p>
            <a:r>
              <a:rPr lang="en" altLang="zh-CN" sz="1200" kern="1200" dirty="0">
                <a:solidFill>
                  <a:schemeClr val="tx1"/>
                </a:solidFill>
                <a:effectLst/>
                <a:latin typeface="+mn-lt"/>
                <a:ea typeface="+mn-ea"/>
                <a:cs typeface="+mn-cs"/>
              </a:rPr>
              <a:t>First of all...Current system runs as backend code. The ultimate vision is to build a user-friendly web or mobile application. Users can choose the type of trading asset and require the agent team to give personalized AI strategies according to their preferred investment style.</a:t>
            </a:r>
          </a:p>
          <a:p>
            <a:endParaRPr lang="en" altLang="zh-CN" sz="1200" kern="1200" dirty="0">
              <a:solidFill>
                <a:schemeClr val="tx1"/>
              </a:solidFill>
              <a:effectLst/>
              <a:latin typeface="+mn-lt"/>
              <a:ea typeface="+mn-ea"/>
              <a:cs typeface="+mn-cs"/>
            </a:endParaRPr>
          </a:p>
          <a:p>
            <a:r>
              <a:rPr lang="en" altLang="zh-CN" sz="1200" kern="1200" dirty="0">
                <a:solidFill>
                  <a:schemeClr val="tx1"/>
                </a:solidFill>
                <a:effectLst/>
                <a:latin typeface="+mn-lt"/>
                <a:ea typeface="+mn-ea"/>
                <a:cs typeface="+mn-cs"/>
              </a:rPr>
              <a:t>Second...I plan to implement a feature where the AI can review its own past trading history. If it made a poor decision that resulted in a loss, the system will analyze the mistake, adjust its own parameters, and learn from it.</a:t>
            </a:r>
          </a:p>
          <a:p>
            <a:endParaRPr lang="e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Thirdly...Inspired by previous hackathons using LLMs to predict crises like pandemics and droughts,</a:t>
            </a:r>
            <a:r>
              <a:rPr lang="zh-CN" altLang="zh-CN" dirty="0">
                <a:effectLst/>
              </a:rPr>
              <a:t> </a:t>
            </a:r>
            <a:r>
              <a:rPr lang="en" altLang="zh-CN" sz="1200" kern="1200" dirty="0">
                <a:solidFill>
                  <a:schemeClr val="tx1"/>
                </a:solidFill>
                <a:effectLst/>
                <a:latin typeface="+mn-lt"/>
                <a:ea typeface="+mn-ea"/>
                <a:cs typeface="+mn-cs"/>
              </a:rPr>
              <a:t>I'm thinking about  training a specialized agent to monitor macro-economic anomalies and extreme outliers in order to </a:t>
            </a:r>
            <a:r>
              <a:rPr lang="en-US" altLang="zh-CN" sz="1200" kern="1200" dirty="0">
                <a:solidFill>
                  <a:schemeClr val="tx1"/>
                </a:solidFill>
                <a:effectLst/>
                <a:latin typeface="+mn-lt"/>
                <a:ea typeface="+mn-ea"/>
                <a:cs typeface="+mn-cs"/>
              </a:rPr>
              <a:t>detect potential risks earlier and  </a:t>
            </a:r>
            <a:r>
              <a:rPr lang="en" altLang="zh-CN" sz="1200" kern="1200" dirty="0">
                <a:solidFill>
                  <a:schemeClr val="tx1"/>
                </a:solidFill>
                <a:effectLst/>
                <a:latin typeface="+mn-lt"/>
                <a:ea typeface="+mn-ea"/>
                <a:cs typeface="+mn-cs"/>
              </a:rPr>
              <a:t>protect the user’s funds before the disaster strikes.</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000CE5E5-5340-FD25-17F3-50E0A15BBDC8}"/>
              </a:ext>
            </a:extLst>
          </p:cNvPr>
          <p:cNvSpPr>
            <a:spLocks noGrp="1"/>
          </p:cNvSpPr>
          <p:nvPr>
            <p:ph type="sldNum" sz="quarter" idx="5"/>
          </p:nvPr>
        </p:nvSpPr>
        <p:spPr/>
        <p:txBody>
          <a:bodyPr/>
          <a:lstStyle/>
          <a:p>
            <a:fld id="{21BD97B3-2681-C747-9787-E79F721025FB}" type="slidenum">
              <a:rPr kumimoji="1" lang="zh-CN" altLang="en-US" smtClean="0"/>
              <a:t>24</a:t>
            </a:fld>
            <a:endParaRPr kumimoji="1" lang="zh-CN" altLang="en-US"/>
          </a:p>
        </p:txBody>
      </p:sp>
    </p:spTree>
    <p:extLst>
      <p:ext uri="{BB962C8B-B14F-4D97-AF65-F5344CB8AC3E}">
        <p14:creationId xmlns:p14="http://schemas.microsoft.com/office/powerpoint/2010/main" val="37061623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0F4FA-7347-0E2E-855A-4E04BB1B0D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D8D785-24E3-A7FB-A0E2-71B43602D6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00B2ED-6316-CE4B-0B1C-5C8A0327E307}"/>
              </a:ext>
            </a:extLst>
          </p:cNvPr>
          <p:cNvSpPr>
            <a:spLocks noGrp="1"/>
          </p:cNvSpPr>
          <p:nvPr>
            <p:ph type="body" idx="1"/>
          </p:nvPr>
        </p:nvSpPr>
        <p:spPr/>
        <p:txBody>
          <a:bodyPr/>
          <a:lstStyle/>
          <a:p>
            <a:r>
              <a:rPr lang="en" altLang="zh-CN" sz="1200" kern="1200" dirty="0">
                <a:solidFill>
                  <a:schemeClr val="tx1"/>
                </a:solidFill>
                <a:effectLst/>
                <a:latin typeface="+mn-lt"/>
                <a:ea typeface="+mn-ea"/>
                <a:cs typeface="+mn-cs"/>
              </a:rPr>
              <a:t>First of all...Current system runs as backend code. The ultimate vision is to build a user-friendly web or mobile application. Users can choose the type of trading asset and require the agent team to give personalized AI strategies according to their preferred investment style.</a:t>
            </a:r>
          </a:p>
          <a:p>
            <a:endParaRPr lang="en" altLang="zh-CN" sz="1200" kern="1200" dirty="0">
              <a:solidFill>
                <a:schemeClr val="tx1"/>
              </a:solidFill>
              <a:effectLst/>
              <a:latin typeface="+mn-lt"/>
              <a:ea typeface="+mn-ea"/>
              <a:cs typeface="+mn-cs"/>
            </a:endParaRPr>
          </a:p>
          <a:p>
            <a:r>
              <a:rPr lang="en" altLang="zh-CN" sz="1200" kern="1200" dirty="0">
                <a:solidFill>
                  <a:schemeClr val="tx1"/>
                </a:solidFill>
                <a:effectLst/>
                <a:latin typeface="+mn-lt"/>
                <a:ea typeface="+mn-ea"/>
                <a:cs typeface="+mn-cs"/>
              </a:rPr>
              <a:t>Second...I plan to implement a feature where the AI can review its own past trading history. If it made a poor decision that resulted in a loss, the system will analyze the mistake, adjust its own parameters, and learn from it.</a:t>
            </a:r>
          </a:p>
          <a:p>
            <a:endParaRPr lang="e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Thirdly...Inspired by previous hackathons using LLMs to predict crises like pandemics and droughts,</a:t>
            </a:r>
            <a:r>
              <a:rPr lang="zh-CN" altLang="zh-CN" dirty="0">
                <a:effectLst/>
              </a:rPr>
              <a:t> </a:t>
            </a:r>
            <a:r>
              <a:rPr lang="en" altLang="zh-CN" sz="1200" kern="1200" dirty="0">
                <a:solidFill>
                  <a:schemeClr val="tx1"/>
                </a:solidFill>
                <a:effectLst/>
                <a:latin typeface="+mn-lt"/>
                <a:ea typeface="+mn-ea"/>
                <a:cs typeface="+mn-cs"/>
              </a:rPr>
              <a:t>I'm thinking about  training a specialized agent to monitor macro-economic anomalies and extreme outliers in order to </a:t>
            </a:r>
            <a:r>
              <a:rPr lang="en-US" altLang="zh-CN" sz="1200" kern="1200" dirty="0">
                <a:solidFill>
                  <a:schemeClr val="tx1"/>
                </a:solidFill>
                <a:effectLst/>
                <a:latin typeface="+mn-lt"/>
                <a:ea typeface="+mn-ea"/>
                <a:cs typeface="+mn-cs"/>
              </a:rPr>
              <a:t>detect potential risks earlier and  </a:t>
            </a:r>
            <a:r>
              <a:rPr lang="en" altLang="zh-CN" sz="1200" kern="1200" dirty="0">
                <a:solidFill>
                  <a:schemeClr val="tx1"/>
                </a:solidFill>
                <a:effectLst/>
                <a:latin typeface="+mn-lt"/>
                <a:ea typeface="+mn-ea"/>
                <a:cs typeface="+mn-cs"/>
              </a:rPr>
              <a:t>protect the user’s funds before the disaster strikes.</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F2AF2B1-A3CD-AABB-98A9-3E08AE59276A}"/>
              </a:ext>
            </a:extLst>
          </p:cNvPr>
          <p:cNvSpPr>
            <a:spLocks noGrp="1"/>
          </p:cNvSpPr>
          <p:nvPr>
            <p:ph type="sldNum" sz="quarter" idx="5"/>
          </p:nvPr>
        </p:nvSpPr>
        <p:spPr/>
        <p:txBody>
          <a:bodyPr/>
          <a:lstStyle/>
          <a:p>
            <a:fld id="{21BD97B3-2681-C747-9787-E79F721025FB}" type="slidenum">
              <a:rPr kumimoji="1" lang="zh-CN" altLang="en-US" smtClean="0"/>
              <a:t>25</a:t>
            </a:fld>
            <a:endParaRPr kumimoji="1" lang="zh-CN" altLang="en-US"/>
          </a:p>
        </p:txBody>
      </p:sp>
    </p:spTree>
    <p:extLst>
      <p:ext uri="{BB962C8B-B14F-4D97-AF65-F5344CB8AC3E}">
        <p14:creationId xmlns:p14="http://schemas.microsoft.com/office/powerpoint/2010/main" val="22592917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477BC-23B1-6EBB-8AAF-BE91952861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1D7CED-CA35-90AE-5119-AD79987D5A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832E3F-A3D7-22DC-5223-D65E2B5F8BFC}"/>
              </a:ext>
            </a:extLst>
          </p:cNvPr>
          <p:cNvSpPr>
            <a:spLocks noGrp="1"/>
          </p:cNvSpPr>
          <p:nvPr>
            <p:ph type="body" idx="1"/>
          </p:nvPr>
        </p:nvSpPr>
        <p:spPr/>
        <p:txBody>
          <a:bodyPr/>
          <a:lstStyle/>
          <a:p>
            <a:r>
              <a:rPr lang="en" altLang="zh-CN" sz="1200" kern="1200" dirty="0">
                <a:solidFill>
                  <a:schemeClr val="tx1"/>
                </a:solidFill>
                <a:effectLst/>
                <a:latin typeface="+mn-lt"/>
                <a:ea typeface="+mn-ea"/>
                <a:cs typeface="+mn-cs"/>
              </a:rPr>
              <a:t>First of all...Current system runs as backend code. The ultimate vision is to build a user-friendly web or mobile application. Users can choose the type of trading asset and require the agent team to give personalized AI strategies according to their preferred investment style.</a:t>
            </a:r>
          </a:p>
          <a:p>
            <a:endParaRPr lang="en" altLang="zh-CN" sz="1200" kern="1200" dirty="0">
              <a:solidFill>
                <a:schemeClr val="tx1"/>
              </a:solidFill>
              <a:effectLst/>
              <a:latin typeface="+mn-lt"/>
              <a:ea typeface="+mn-ea"/>
              <a:cs typeface="+mn-cs"/>
            </a:endParaRPr>
          </a:p>
          <a:p>
            <a:r>
              <a:rPr lang="en" altLang="zh-CN" sz="1200" kern="1200" dirty="0">
                <a:solidFill>
                  <a:schemeClr val="tx1"/>
                </a:solidFill>
                <a:effectLst/>
                <a:latin typeface="+mn-lt"/>
                <a:ea typeface="+mn-ea"/>
                <a:cs typeface="+mn-cs"/>
              </a:rPr>
              <a:t>Second...I plan to implement a feature where the AI can review its own past trading history. If it made a poor decision that resulted in a loss, the system will analyze the mistake, adjust its own parameters, and learn from it.</a:t>
            </a:r>
          </a:p>
          <a:p>
            <a:endParaRPr lang="e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Thirdly...Inspired by previous hackathons using LLMs to predict crises like pandemics and droughts,</a:t>
            </a:r>
            <a:r>
              <a:rPr lang="zh-CN" altLang="zh-CN" dirty="0">
                <a:effectLst/>
              </a:rPr>
              <a:t> </a:t>
            </a:r>
            <a:r>
              <a:rPr lang="en" altLang="zh-CN" sz="1200" kern="1200" dirty="0">
                <a:solidFill>
                  <a:schemeClr val="tx1"/>
                </a:solidFill>
                <a:effectLst/>
                <a:latin typeface="+mn-lt"/>
                <a:ea typeface="+mn-ea"/>
                <a:cs typeface="+mn-cs"/>
              </a:rPr>
              <a:t>I'm thinking about  training a specialized agent to monitor macro-economic anomalies and extreme outliers in order to </a:t>
            </a:r>
            <a:r>
              <a:rPr lang="en-US" altLang="zh-CN" sz="1200" kern="1200" dirty="0">
                <a:solidFill>
                  <a:schemeClr val="tx1"/>
                </a:solidFill>
                <a:effectLst/>
                <a:latin typeface="+mn-lt"/>
                <a:ea typeface="+mn-ea"/>
                <a:cs typeface="+mn-cs"/>
              </a:rPr>
              <a:t>detect potential risks earlier and  </a:t>
            </a:r>
            <a:r>
              <a:rPr lang="en" altLang="zh-CN" sz="1200" kern="1200" dirty="0">
                <a:solidFill>
                  <a:schemeClr val="tx1"/>
                </a:solidFill>
                <a:effectLst/>
                <a:latin typeface="+mn-lt"/>
                <a:ea typeface="+mn-ea"/>
                <a:cs typeface="+mn-cs"/>
              </a:rPr>
              <a:t>protect the user’s funds before the disaster strikes.</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6AE24B4-8D29-751A-6C6E-E6CA4CD899F6}"/>
              </a:ext>
            </a:extLst>
          </p:cNvPr>
          <p:cNvSpPr>
            <a:spLocks noGrp="1"/>
          </p:cNvSpPr>
          <p:nvPr>
            <p:ph type="sldNum" sz="quarter" idx="5"/>
          </p:nvPr>
        </p:nvSpPr>
        <p:spPr/>
        <p:txBody>
          <a:bodyPr/>
          <a:lstStyle/>
          <a:p>
            <a:fld id="{21BD97B3-2681-C747-9787-E79F721025FB}" type="slidenum">
              <a:rPr kumimoji="1" lang="zh-CN" altLang="en-US" smtClean="0"/>
              <a:t>26</a:t>
            </a:fld>
            <a:endParaRPr kumimoji="1" lang="zh-CN" altLang="en-US"/>
          </a:p>
        </p:txBody>
      </p:sp>
    </p:spTree>
    <p:extLst>
      <p:ext uri="{BB962C8B-B14F-4D97-AF65-F5344CB8AC3E}">
        <p14:creationId xmlns:p14="http://schemas.microsoft.com/office/powerpoint/2010/main" val="2009979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4.png"/><Relationship Id="rId7"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image" Target="../media/image6.pn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5.emf"/></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jpe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jpe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sp>
        <p:nvSpPr>
          <p:cNvPr id="3" name="TextBox 3"/>
          <p:cNvSpPr txBox="1"/>
          <p:nvPr/>
        </p:nvSpPr>
        <p:spPr>
          <a:xfrm>
            <a:off x="2857694" y="3065531"/>
            <a:ext cx="12707754" cy="2652622"/>
          </a:xfrm>
          <a:prstGeom prst="rect">
            <a:avLst/>
          </a:prstGeom>
        </p:spPr>
        <p:txBody>
          <a:bodyPr lIns="0" tIns="0" rIns="0" bIns="0" rtlCol="0" anchor="t">
            <a:spAutoFit/>
          </a:bodyPr>
          <a:lstStyle/>
          <a:p>
            <a:pPr algn="ctr">
              <a:lnSpc>
                <a:spcPts val="7092"/>
              </a:lnSpc>
            </a:pPr>
            <a:r>
              <a:rPr lang="en-US" sz="5066" b="1" dirty="0">
                <a:solidFill>
                  <a:srgbClr val="004AAD"/>
                </a:solidFill>
                <a:latin typeface="League Spartan"/>
                <a:ea typeface="League Spartan"/>
                <a:cs typeface="League Spartan"/>
                <a:sym typeface="League Spartan"/>
              </a:rPr>
              <a:t>MULTI-AGENT SYNERGISTIC FRAMEWORK FOR CRYPTOCURRENCY INVESTMENT</a:t>
            </a:r>
          </a:p>
        </p:txBody>
      </p:sp>
      <p:grpSp>
        <p:nvGrpSpPr>
          <p:cNvPr id="4" name="Group 4"/>
          <p:cNvGrpSpPr/>
          <p:nvPr/>
        </p:nvGrpSpPr>
        <p:grpSpPr>
          <a:xfrm>
            <a:off x="-1130300" y="4057750"/>
            <a:ext cx="3086100" cy="2171499"/>
            <a:chOff x="0" y="0"/>
            <a:chExt cx="812800" cy="571917"/>
          </a:xfrm>
        </p:grpSpPr>
        <p:sp>
          <p:nvSpPr>
            <p:cNvPr id="5" name="Freeform 5"/>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6" name="TextBox 6"/>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1671453" y="1866900"/>
            <a:ext cx="14945093" cy="1846494"/>
          </a:xfrm>
          <a:prstGeom prst="rect">
            <a:avLst/>
          </a:prstGeom>
        </p:spPr>
        <p:txBody>
          <a:bodyPr lIns="0" tIns="0" rIns="0" bIns="0" rtlCol="0" anchor="t">
            <a:spAutoFit/>
          </a:bodyPr>
          <a:lstStyle/>
          <a:p>
            <a:pPr algn="ctr">
              <a:lnSpc>
                <a:spcPts val="7424"/>
              </a:lnSpc>
            </a:pPr>
            <a:r>
              <a:rPr lang="en-US" sz="5303" b="1" dirty="0">
                <a:solidFill>
                  <a:srgbClr val="303642"/>
                </a:solidFill>
                <a:latin typeface="Roboto Bold"/>
                <a:ea typeface="Roboto Bold"/>
                <a:cs typeface="Roboto Bold"/>
                <a:sym typeface="Roboto Bold"/>
              </a:rPr>
              <a:t>2025-2026 FITE 4801: FINAL YEAR PROJECT</a:t>
            </a:r>
          </a:p>
          <a:p>
            <a:pPr algn="ctr">
              <a:lnSpc>
                <a:spcPts val="7424"/>
              </a:lnSpc>
            </a:pPr>
            <a:r>
              <a:rPr lang="en-US" sz="5303" b="1" dirty="0">
                <a:solidFill>
                  <a:srgbClr val="303642"/>
                </a:solidFill>
                <a:latin typeface="Roboto Bold"/>
                <a:ea typeface="Roboto Bold"/>
                <a:cs typeface="Roboto Bold"/>
                <a:sym typeface="Roboto Bold"/>
              </a:rPr>
              <a:t> </a:t>
            </a:r>
          </a:p>
        </p:txBody>
      </p:sp>
      <p:sp>
        <p:nvSpPr>
          <p:cNvPr id="8" name="TextBox 8"/>
          <p:cNvSpPr txBox="1"/>
          <p:nvPr/>
        </p:nvSpPr>
        <p:spPr>
          <a:xfrm>
            <a:off x="4880587" y="6021547"/>
            <a:ext cx="8526827" cy="1182025"/>
          </a:xfrm>
          <a:prstGeom prst="rect">
            <a:avLst/>
          </a:prstGeom>
        </p:spPr>
        <p:txBody>
          <a:bodyPr lIns="0" tIns="0" rIns="0" bIns="0" rtlCol="0" anchor="t">
            <a:spAutoFit/>
          </a:bodyPr>
          <a:lstStyle/>
          <a:p>
            <a:pPr algn="ctr">
              <a:lnSpc>
                <a:spcPts val="3107"/>
              </a:lnSpc>
            </a:pPr>
            <a:r>
              <a:rPr lang="en-US" sz="2219" dirty="0" err="1">
                <a:solidFill>
                  <a:srgbClr val="303642"/>
                </a:solidFill>
                <a:latin typeface="Poppins"/>
                <a:ea typeface="Poppins"/>
                <a:cs typeface="Poppins"/>
                <a:sym typeface="Poppins"/>
              </a:rPr>
              <a:t>fyp</a:t>
            </a:r>
            <a:r>
              <a:rPr lang="en-US" sz="2219" dirty="0">
                <a:solidFill>
                  <a:srgbClr val="303642"/>
                </a:solidFill>
                <a:latin typeface="Poppins"/>
                <a:ea typeface="Poppins"/>
                <a:cs typeface="Poppins"/>
                <a:sym typeface="Poppins"/>
              </a:rPr>
              <a:t> 25039</a:t>
            </a:r>
          </a:p>
          <a:p>
            <a:pPr algn="ctr">
              <a:lnSpc>
                <a:spcPts val="3107"/>
              </a:lnSpc>
            </a:pPr>
            <a:r>
              <a:rPr lang="en-US" sz="2219" dirty="0">
                <a:solidFill>
                  <a:srgbClr val="303642"/>
                </a:solidFill>
                <a:latin typeface="Poppins"/>
                <a:ea typeface="Poppins"/>
                <a:cs typeface="Poppins"/>
                <a:sym typeface="Poppins"/>
              </a:rPr>
              <a:t>By Qian Yifei (Fintech)</a:t>
            </a:r>
          </a:p>
          <a:p>
            <a:pPr algn="ctr">
              <a:lnSpc>
                <a:spcPts val="3107"/>
              </a:lnSpc>
              <a:spcBef>
                <a:spcPct val="0"/>
              </a:spcBef>
            </a:pPr>
            <a:r>
              <a:rPr lang="en-US" sz="2219" dirty="0">
                <a:solidFill>
                  <a:srgbClr val="303642"/>
                </a:solidFill>
                <a:latin typeface="Poppins"/>
                <a:ea typeface="Poppins"/>
                <a:cs typeface="Poppins"/>
                <a:sym typeface="Poppins"/>
              </a:rPr>
              <a:t>3035973880</a:t>
            </a:r>
          </a:p>
        </p:txBody>
      </p:sp>
      <p:grpSp>
        <p:nvGrpSpPr>
          <p:cNvPr id="9" name="Group 9"/>
          <p:cNvGrpSpPr/>
          <p:nvPr/>
        </p:nvGrpSpPr>
        <p:grpSpPr>
          <a:xfrm>
            <a:off x="16467343" y="4057750"/>
            <a:ext cx="3086100" cy="2171499"/>
            <a:chOff x="0" y="0"/>
            <a:chExt cx="812800" cy="571917"/>
          </a:xfrm>
        </p:grpSpPr>
        <p:sp>
          <p:nvSpPr>
            <p:cNvPr id="10" name="Freeform 10"/>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11" name="TextBox 11"/>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12" name="TextBox 7">
            <a:extLst>
              <a:ext uri="{FF2B5EF4-FFF2-40B4-BE49-F238E27FC236}">
                <a16:creationId xmlns:a16="http://schemas.microsoft.com/office/drawing/2014/main" id="{813B3ACA-3253-25B4-880E-A87CC4495FAD}"/>
              </a:ext>
            </a:extLst>
          </p:cNvPr>
          <p:cNvSpPr txBox="1"/>
          <p:nvPr/>
        </p:nvSpPr>
        <p:spPr>
          <a:xfrm>
            <a:off x="1671453" y="-1943100"/>
            <a:ext cx="14945093" cy="961738"/>
          </a:xfrm>
          <a:prstGeom prst="rect">
            <a:avLst/>
          </a:prstGeom>
        </p:spPr>
        <p:txBody>
          <a:bodyPr lIns="0" tIns="0" rIns="0" bIns="0" rtlCol="0" anchor="t">
            <a:spAutoFit/>
          </a:bodyPr>
          <a:lstStyle/>
          <a:p>
            <a:pPr algn="ctr">
              <a:lnSpc>
                <a:spcPts val="7424"/>
              </a:lnSpc>
            </a:pPr>
            <a:r>
              <a:rPr lang="en-US" sz="7800" b="1" dirty="0">
                <a:solidFill>
                  <a:srgbClr val="004AAD"/>
                </a:solidFill>
                <a:latin typeface="Roboto Bold"/>
                <a:ea typeface="Roboto Bold"/>
                <a:cs typeface="Roboto Bold"/>
                <a:sym typeface="Roboto Bold"/>
              </a:rPr>
              <a:t>Background &amp; Motivation</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00" fill="hold"/>
                                        <p:tgtEl>
                                          <p:spTgt spid="7"/>
                                        </p:tgtEl>
                                        <p:attrNameLst>
                                          <p:attrName>ppt_y</p:attrName>
                                        </p:attrNameLst>
                                      </p:cBhvr>
                                      <p:tavLst>
                                        <p:tav tm="0">
                                          <p:val>
                                            <p:strVal val="#ppt_y"/>
                                          </p:val>
                                        </p:tav>
                                        <p:tav tm="100000">
                                          <p:val>
                                            <p:strVal val="#ppt_y"/>
                                          </p:val>
                                        </p:tav>
                                      </p:tavLst>
                                    </p:anim>
                                    <p:anim calcmode="lin" valueType="num">
                                      <p:cBhvr>
                                        <p:cTn id="9" dur="2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00" tmFilter="0,0; .5, 1; 1, 1"/>
                                        <p:tgtEl>
                                          <p:spTgt spid="7"/>
                                        </p:tgtEl>
                                      </p:cBhvr>
                                    </p:animEffect>
                                  </p:childTnLst>
                                </p:cTn>
                              </p:par>
                            </p:childTnLst>
                          </p:cTn>
                        </p:par>
                        <p:par>
                          <p:cTn id="12" fill="hold">
                            <p:stCondLst>
                              <p:cond delay="860"/>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3"/>
                                        </p:tgtEl>
                                        <p:attrNameLst>
                                          <p:attrName>style.visibility</p:attrName>
                                        </p:attrNameLst>
                                      </p:cBhvr>
                                      <p:to>
                                        <p:strVal val="visible"/>
                                      </p:to>
                                    </p:set>
                                    <p:anim calcmode="lin" valueType="num">
                                      <p:cBhvr>
                                        <p:cTn id="15" dur="2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16" dur="200" fill="hold"/>
                                        <p:tgtEl>
                                          <p:spTgt spid="3"/>
                                        </p:tgtEl>
                                        <p:attrNameLst>
                                          <p:attrName>ppt_y</p:attrName>
                                        </p:attrNameLst>
                                      </p:cBhvr>
                                      <p:tavLst>
                                        <p:tav tm="0">
                                          <p:val>
                                            <p:strVal val="#ppt_y"/>
                                          </p:val>
                                        </p:tav>
                                        <p:tav tm="100000">
                                          <p:val>
                                            <p:strVal val="#ppt_y"/>
                                          </p:val>
                                        </p:tav>
                                      </p:tavLst>
                                    </p:anim>
                                    <p:anim calcmode="lin" valueType="num">
                                      <p:cBhvr>
                                        <p:cTn id="17" dur="2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8" dur="2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9" dur="200" tmFilter="0,0; .5, 1; 1, 1"/>
                                        <p:tgtEl>
                                          <p:spTgt spid="3"/>
                                        </p:tgtEl>
                                      </p:cBhvr>
                                    </p:animEffect>
                                  </p:childTnLst>
                                </p:cTn>
                              </p:par>
                            </p:childTnLst>
                          </p:cTn>
                        </p:par>
                        <p:par>
                          <p:cTn id="20" fill="hold">
                            <p:stCondLst>
                              <p:cond delay="22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8"/>
                                        </p:tgtEl>
                                        <p:attrNameLst>
                                          <p:attrName>style.visibility</p:attrName>
                                        </p:attrNameLst>
                                      </p:cBhvr>
                                      <p:to>
                                        <p:strVal val="visible"/>
                                      </p:to>
                                    </p:set>
                                    <p:anim calcmode="lin" valueType="num">
                                      <p:cBhvr>
                                        <p:cTn id="23" dur="2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24" dur="200" fill="hold"/>
                                        <p:tgtEl>
                                          <p:spTgt spid="8"/>
                                        </p:tgtEl>
                                        <p:attrNameLst>
                                          <p:attrName>ppt_y</p:attrName>
                                        </p:attrNameLst>
                                      </p:cBhvr>
                                      <p:tavLst>
                                        <p:tav tm="0">
                                          <p:val>
                                            <p:strVal val="#ppt_y"/>
                                          </p:val>
                                        </p:tav>
                                        <p:tav tm="100000">
                                          <p:val>
                                            <p:strVal val="#ppt_y"/>
                                          </p:val>
                                        </p:tav>
                                      </p:tavLst>
                                    </p:anim>
                                    <p:anim calcmode="lin" valueType="num">
                                      <p:cBhvr>
                                        <p:cTn id="25" dur="2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26" dur="2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27" dur="200" tmFilter="0,0; .5, 1; 1, 1"/>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128BB-70C5-BAB5-8416-E25627E8D3A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CD5A8D8-91FB-FE37-B943-2628BA69A860}"/>
              </a:ext>
            </a:extLst>
          </p:cNvPr>
          <p:cNvSpPr>
            <a:spLocks noGrp="1" noRot="1" noMove="1" noResize="1" noEditPoints="1" noAdjustHandles="1" noChangeArrowheads="1" noChangeShapeType="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grpSp>
        <p:nvGrpSpPr>
          <p:cNvPr id="12" name="组合 11">
            <a:extLst>
              <a:ext uri="{FF2B5EF4-FFF2-40B4-BE49-F238E27FC236}">
                <a16:creationId xmlns:a16="http://schemas.microsoft.com/office/drawing/2014/main" id="{AEAEB652-0EFC-8844-759D-1EDA0D043580}"/>
              </a:ext>
            </a:extLst>
          </p:cNvPr>
          <p:cNvGrpSpPr/>
          <p:nvPr/>
        </p:nvGrpSpPr>
        <p:grpSpPr>
          <a:xfrm>
            <a:off x="-7447448" y="3315911"/>
            <a:ext cx="40517882" cy="3655173"/>
            <a:chOff x="-7574327" y="3309563"/>
            <a:chExt cx="40517882" cy="3655173"/>
          </a:xfrm>
        </p:grpSpPr>
        <p:pic>
          <p:nvPicPr>
            <p:cNvPr id="1032" name="Picture 8" descr="Top 5 Most Volatile Forex Pairs &amp; Strategies To Consider">
              <a:extLst>
                <a:ext uri="{FF2B5EF4-FFF2-40B4-BE49-F238E27FC236}">
                  <a16:creationId xmlns:a16="http://schemas.microsoft.com/office/drawing/2014/main" id="{0696D4A7-6D71-7C1B-1F1D-468D5F2314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1161" y="33095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2,296 Volatile Stock Videos, Footage, &amp; 4K Video Clips - Getty Images |  Volatile market, Volatile stocks, Volatile stock">
              <a:extLst>
                <a:ext uri="{FF2B5EF4-FFF2-40B4-BE49-F238E27FC236}">
                  <a16:creationId xmlns:a16="http://schemas.microsoft.com/office/drawing/2014/main" id="{581B4560-93BD-B062-14D2-951F965725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74327" y="33095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ryptocurrencies, a highly volatile asset - 11Onze">
              <a:extLst>
                <a:ext uri="{FF2B5EF4-FFF2-40B4-BE49-F238E27FC236}">
                  <a16:creationId xmlns:a16="http://schemas.microsoft.com/office/drawing/2014/main" id="{1109CAE0-99CB-9A1E-9726-C20C2B2A52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929" y="3309563"/>
              <a:ext cx="6468200" cy="364247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2,296 Volatile Stock Videos, Footage, &amp; 4K Video Clips - Getty Images |  Volatile market, Volatile stocks, Volatile stock">
              <a:extLst>
                <a:ext uri="{FF2B5EF4-FFF2-40B4-BE49-F238E27FC236}">
                  <a16:creationId xmlns:a16="http://schemas.microsoft.com/office/drawing/2014/main" id="{34528A38-CB0C-94FA-04E8-32248216A5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2559" y="33222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Top 5 Most Volatile Forex Pairs &amp; Strategies To Consider">
              <a:extLst>
                <a:ext uri="{FF2B5EF4-FFF2-40B4-BE49-F238E27FC236}">
                  <a16:creationId xmlns:a16="http://schemas.microsoft.com/office/drawing/2014/main" id="{59D75BA9-B6E3-C9E5-E934-0F50DDD0A4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68047" y="33222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Cryptocurrencies, a highly volatile asset - 11Onze">
              <a:extLst>
                <a:ext uri="{FF2B5EF4-FFF2-40B4-BE49-F238E27FC236}">
                  <a16:creationId xmlns:a16="http://schemas.microsoft.com/office/drawing/2014/main" id="{C5E935CC-5C29-1870-4A5D-6473B655A8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63957" y="3322263"/>
              <a:ext cx="6468200" cy="364247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4">
            <a:extLst>
              <a:ext uri="{FF2B5EF4-FFF2-40B4-BE49-F238E27FC236}">
                <a16:creationId xmlns:a16="http://schemas.microsoft.com/office/drawing/2014/main" id="{23A7342E-D8B1-8741-2DBB-404B49948850}"/>
              </a:ext>
            </a:extLst>
          </p:cNvPr>
          <p:cNvGrpSpPr/>
          <p:nvPr/>
        </p:nvGrpSpPr>
        <p:grpSpPr>
          <a:xfrm rot="5400000">
            <a:off x="-1543050" y="4057749"/>
            <a:ext cx="3086100" cy="2171499"/>
            <a:chOff x="0" y="0"/>
            <a:chExt cx="812800" cy="571917"/>
          </a:xfrm>
        </p:grpSpPr>
        <p:sp>
          <p:nvSpPr>
            <p:cNvPr id="6" name="TextBox 6">
              <a:extLst>
                <a:ext uri="{FF2B5EF4-FFF2-40B4-BE49-F238E27FC236}">
                  <a16:creationId xmlns:a16="http://schemas.microsoft.com/office/drawing/2014/main" id="{09BED38B-13F8-E6D8-83DE-DC7C776C55C3}"/>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5" name="Freeform 5">
              <a:extLst>
                <a:ext uri="{FF2B5EF4-FFF2-40B4-BE49-F238E27FC236}">
                  <a16:creationId xmlns:a16="http://schemas.microsoft.com/office/drawing/2014/main" id="{C97D0FAD-6C30-7EFA-E6F9-A9645D5B7184}"/>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dirty="0"/>
            </a:p>
          </p:txBody>
        </p:sp>
      </p:grpSp>
      <p:grpSp>
        <p:nvGrpSpPr>
          <p:cNvPr id="9" name="Group 9">
            <a:extLst>
              <a:ext uri="{FF2B5EF4-FFF2-40B4-BE49-F238E27FC236}">
                <a16:creationId xmlns:a16="http://schemas.microsoft.com/office/drawing/2014/main" id="{202A87B5-96B1-4EDE-573D-930629B0FD11}"/>
              </a:ext>
            </a:extLst>
          </p:cNvPr>
          <p:cNvGrpSpPr/>
          <p:nvPr/>
        </p:nvGrpSpPr>
        <p:grpSpPr>
          <a:xfrm rot="16200000">
            <a:off x="16699267" y="4057749"/>
            <a:ext cx="3086100" cy="2171499"/>
            <a:chOff x="0" y="0"/>
            <a:chExt cx="812800" cy="571917"/>
          </a:xfrm>
        </p:grpSpPr>
        <p:sp>
          <p:nvSpPr>
            <p:cNvPr id="11" name="TextBox 11">
              <a:extLst>
                <a:ext uri="{FF2B5EF4-FFF2-40B4-BE49-F238E27FC236}">
                  <a16:creationId xmlns:a16="http://schemas.microsoft.com/office/drawing/2014/main" id="{C665D2DA-0AC1-8D7F-6C8E-DD136782F59F}"/>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0" name="Freeform 10">
              <a:extLst>
                <a:ext uri="{FF2B5EF4-FFF2-40B4-BE49-F238E27FC236}">
                  <a16:creationId xmlns:a16="http://schemas.microsoft.com/office/drawing/2014/main" id="{42CCFE9F-121D-D53C-994E-5B68A264EBB3}"/>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grpSp>
      <p:sp>
        <p:nvSpPr>
          <p:cNvPr id="23" name="TextBox 7">
            <a:extLst>
              <a:ext uri="{FF2B5EF4-FFF2-40B4-BE49-F238E27FC236}">
                <a16:creationId xmlns:a16="http://schemas.microsoft.com/office/drawing/2014/main" id="{DD69C204-8AB5-E09D-DDCE-784720336916}"/>
              </a:ext>
            </a:extLst>
          </p:cNvPr>
          <p:cNvSpPr txBox="1"/>
          <p:nvPr/>
        </p:nvSpPr>
        <p:spPr>
          <a:xfrm>
            <a:off x="-2133600" y="961411"/>
            <a:ext cx="14945093" cy="904094"/>
          </a:xfrm>
          <a:prstGeom prst="rect">
            <a:avLst/>
          </a:prstGeom>
        </p:spPr>
        <p:txBody>
          <a:bodyPr lIns="0" tIns="0" rIns="0" bIns="0" rtlCol="0" anchor="t">
            <a:spAutoFit/>
          </a:bodyPr>
          <a:lstStyle/>
          <a:p>
            <a:pPr algn="ctr">
              <a:lnSpc>
                <a:spcPts val="7424"/>
              </a:lnSpc>
            </a:pPr>
            <a:r>
              <a:rPr lang="en-US" sz="5400" b="1" dirty="0">
                <a:solidFill>
                  <a:srgbClr val="004AAD"/>
                </a:solidFill>
                <a:latin typeface="Roboto Bold"/>
                <a:ea typeface="Roboto Bold"/>
                <a:cs typeface="Roboto Bold"/>
                <a:sym typeface="Roboto Bold"/>
              </a:rPr>
              <a:t>Background </a:t>
            </a:r>
            <a:r>
              <a:rPr lang="en-US" sz="5400" b="1" dirty="0">
                <a:solidFill>
                  <a:schemeClr val="bg1">
                    <a:lumMod val="75000"/>
                  </a:schemeClr>
                </a:solidFill>
                <a:latin typeface="Roboto Bold"/>
                <a:ea typeface="Roboto Bold"/>
                <a:cs typeface="Roboto Bold"/>
                <a:sym typeface="Roboto Bold"/>
              </a:rPr>
              <a:t>&amp;</a:t>
            </a:r>
            <a:r>
              <a:rPr lang="en-US" sz="5400" b="1" dirty="0">
                <a:solidFill>
                  <a:srgbClr val="004AAD"/>
                </a:solidFill>
                <a:latin typeface="Roboto Bold"/>
                <a:ea typeface="Roboto Bold"/>
                <a:cs typeface="Roboto Bold"/>
                <a:sym typeface="Roboto Bold"/>
              </a:rPr>
              <a:t> </a:t>
            </a:r>
            <a:r>
              <a:rPr lang="en-US" sz="5400" b="1" dirty="0">
                <a:solidFill>
                  <a:schemeClr val="bg1">
                    <a:lumMod val="75000"/>
                  </a:schemeClr>
                </a:solidFill>
                <a:latin typeface="Roboto Bold"/>
                <a:ea typeface="Roboto Bold"/>
                <a:cs typeface="Roboto Bold"/>
                <a:sym typeface="Roboto Bold"/>
              </a:rPr>
              <a:t>Motivation</a:t>
            </a:r>
          </a:p>
        </p:txBody>
      </p:sp>
      <p:grpSp>
        <p:nvGrpSpPr>
          <p:cNvPr id="16" name="Group 4">
            <a:extLst>
              <a:ext uri="{FF2B5EF4-FFF2-40B4-BE49-F238E27FC236}">
                <a16:creationId xmlns:a16="http://schemas.microsoft.com/office/drawing/2014/main" id="{FCCAA843-8017-37D3-DCE3-5753607A55CF}"/>
              </a:ext>
            </a:extLst>
          </p:cNvPr>
          <p:cNvGrpSpPr/>
          <p:nvPr/>
        </p:nvGrpSpPr>
        <p:grpSpPr>
          <a:xfrm>
            <a:off x="2335245" y="7051140"/>
            <a:ext cx="13617510" cy="55894"/>
            <a:chOff x="0" y="0"/>
            <a:chExt cx="812800" cy="571917"/>
          </a:xfrm>
        </p:grpSpPr>
        <p:sp>
          <p:nvSpPr>
            <p:cNvPr id="17" name="TextBox 6">
              <a:extLst>
                <a:ext uri="{FF2B5EF4-FFF2-40B4-BE49-F238E27FC236}">
                  <a16:creationId xmlns:a16="http://schemas.microsoft.com/office/drawing/2014/main" id="{DA368611-93AC-3B25-3833-C8335BCF6B81}"/>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8" name="Freeform 5">
              <a:extLst>
                <a:ext uri="{FF2B5EF4-FFF2-40B4-BE49-F238E27FC236}">
                  <a16:creationId xmlns:a16="http://schemas.microsoft.com/office/drawing/2014/main" id="{0D0D464E-98C9-8FF6-0828-F57A362A0739}"/>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19" name="Group 4">
            <a:extLst>
              <a:ext uri="{FF2B5EF4-FFF2-40B4-BE49-F238E27FC236}">
                <a16:creationId xmlns:a16="http://schemas.microsoft.com/office/drawing/2014/main" id="{9D65B3DB-1A38-0B39-D5D5-2F6588259CB8}"/>
              </a:ext>
            </a:extLst>
          </p:cNvPr>
          <p:cNvGrpSpPr/>
          <p:nvPr/>
        </p:nvGrpSpPr>
        <p:grpSpPr>
          <a:xfrm>
            <a:off x="2487645" y="3224788"/>
            <a:ext cx="13617510" cy="55894"/>
            <a:chOff x="0" y="0"/>
            <a:chExt cx="812800" cy="571917"/>
          </a:xfrm>
        </p:grpSpPr>
        <p:sp>
          <p:nvSpPr>
            <p:cNvPr id="20" name="TextBox 6">
              <a:extLst>
                <a:ext uri="{FF2B5EF4-FFF2-40B4-BE49-F238E27FC236}">
                  <a16:creationId xmlns:a16="http://schemas.microsoft.com/office/drawing/2014/main" id="{840EE9BA-9A1E-E0C9-D367-17006C99B730}"/>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21" name="Freeform 5">
              <a:extLst>
                <a:ext uri="{FF2B5EF4-FFF2-40B4-BE49-F238E27FC236}">
                  <a16:creationId xmlns:a16="http://schemas.microsoft.com/office/drawing/2014/main" id="{6858CC50-2714-A469-F94B-189A027167CE}"/>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sp>
        <p:nvSpPr>
          <p:cNvPr id="25" name="TextBox 28">
            <a:extLst>
              <a:ext uri="{FF2B5EF4-FFF2-40B4-BE49-F238E27FC236}">
                <a16:creationId xmlns:a16="http://schemas.microsoft.com/office/drawing/2014/main" id="{FDD53647-A889-E7DE-C9EA-95C5FCD589C1}"/>
              </a:ext>
            </a:extLst>
          </p:cNvPr>
          <p:cNvSpPr txBox="1"/>
          <p:nvPr/>
        </p:nvSpPr>
        <p:spPr>
          <a:xfrm>
            <a:off x="5104697" y="7484267"/>
            <a:ext cx="8045992" cy="830997"/>
          </a:xfrm>
          <a:prstGeom prst="rect">
            <a:avLst/>
          </a:prstGeom>
        </p:spPr>
        <p:txBody>
          <a:bodyPr wrap="square" lIns="0" tIns="0" rIns="0" bIns="0" rtlCol="0" anchor="t">
            <a:spAutoFit/>
          </a:bodyPr>
          <a:lstStyle/>
          <a:p>
            <a:pPr algn="ctr">
              <a:spcBef>
                <a:spcPct val="0"/>
              </a:spcBef>
            </a:pPr>
            <a:r>
              <a:rPr lang="en-US" sz="5400" b="1" dirty="0">
                <a:solidFill>
                  <a:srgbClr val="FF8100"/>
                </a:solidFill>
                <a:latin typeface="Poppins Bold"/>
                <a:ea typeface="Poppins Bold"/>
                <a:cs typeface="Poppins Bold"/>
                <a:sym typeface="Poppins Bold"/>
              </a:rPr>
              <a:t>24/7 Highly Volatile</a:t>
            </a:r>
          </a:p>
        </p:txBody>
      </p:sp>
    </p:spTree>
    <p:extLst>
      <p:ext uri="{BB962C8B-B14F-4D97-AF65-F5344CB8AC3E}">
        <p14:creationId xmlns:p14="http://schemas.microsoft.com/office/powerpoint/2010/main" val="16606075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BC128-6EA2-3530-E591-99CA99C6288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BF86A09-3B60-B520-E2A8-37FAEAD3C0A3}"/>
              </a:ext>
            </a:extLst>
          </p:cNvPr>
          <p:cNvSpPr>
            <a:spLocks noGrp="1" noRot="1" noMove="1" noResize="1" noEditPoints="1" noAdjustHandles="1" noChangeArrowheads="1" noChangeShapeType="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grpSp>
        <p:nvGrpSpPr>
          <p:cNvPr id="12" name="组合 11">
            <a:extLst>
              <a:ext uri="{FF2B5EF4-FFF2-40B4-BE49-F238E27FC236}">
                <a16:creationId xmlns:a16="http://schemas.microsoft.com/office/drawing/2014/main" id="{9FD53DF3-7B4D-F1FA-12D1-0D9E158612A1}"/>
              </a:ext>
            </a:extLst>
          </p:cNvPr>
          <p:cNvGrpSpPr/>
          <p:nvPr/>
        </p:nvGrpSpPr>
        <p:grpSpPr>
          <a:xfrm>
            <a:off x="-14919995" y="3315911"/>
            <a:ext cx="40517882" cy="3655173"/>
            <a:chOff x="-7574327" y="3309563"/>
            <a:chExt cx="40517882" cy="3655173"/>
          </a:xfrm>
        </p:grpSpPr>
        <p:pic>
          <p:nvPicPr>
            <p:cNvPr id="1032" name="Picture 8" descr="Top 5 Most Volatile Forex Pairs &amp; Strategies To Consider">
              <a:extLst>
                <a:ext uri="{FF2B5EF4-FFF2-40B4-BE49-F238E27FC236}">
                  <a16:creationId xmlns:a16="http://schemas.microsoft.com/office/drawing/2014/main" id="{B17FDB6E-ACF9-2F42-5E96-C4FBECA43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1161" y="33095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2,296 Volatile Stock Videos, Footage, &amp; 4K Video Clips - Getty Images |  Volatile market, Volatile stocks, Volatile stock">
              <a:extLst>
                <a:ext uri="{FF2B5EF4-FFF2-40B4-BE49-F238E27FC236}">
                  <a16:creationId xmlns:a16="http://schemas.microsoft.com/office/drawing/2014/main" id="{E5FEB25F-0A8D-273B-6323-1797C69EBD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74327" y="33095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ryptocurrencies, a highly volatile asset - 11Onze">
              <a:extLst>
                <a:ext uri="{FF2B5EF4-FFF2-40B4-BE49-F238E27FC236}">
                  <a16:creationId xmlns:a16="http://schemas.microsoft.com/office/drawing/2014/main" id="{AF765250-1E5D-5D50-AC65-B1E865602A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929" y="3309563"/>
              <a:ext cx="6468200" cy="364247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2,296 Volatile Stock Videos, Footage, &amp; 4K Video Clips - Getty Images |  Volatile market, Volatile stocks, Volatile stock">
              <a:extLst>
                <a:ext uri="{FF2B5EF4-FFF2-40B4-BE49-F238E27FC236}">
                  <a16:creationId xmlns:a16="http://schemas.microsoft.com/office/drawing/2014/main" id="{D0A65FA4-86D8-4DEE-73BD-0168E405AB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2559" y="33222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Top 5 Most Volatile Forex Pairs &amp; Strategies To Consider">
              <a:extLst>
                <a:ext uri="{FF2B5EF4-FFF2-40B4-BE49-F238E27FC236}">
                  <a16:creationId xmlns:a16="http://schemas.microsoft.com/office/drawing/2014/main" id="{3CAB9C86-92FA-C6C2-C791-3BB79E6B52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68047" y="33222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Cryptocurrencies, a highly volatile asset - 11Onze">
              <a:extLst>
                <a:ext uri="{FF2B5EF4-FFF2-40B4-BE49-F238E27FC236}">
                  <a16:creationId xmlns:a16="http://schemas.microsoft.com/office/drawing/2014/main" id="{50618BC5-846A-4196-038E-C64111CEDF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63957" y="3322263"/>
              <a:ext cx="6468200" cy="364247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4">
            <a:extLst>
              <a:ext uri="{FF2B5EF4-FFF2-40B4-BE49-F238E27FC236}">
                <a16:creationId xmlns:a16="http://schemas.microsoft.com/office/drawing/2014/main" id="{136FED67-B72A-BDF2-5E95-3CADCCA23169}"/>
              </a:ext>
            </a:extLst>
          </p:cNvPr>
          <p:cNvGrpSpPr/>
          <p:nvPr/>
        </p:nvGrpSpPr>
        <p:grpSpPr>
          <a:xfrm rot="5400000">
            <a:off x="-1543050" y="4057749"/>
            <a:ext cx="3086100" cy="2171499"/>
            <a:chOff x="0" y="0"/>
            <a:chExt cx="812800" cy="571917"/>
          </a:xfrm>
        </p:grpSpPr>
        <p:sp>
          <p:nvSpPr>
            <p:cNvPr id="6" name="TextBox 6">
              <a:extLst>
                <a:ext uri="{FF2B5EF4-FFF2-40B4-BE49-F238E27FC236}">
                  <a16:creationId xmlns:a16="http://schemas.microsoft.com/office/drawing/2014/main" id="{DD84712F-A340-F793-AC69-215F74E2A38E}"/>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5" name="Freeform 5">
              <a:extLst>
                <a:ext uri="{FF2B5EF4-FFF2-40B4-BE49-F238E27FC236}">
                  <a16:creationId xmlns:a16="http://schemas.microsoft.com/office/drawing/2014/main" id="{4AB6C4F8-1CA2-7E5D-7B67-FB9220C118F6}"/>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dirty="0"/>
            </a:p>
          </p:txBody>
        </p:sp>
      </p:grpSp>
      <p:grpSp>
        <p:nvGrpSpPr>
          <p:cNvPr id="9" name="Group 9">
            <a:extLst>
              <a:ext uri="{FF2B5EF4-FFF2-40B4-BE49-F238E27FC236}">
                <a16:creationId xmlns:a16="http://schemas.microsoft.com/office/drawing/2014/main" id="{E0E1AA7C-031C-F3A8-D810-D714A5B91BF3}"/>
              </a:ext>
            </a:extLst>
          </p:cNvPr>
          <p:cNvGrpSpPr/>
          <p:nvPr/>
        </p:nvGrpSpPr>
        <p:grpSpPr>
          <a:xfrm rot="16200000">
            <a:off x="16699267" y="4057749"/>
            <a:ext cx="3086100" cy="2171499"/>
            <a:chOff x="0" y="0"/>
            <a:chExt cx="812800" cy="571917"/>
          </a:xfrm>
        </p:grpSpPr>
        <p:sp>
          <p:nvSpPr>
            <p:cNvPr id="11" name="TextBox 11">
              <a:extLst>
                <a:ext uri="{FF2B5EF4-FFF2-40B4-BE49-F238E27FC236}">
                  <a16:creationId xmlns:a16="http://schemas.microsoft.com/office/drawing/2014/main" id="{4D7F33AE-EFBD-E7B1-EB62-6AEF0AD6DF50}"/>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0" name="Freeform 10">
              <a:extLst>
                <a:ext uri="{FF2B5EF4-FFF2-40B4-BE49-F238E27FC236}">
                  <a16:creationId xmlns:a16="http://schemas.microsoft.com/office/drawing/2014/main" id="{787EA101-189A-0BA8-545C-1D910CC34FF7}"/>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grpSp>
      <p:sp>
        <p:nvSpPr>
          <p:cNvPr id="15" name="TextBox 28">
            <a:extLst>
              <a:ext uri="{FF2B5EF4-FFF2-40B4-BE49-F238E27FC236}">
                <a16:creationId xmlns:a16="http://schemas.microsoft.com/office/drawing/2014/main" id="{34AFC873-A347-17F8-5758-138D938FFD55}"/>
              </a:ext>
            </a:extLst>
          </p:cNvPr>
          <p:cNvSpPr txBox="1"/>
          <p:nvPr/>
        </p:nvSpPr>
        <p:spPr>
          <a:xfrm>
            <a:off x="6553200" y="-2547695"/>
            <a:ext cx="8045992" cy="1661993"/>
          </a:xfrm>
          <a:prstGeom prst="rect">
            <a:avLst/>
          </a:prstGeom>
        </p:spPr>
        <p:txBody>
          <a:bodyPr wrap="square" lIns="0" tIns="0" rIns="0" bIns="0" rtlCol="0" anchor="t">
            <a:spAutoFit/>
          </a:bodyPr>
          <a:lstStyle/>
          <a:p>
            <a:pPr algn="ctr">
              <a:spcBef>
                <a:spcPct val="0"/>
              </a:spcBef>
            </a:pPr>
            <a:r>
              <a:rPr lang="en-US" sz="5400" b="1" dirty="0">
                <a:solidFill>
                  <a:srgbClr val="004AAD"/>
                </a:solidFill>
                <a:latin typeface="Poppins Bold"/>
                <a:ea typeface="Poppins Bold"/>
                <a:cs typeface="Poppins Bold"/>
                <a:sym typeface="Poppins Bold"/>
              </a:rPr>
              <a:t>24/7</a:t>
            </a:r>
          </a:p>
          <a:p>
            <a:pPr algn="ctr">
              <a:spcBef>
                <a:spcPct val="0"/>
              </a:spcBef>
            </a:pPr>
            <a:r>
              <a:rPr lang="en-US" sz="5400" b="1" dirty="0">
                <a:solidFill>
                  <a:srgbClr val="004AAD"/>
                </a:solidFill>
                <a:latin typeface="Poppins Bold"/>
                <a:ea typeface="Poppins Bold"/>
                <a:cs typeface="Poppins Bold"/>
                <a:sym typeface="Poppins Bold"/>
              </a:rPr>
              <a:t> Highly Volatile</a:t>
            </a:r>
          </a:p>
        </p:txBody>
      </p:sp>
      <p:grpSp>
        <p:nvGrpSpPr>
          <p:cNvPr id="13" name="Group 4">
            <a:extLst>
              <a:ext uri="{FF2B5EF4-FFF2-40B4-BE49-F238E27FC236}">
                <a16:creationId xmlns:a16="http://schemas.microsoft.com/office/drawing/2014/main" id="{35B66CB7-865D-22C6-D8A9-A2214B2853F3}"/>
              </a:ext>
            </a:extLst>
          </p:cNvPr>
          <p:cNvGrpSpPr/>
          <p:nvPr/>
        </p:nvGrpSpPr>
        <p:grpSpPr>
          <a:xfrm>
            <a:off x="2335245" y="7051140"/>
            <a:ext cx="13617510" cy="55894"/>
            <a:chOff x="0" y="0"/>
            <a:chExt cx="812800" cy="571917"/>
          </a:xfrm>
        </p:grpSpPr>
        <p:sp>
          <p:nvSpPr>
            <p:cNvPr id="14" name="TextBox 6">
              <a:extLst>
                <a:ext uri="{FF2B5EF4-FFF2-40B4-BE49-F238E27FC236}">
                  <a16:creationId xmlns:a16="http://schemas.microsoft.com/office/drawing/2014/main" id="{5B4A9D90-5CA6-167D-0FC2-DABBD6FE9DC7}"/>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6" name="Freeform 5">
              <a:extLst>
                <a:ext uri="{FF2B5EF4-FFF2-40B4-BE49-F238E27FC236}">
                  <a16:creationId xmlns:a16="http://schemas.microsoft.com/office/drawing/2014/main" id="{903CE8F0-8E51-7A47-E42A-747DAFB4531C}"/>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17" name="Group 4">
            <a:extLst>
              <a:ext uri="{FF2B5EF4-FFF2-40B4-BE49-F238E27FC236}">
                <a16:creationId xmlns:a16="http://schemas.microsoft.com/office/drawing/2014/main" id="{231C13A6-0DD1-7FEA-AD25-B79EA0F8E826}"/>
              </a:ext>
            </a:extLst>
          </p:cNvPr>
          <p:cNvGrpSpPr/>
          <p:nvPr/>
        </p:nvGrpSpPr>
        <p:grpSpPr>
          <a:xfrm>
            <a:off x="2487645" y="3224788"/>
            <a:ext cx="13617510" cy="55894"/>
            <a:chOff x="0" y="0"/>
            <a:chExt cx="812800" cy="571917"/>
          </a:xfrm>
        </p:grpSpPr>
        <p:sp>
          <p:nvSpPr>
            <p:cNvPr id="18" name="TextBox 6">
              <a:extLst>
                <a:ext uri="{FF2B5EF4-FFF2-40B4-BE49-F238E27FC236}">
                  <a16:creationId xmlns:a16="http://schemas.microsoft.com/office/drawing/2014/main" id="{499F8684-6303-67F0-CED9-00AA23DC53EC}"/>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9" name="Freeform 5">
              <a:extLst>
                <a:ext uri="{FF2B5EF4-FFF2-40B4-BE49-F238E27FC236}">
                  <a16:creationId xmlns:a16="http://schemas.microsoft.com/office/drawing/2014/main" id="{8A81C377-3C9F-54CA-E453-688EEB63BA8C}"/>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sp>
        <p:nvSpPr>
          <p:cNvPr id="21" name="TextBox 28">
            <a:extLst>
              <a:ext uri="{FF2B5EF4-FFF2-40B4-BE49-F238E27FC236}">
                <a16:creationId xmlns:a16="http://schemas.microsoft.com/office/drawing/2014/main" id="{8A210E59-8631-9135-70B3-D97B9A71EA21}"/>
              </a:ext>
            </a:extLst>
          </p:cNvPr>
          <p:cNvSpPr txBox="1"/>
          <p:nvPr/>
        </p:nvSpPr>
        <p:spPr>
          <a:xfrm>
            <a:off x="5104697" y="7484267"/>
            <a:ext cx="8045992" cy="830997"/>
          </a:xfrm>
          <a:prstGeom prst="rect">
            <a:avLst/>
          </a:prstGeom>
        </p:spPr>
        <p:txBody>
          <a:bodyPr wrap="square" lIns="0" tIns="0" rIns="0" bIns="0" rtlCol="0" anchor="t">
            <a:spAutoFit/>
          </a:bodyPr>
          <a:lstStyle/>
          <a:p>
            <a:pPr algn="ctr">
              <a:spcBef>
                <a:spcPct val="0"/>
              </a:spcBef>
            </a:pPr>
            <a:r>
              <a:rPr lang="en-US" sz="5400" b="1" dirty="0">
                <a:solidFill>
                  <a:srgbClr val="FF8100"/>
                </a:solidFill>
                <a:latin typeface="Poppins Bold"/>
                <a:ea typeface="Poppins Bold"/>
                <a:cs typeface="Poppins Bold"/>
                <a:sym typeface="Poppins Bold"/>
              </a:rPr>
              <a:t>24/7 Highly Volatile</a:t>
            </a:r>
          </a:p>
        </p:txBody>
      </p:sp>
      <p:sp>
        <p:nvSpPr>
          <p:cNvPr id="22" name="TextBox 7">
            <a:extLst>
              <a:ext uri="{FF2B5EF4-FFF2-40B4-BE49-F238E27FC236}">
                <a16:creationId xmlns:a16="http://schemas.microsoft.com/office/drawing/2014/main" id="{280E26C5-8B9C-3FDC-8D4D-1450267FEF4E}"/>
              </a:ext>
            </a:extLst>
          </p:cNvPr>
          <p:cNvSpPr txBox="1"/>
          <p:nvPr/>
        </p:nvSpPr>
        <p:spPr>
          <a:xfrm>
            <a:off x="-2133600" y="961411"/>
            <a:ext cx="14945093" cy="904094"/>
          </a:xfrm>
          <a:prstGeom prst="rect">
            <a:avLst/>
          </a:prstGeom>
        </p:spPr>
        <p:txBody>
          <a:bodyPr lIns="0" tIns="0" rIns="0" bIns="0" rtlCol="0" anchor="t">
            <a:spAutoFit/>
          </a:bodyPr>
          <a:lstStyle/>
          <a:p>
            <a:pPr algn="ctr">
              <a:lnSpc>
                <a:spcPts val="7424"/>
              </a:lnSpc>
            </a:pPr>
            <a:r>
              <a:rPr lang="en-US" sz="5400" b="1" dirty="0">
                <a:solidFill>
                  <a:srgbClr val="004AAD"/>
                </a:solidFill>
                <a:latin typeface="Roboto Bold"/>
                <a:ea typeface="Roboto Bold"/>
                <a:cs typeface="Roboto Bold"/>
                <a:sym typeface="Roboto Bold"/>
              </a:rPr>
              <a:t>Background </a:t>
            </a:r>
            <a:r>
              <a:rPr lang="en-US" sz="5400" b="1" dirty="0">
                <a:solidFill>
                  <a:schemeClr val="bg1">
                    <a:lumMod val="75000"/>
                  </a:schemeClr>
                </a:solidFill>
                <a:latin typeface="Roboto Bold"/>
                <a:ea typeface="Roboto Bold"/>
                <a:cs typeface="Roboto Bold"/>
                <a:sym typeface="Roboto Bold"/>
              </a:rPr>
              <a:t>&amp;</a:t>
            </a:r>
            <a:r>
              <a:rPr lang="en-US" sz="5400" b="1" dirty="0">
                <a:solidFill>
                  <a:srgbClr val="004AAD"/>
                </a:solidFill>
                <a:latin typeface="Roboto Bold"/>
                <a:ea typeface="Roboto Bold"/>
                <a:cs typeface="Roboto Bold"/>
                <a:sym typeface="Roboto Bold"/>
              </a:rPr>
              <a:t> </a:t>
            </a:r>
            <a:r>
              <a:rPr lang="en-US" sz="5400" b="1" dirty="0">
                <a:solidFill>
                  <a:schemeClr val="bg1">
                    <a:lumMod val="75000"/>
                  </a:schemeClr>
                </a:solidFill>
                <a:latin typeface="Roboto Bold"/>
                <a:ea typeface="Roboto Bold"/>
                <a:cs typeface="Roboto Bold"/>
                <a:sym typeface="Roboto Bold"/>
              </a:rPr>
              <a:t>Motivation</a:t>
            </a:r>
          </a:p>
        </p:txBody>
      </p:sp>
    </p:spTree>
    <p:extLst>
      <p:ext uri="{BB962C8B-B14F-4D97-AF65-F5344CB8AC3E}">
        <p14:creationId xmlns:p14="http://schemas.microsoft.com/office/powerpoint/2010/main" val="17391964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0E9B8-1BAE-41E9-865D-6FA0536F774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21DAF14-72DD-AA3C-2A62-D8A3DD196BE2}"/>
              </a:ext>
            </a:extLst>
          </p:cNvPr>
          <p:cNvSpPr>
            <a:spLocks noGrp="1" noRot="1" noMove="1" noResize="1" noEditPoints="1" noAdjustHandles="1" noChangeArrowheads="1" noChangeShapeType="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grpSp>
        <p:nvGrpSpPr>
          <p:cNvPr id="12" name="组合 11">
            <a:extLst>
              <a:ext uri="{FF2B5EF4-FFF2-40B4-BE49-F238E27FC236}">
                <a16:creationId xmlns:a16="http://schemas.microsoft.com/office/drawing/2014/main" id="{9AE8B9E5-FC22-3C1D-E81E-0E588439C5E0}"/>
              </a:ext>
            </a:extLst>
          </p:cNvPr>
          <p:cNvGrpSpPr/>
          <p:nvPr/>
        </p:nvGrpSpPr>
        <p:grpSpPr>
          <a:xfrm>
            <a:off x="-21344691" y="3315911"/>
            <a:ext cx="40517882" cy="3655173"/>
            <a:chOff x="-7574327" y="3309563"/>
            <a:chExt cx="40517882" cy="3655173"/>
          </a:xfrm>
        </p:grpSpPr>
        <p:pic>
          <p:nvPicPr>
            <p:cNvPr id="1032" name="Picture 8" descr="Top 5 Most Volatile Forex Pairs &amp; Strategies To Consider">
              <a:extLst>
                <a:ext uri="{FF2B5EF4-FFF2-40B4-BE49-F238E27FC236}">
                  <a16:creationId xmlns:a16="http://schemas.microsoft.com/office/drawing/2014/main" id="{728AFD84-B251-354C-F899-48873BD104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1161" y="33095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2,296 Volatile Stock Videos, Footage, &amp; 4K Video Clips - Getty Images |  Volatile market, Volatile stocks, Volatile stock">
              <a:extLst>
                <a:ext uri="{FF2B5EF4-FFF2-40B4-BE49-F238E27FC236}">
                  <a16:creationId xmlns:a16="http://schemas.microsoft.com/office/drawing/2014/main" id="{0F022B63-01C5-6BA2-8D25-49931EF8E3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74327" y="33095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ryptocurrencies, a highly volatile asset - 11Onze">
              <a:extLst>
                <a:ext uri="{FF2B5EF4-FFF2-40B4-BE49-F238E27FC236}">
                  <a16:creationId xmlns:a16="http://schemas.microsoft.com/office/drawing/2014/main" id="{5B6DD287-A6FD-8364-0D97-67CABC1A47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929" y="3309563"/>
              <a:ext cx="6468200" cy="364247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2,296 Volatile Stock Videos, Footage, &amp; 4K Video Clips - Getty Images |  Volatile market, Volatile stocks, Volatile stock">
              <a:extLst>
                <a:ext uri="{FF2B5EF4-FFF2-40B4-BE49-F238E27FC236}">
                  <a16:creationId xmlns:a16="http://schemas.microsoft.com/office/drawing/2014/main" id="{EBA7FC5E-B3B4-E683-7F5A-650EDE8DC5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2559" y="33222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Top 5 Most Volatile Forex Pairs &amp; Strategies To Consider">
              <a:extLst>
                <a:ext uri="{FF2B5EF4-FFF2-40B4-BE49-F238E27FC236}">
                  <a16:creationId xmlns:a16="http://schemas.microsoft.com/office/drawing/2014/main" id="{1149D1BC-617F-EB52-8FE1-5ED5560003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68047" y="33222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Cryptocurrencies, a highly volatile asset - 11Onze">
              <a:extLst>
                <a:ext uri="{FF2B5EF4-FFF2-40B4-BE49-F238E27FC236}">
                  <a16:creationId xmlns:a16="http://schemas.microsoft.com/office/drawing/2014/main" id="{BDCD0BBC-799E-1213-E423-A60CE3D7B4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63957" y="3322263"/>
              <a:ext cx="6468200" cy="364247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4">
            <a:extLst>
              <a:ext uri="{FF2B5EF4-FFF2-40B4-BE49-F238E27FC236}">
                <a16:creationId xmlns:a16="http://schemas.microsoft.com/office/drawing/2014/main" id="{5B1F24D4-08EF-66AD-D141-510A66889635}"/>
              </a:ext>
            </a:extLst>
          </p:cNvPr>
          <p:cNvGrpSpPr/>
          <p:nvPr/>
        </p:nvGrpSpPr>
        <p:grpSpPr>
          <a:xfrm rot="5400000">
            <a:off x="-1543050" y="4057749"/>
            <a:ext cx="3086100" cy="2171499"/>
            <a:chOff x="0" y="0"/>
            <a:chExt cx="812800" cy="571917"/>
          </a:xfrm>
        </p:grpSpPr>
        <p:sp>
          <p:nvSpPr>
            <p:cNvPr id="6" name="TextBox 6">
              <a:extLst>
                <a:ext uri="{FF2B5EF4-FFF2-40B4-BE49-F238E27FC236}">
                  <a16:creationId xmlns:a16="http://schemas.microsoft.com/office/drawing/2014/main" id="{14927B22-0705-9D4D-A10B-142AD9C0D879}"/>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5" name="Freeform 5">
              <a:extLst>
                <a:ext uri="{FF2B5EF4-FFF2-40B4-BE49-F238E27FC236}">
                  <a16:creationId xmlns:a16="http://schemas.microsoft.com/office/drawing/2014/main" id="{8BEEDF95-BB66-3227-1FEE-DB952B8EE32E}"/>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dirty="0"/>
            </a:p>
          </p:txBody>
        </p:sp>
      </p:grpSp>
      <p:grpSp>
        <p:nvGrpSpPr>
          <p:cNvPr id="9" name="Group 9">
            <a:extLst>
              <a:ext uri="{FF2B5EF4-FFF2-40B4-BE49-F238E27FC236}">
                <a16:creationId xmlns:a16="http://schemas.microsoft.com/office/drawing/2014/main" id="{627A079F-3222-EB8E-E75D-0003ACA69384}"/>
              </a:ext>
            </a:extLst>
          </p:cNvPr>
          <p:cNvGrpSpPr/>
          <p:nvPr/>
        </p:nvGrpSpPr>
        <p:grpSpPr>
          <a:xfrm rot="16200000">
            <a:off x="16699267" y="4057749"/>
            <a:ext cx="3086100" cy="2171499"/>
            <a:chOff x="0" y="0"/>
            <a:chExt cx="812800" cy="571917"/>
          </a:xfrm>
        </p:grpSpPr>
        <p:sp>
          <p:nvSpPr>
            <p:cNvPr id="11" name="TextBox 11">
              <a:extLst>
                <a:ext uri="{FF2B5EF4-FFF2-40B4-BE49-F238E27FC236}">
                  <a16:creationId xmlns:a16="http://schemas.microsoft.com/office/drawing/2014/main" id="{06FF7883-0AA8-6589-E755-C6E408ADD30E}"/>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0" name="Freeform 10">
              <a:extLst>
                <a:ext uri="{FF2B5EF4-FFF2-40B4-BE49-F238E27FC236}">
                  <a16:creationId xmlns:a16="http://schemas.microsoft.com/office/drawing/2014/main" id="{2EC27F2B-CB26-E338-438F-54933B9E45A4}"/>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grpSp>
      <p:sp>
        <p:nvSpPr>
          <p:cNvPr id="15" name="TextBox 28">
            <a:extLst>
              <a:ext uri="{FF2B5EF4-FFF2-40B4-BE49-F238E27FC236}">
                <a16:creationId xmlns:a16="http://schemas.microsoft.com/office/drawing/2014/main" id="{CF5E1BA8-D6EF-4246-4856-70518297F3E9}"/>
              </a:ext>
            </a:extLst>
          </p:cNvPr>
          <p:cNvSpPr txBox="1"/>
          <p:nvPr/>
        </p:nvSpPr>
        <p:spPr>
          <a:xfrm>
            <a:off x="5104697" y="7484267"/>
            <a:ext cx="8045992" cy="830997"/>
          </a:xfrm>
          <a:prstGeom prst="rect">
            <a:avLst/>
          </a:prstGeom>
        </p:spPr>
        <p:txBody>
          <a:bodyPr wrap="square" lIns="0" tIns="0" rIns="0" bIns="0" rtlCol="0" anchor="t">
            <a:spAutoFit/>
          </a:bodyPr>
          <a:lstStyle/>
          <a:p>
            <a:pPr algn="ctr">
              <a:spcBef>
                <a:spcPct val="0"/>
              </a:spcBef>
            </a:pPr>
            <a:r>
              <a:rPr lang="en-US" sz="5400" b="1" dirty="0">
                <a:solidFill>
                  <a:srgbClr val="FF8100"/>
                </a:solidFill>
                <a:latin typeface="Poppins Bold"/>
                <a:ea typeface="Poppins Bold"/>
                <a:cs typeface="Poppins Bold"/>
                <a:sym typeface="Poppins Bold"/>
              </a:rPr>
              <a:t>24/7 Highly Volatile</a:t>
            </a:r>
          </a:p>
        </p:txBody>
      </p:sp>
      <p:grpSp>
        <p:nvGrpSpPr>
          <p:cNvPr id="13" name="Group 4">
            <a:extLst>
              <a:ext uri="{FF2B5EF4-FFF2-40B4-BE49-F238E27FC236}">
                <a16:creationId xmlns:a16="http://schemas.microsoft.com/office/drawing/2014/main" id="{1B6FBEB9-64FE-218D-A397-B2A60DD8582F}"/>
              </a:ext>
            </a:extLst>
          </p:cNvPr>
          <p:cNvGrpSpPr/>
          <p:nvPr/>
        </p:nvGrpSpPr>
        <p:grpSpPr>
          <a:xfrm>
            <a:off x="2335245" y="7051140"/>
            <a:ext cx="13617510" cy="55894"/>
            <a:chOff x="0" y="0"/>
            <a:chExt cx="812800" cy="571917"/>
          </a:xfrm>
        </p:grpSpPr>
        <p:sp>
          <p:nvSpPr>
            <p:cNvPr id="14" name="TextBox 6">
              <a:extLst>
                <a:ext uri="{FF2B5EF4-FFF2-40B4-BE49-F238E27FC236}">
                  <a16:creationId xmlns:a16="http://schemas.microsoft.com/office/drawing/2014/main" id="{49497993-BC7C-F038-3C72-FA389887B8D9}"/>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6" name="Freeform 5">
              <a:extLst>
                <a:ext uri="{FF2B5EF4-FFF2-40B4-BE49-F238E27FC236}">
                  <a16:creationId xmlns:a16="http://schemas.microsoft.com/office/drawing/2014/main" id="{8EF37906-4EA4-F2E7-6B0D-D0869AAD4CDB}"/>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17" name="Group 4">
            <a:extLst>
              <a:ext uri="{FF2B5EF4-FFF2-40B4-BE49-F238E27FC236}">
                <a16:creationId xmlns:a16="http://schemas.microsoft.com/office/drawing/2014/main" id="{CDCC843C-CC62-76EE-439A-3E1A74CB5A40}"/>
              </a:ext>
            </a:extLst>
          </p:cNvPr>
          <p:cNvGrpSpPr/>
          <p:nvPr/>
        </p:nvGrpSpPr>
        <p:grpSpPr>
          <a:xfrm>
            <a:off x="2487645" y="3224788"/>
            <a:ext cx="13617510" cy="55894"/>
            <a:chOff x="0" y="0"/>
            <a:chExt cx="812800" cy="571917"/>
          </a:xfrm>
        </p:grpSpPr>
        <p:sp>
          <p:nvSpPr>
            <p:cNvPr id="18" name="TextBox 6">
              <a:extLst>
                <a:ext uri="{FF2B5EF4-FFF2-40B4-BE49-F238E27FC236}">
                  <a16:creationId xmlns:a16="http://schemas.microsoft.com/office/drawing/2014/main" id="{6CDC1522-3E8C-FA10-4217-069E7E5D67DF}"/>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9" name="Freeform 5">
              <a:extLst>
                <a:ext uri="{FF2B5EF4-FFF2-40B4-BE49-F238E27FC236}">
                  <a16:creationId xmlns:a16="http://schemas.microsoft.com/office/drawing/2014/main" id="{D8259CED-3B40-DAD2-4BD9-E70F1774EAE9}"/>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sp>
        <p:nvSpPr>
          <p:cNvPr id="21" name="TextBox 7">
            <a:extLst>
              <a:ext uri="{FF2B5EF4-FFF2-40B4-BE49-F238E27FC236}">
                <a16:creationId xmlns:a16="http://schemas.microsoft.com/office/drawing/2014/main" id="{576FC2AA-3303-37DA-58EB-D921B2E96E81}"/>
              </a:ext>
            </a:extLst>
          </p:cNvPr>
          <p:cNvSpPr txBox="1"/>
          <p:nvPr/>
        </p:nvSpPr>
        <p:spPr>
          <a:xfrm>
            <a:off x="-2133600" y="961411"/>
            <a:ext cx="14945093" cy="904094"/>
          </a:xfrm>
          <a:prstGeom prst="rect">
            <a:avLst/>
          </a:prstGeom>
        </p:spPr>
        <p:txBody>
          <a:bodyPr lIns="0" tIns="0" rIns="0" bIns="0" rtlCol="0" anchor="t">
            <a:spAutoFit/>
          </a:bodyPr>
          <a:lstStyle/>
          <a:p>
            <a:pPr algn="ctr">
              <a:lnSpc>
                <a:spcPts val="7424"/>
              </a:lnSpc>
            </a:pPr>
            <a:r>
              <a:rPr lang="en-US" sz="5400" b="1" dirty="0">
                <a:solidFill>
                  <a:srgbClr val="004AAD"/>
                </a:solidFill>
                <a:latin typeface="Roboto Bold"/>
                <a:ea typeface="Roboto Bold"/>
                <a:cs typeface="Roboto Bold"/>
                <a:sym typeface="Roboto Bold"/>
              </a:rPr>
              <a:t>Background </a:t>
            </a:r>
            <a:r>
              <a:rPr lang="en-US" sz="5400" b="1" dirty="0">
                <a:solidFill>
                  <a:schemeClr val="bg1">
                    <a:lumMod val="75000"/>
                  </a:schemeClr>
                </a:solidFill>
                <a:latin typeface="Roboto Bold"/>
                <a:ea typeface="Roboto Bold"/>
                <a:cs typeface="Roboto Bold"/>
                <a:sym typeface="Roboto Bold"/>
              </a:rPr>
              <a:t>&amp;</a:t>
            </a:r>
            <a:r>
              <a:rPr lang="en-US" sz="5400" b="1" dirty="0">
                <a:solidFill>
                  <a:srgbClr val="004AAD"/>
                </a:solidFill>
                <a:latin typeface="Roboto Bold"/>
                <a:ea typeface="Roboto Bold"/>
                <a:cs typeface="Roboto Bold"/>
                <a:sym typeface="Roboto Bold"/>
              </a:rPr>
              <a:t> </a:t>
            </a:r>
            <a:r>
              <a:rPr lang="en-US" sz="5400" b="1" dirty="0">
                <a:solidFill>
                  <a:schemeClr val="bg1">
                    <a:lumMod val="75000"/>
                  </a:schemeClr>
                </a:solidFill>
                <a:latin typeface="Roboto Bold"/>
                <a:ea typeface="Roboto Bold"/>
                <a:cs typeface="Roboto Bold"/>
                <a:sym typeface="Roboto Bold"/>
              </a:rPr>
              <a:t>Motivation</a:t>
            </a:r>
          </a:p>
        </p:txBody>
      </p:sp>
      <p:grpSp>
        <p:nvGrpSpPr>
          <p:cNvPr id="22" name="组合 21">
            <a:extLst>
              <a:ext uri="{FF2B5EF4-FFF2-40B4-BE49-F238E27FC236}">
                <a16:creationId xmlns:a16="http://schemas.microsoft.com/office/drawing/2014/main" id="{92F1ED93-E8F1-AB9F-59D3-5E879202B634}"/>
              </a:ext>
            </a:extLst>
          </p:cNvPr>
          <p:cNvGrpSpPr/>
          <p:nvPr/>
        </p:nvGrpSpPr>
        <p:grpSpPr>
          <a:xfrm>
            <a:off x="-228600" y="-4222483"/>
            <a:ext cx="37381967" cy="2381255"/>
            <a:chOff x="-2788574" y="7905745"/>
            <a:chExt cx="37381967" cy="2381255"/>
          </a:xfrm>
        </p:grpSpPr>
        <p:pic>
          <p:nvPicPr>
            <p:cNvPr id="24" name="Picture 2" descr="How LSTM Networks are Revolutionizing Time Series Forecasting">
              <a:extLst>
                <a:ext uri="{FF2B5EF4-FFF2-40B4-BE49-F238E27FC236}">
                  <a16:creationId xmlns:a16="http://schemas.microsoft.com/office/drawing/2014/main" id="{159E570F-E08F-9247-51F7-DEF0D98F5EF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5272" b="17662"/>
            <a:stretch>
              <a:fillRect/>
            </a:stretch>
          </p:blipFill>
          <p:spPr bwMode="auto">
            <a:xfrm>
              <a:off x="9732288" y="7905746"/>
              <a:ext cx="611348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Deep Learning's Long Development Continues | Bench Talk">
              <a:extLst>
                <a:ext uri="{FF2B5EF4-FFF2-40B4-BE49-F238E27FC236}">
                  <a16:creationId xmlns:a16="http://schemas.microsoft.com/office/drawing/2014/main" id="{0A27C16E-7343-A36C-55C7-C82B0B7EB2C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62" t="28908" r="-566" b="15991"/>
            <a:stretch>
              <a:fillRect/>
            </a:stretch>
          </p:blipFill>
          <p:spPr bwMode="auto">
            <a:xfrm>
              <a:off x="-2788574" y="7905745"/>
              <a:ext cx="6147152" cy="238125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8" descr="6 Bollinger Bands® Trading Strategies + Video | TradingSim">
              <a:extLst>
                <a:ext uri="{FF2B5EF4-FFF2-40B4-BE49-F238E27FC236}">
                  <a16:creationId xmlns:a16="http://schemas.microsoft.com/office/drawing/2014/main" id="{46B85431-7140-0919-5208-4E368DEC9EE7}"/>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r="13950"/>
            <a:stretch>
              <a:fillRect/>
            </a:stretch>
          </p:blipFill>
          <p:spPr bwMode="auto">
            <a:xfrm>
              <a:off x="3471857" y="7905747"/>
              <a:ext cx="614715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How LSTM Networks are Revolutionizing Time Series Forecasting">
              <a:extLst>
                <a:ext uri="{FF2B5EF4-FFF2-40B4-BE49-F238E27FC236}">
                  <a16:creationId xmlns:a16="http://schemas.microsoft.com/office/drawing/2014/main" id="{39B0A8B3-C812-C3A7-5241-542365E95E9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5272" b="17662"/>
            <a:stretch>
              <a:fillRect/>
            </a:stretch>
          </p:blipFill>
          <p:spPr bwMode="auto">
            <a:xfrm>
              <a:off x="28479911" y="7905751"/>
              <a:ext cx="611348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6" descr="Deep Learning's Long Development Continues | Bench Talk">
              <a:extLst>
                <a:ext uri="{FF2B5EF4-FFF2-40B4-BE49-F238E27FC236}">
                  <a16:creationId xmlns:a16="http://schemas.microsoft.com/office/drawing/2014/main" id="{84A107E0-2BD9-61A8-AC30-FBCBDA27B24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62" t="28908" r="-566" b="15991"/>
            <a:stretch>
              <a:fillRect/>
            </a:stretch>
          </p:blipFill>
          <p:spPr bwMode="auto">
            <a:xfrm>
              <a:off x="15959049" y="7905750"/>
              <a:ext cx="6147152" cy="238125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6 Bollinger Bands® Trading Strategies + Video | TradingSim">
              <a:extLst>
                <a:ext uri="{FF2B5EF4-FFF2-40B4-BE49-F238E27FC236}">
                  <a16:creationId xmlns:a16="http://schemas.microsoft.com/office/drawing/2014/main" id="{72304D98-4ABE-1267-6799-EB308BF4D7E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r="13950"/>
            <a:stretch>
              <a:fillRect/>
            </a:stretch>
          </p:blipFill>
          <p:spPr bwMode="auto">
            <a:xfrm>
              <a:off x="22219480" y="7905751"/>
              <a:ext cx="6147152" cy="2381249"/>
            </a:xfrm>
            <a:prstGeom prst="rect">
              <a:avLst/>
            </a:prstGeom>
            <a:noFill/>
            <a:extLst>
              <a:ext uri="{909E8E84-426E-40DD-AFC4-6F175D3DCCD1}">
                <a14:hiddenFill xmlns:a14="http://schemas.microsoft.com/office/drawing/2010/main">
                  <a:solidFill>
                    <a:srgbClr val="FFFFFF"/>
                  </a:solidFill>
                </a14:hiddenFill>
              </a:ext>
            </a:extLst>
          </p:spPr>
        </p:pic>
      </p:grpSp>
      <p:sp>
        <p:nvSpPr>
          <p:cNvPr id="30" name="TextBox 29">
            <a:extLst>
              <a:ext uri="{FF2B5EF4-FFF2-40B4-BE49-F238E27FC236}">
                <a16:creationId xmlns:a16="http://schemas.microsoft.com/office/drawing/2014/main" id="{02790D66-0EF5-4894-8527-C44B2EE67DCC}"/>
              </a:ext>
            </a:extLst>
          </p:cNvPr>
          <p:cNvSpPr txBox="1"/>
          <p:nvPr/>
        </p:nvSpPr>
        <p:spPr>
          <a:xfrm>
            <a:off x="5882508" y="-4991100"/>
            <a:ext cx="6553200" cy="592406"/>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4AAD"/>
                </a:solidFill>
                <a:latin typeface="Poppins Bold"/>
                <a:ea typeface="Poppins Bold"/>
                <a:cs typeface="Poppins Bold"/>
                <a:sym typeface="Poppins Bold"/>
              </a:rPr>
              <a:t>Traditional Trading Methods</a:t>
            </a:r>
          </a:p>
        </p:txBody>
      </p:sp>
      <p:sp>
        <p:nvSpPr>
          <p:cNvPr id="31" name="TextBox 28">
            <a:extLst>
              <a:ext uri="{FF2B5EF4-FFF2-40B4-BE49-F238E27FC236}">
                <a16:creationId xmlns:a16="http://schemas.microsoft.com/office/drawing/2014/main" id="{F7150B6C-9117-A007-3303-9C0B7B5303DB}"/>
              </a:ext>
            </a:extLst>
          </p:cNvPr>
          <p:cNvSpPr txBox="1"/>
          <p:nvPr/>
        </p:nvSpPr>
        <p:spPr>
          <a:xfrm>
            <a:off x="5121004" y="-1488811"/>
            <a:ext cx="8045992" cy="830997"/>
          </a:xfrm>
          <a:prstGeom prst="rect">
            <a:avLst/>
          </a:prstGeom>
        </p:spPr>
        <p:txBody>
          <a:bodyPr wrap="square" lIns="0" tIns="0" rIns="0" bIns="0" rtlCol="0" anchor="t">
            <a:spAutoFit/>
          </a:bodyPr>
          <a:lstStyle/>
          <a:p>
            <a:pPr algn="ctr">
              <a:spcBef>
                <a:spcPct val="0"/>
              </a:spcBef>
            </a:pPr>
            <a:r>
              <a:rPr lang="en-US" sz="5400" b="1" dirty="0">
                <a:solidFill>
                  <a:srgbClr val="C00000"/>
                </a:solidFill>
                <a:latin typeface="Poppins Bold"/>
                <a:ea typeface="Poppins Bold"/>
                <a:cs typeface="Poppins Bold"/>
                <a:sym typeface="Poppins Bold"/>
              </a:rPr>
              <a:t>Struggle To Adapt</a:t>
            </a:r>
          </a:p>
        </p:txBody>
      </p:sp>
      <p:grpSp>
        <p:nvGrpSpPr>
          <p:cNvPr id="32" name="Group 4">
            <a:extLst>
              <a:ext uri="{FF2B5EF4-FFF2-40B4-BE49-F238E27FC236}">
                <a16:creationId xmlns:a16="http://schemas.microsoft.com/office/drawing/2014/main" id="{D210785C-F2A7-7491-D012-68E2A37898E8}"/>
              </a:ext>
            </a:extLst>
          </p:cNvPr>
          <p:cNvGrpSpPr/>
          <p:nvPr/>
        </p:nvGrpSpPr>
        <p:grpSpPr>
          <a:xfrm>
            <a:off x="2335245" y="-1736453"/>
            <a:ext cx="13617510" cy="55894"/>
            <a:chOff x="0" y="0"/>
            <a:chExt cx="812800" cy="571917"/>
          </a:xfrm>
        </p:grpSpPr>
        <p:sp>
          <p:nvSpPr>
            <p:cNvPr id="33" name="TextBox 6">
              <a:extLst>
                <a:ext uri="{FF2B5EF4-FFF2-40B4-BE49-F238E27FC236}">
                  <a16:creationId xmlns:a16="http://schemas.microsoft.com/office/drawing/2014/main" id="{3F2CA34F-F9E0-A0C3-2267-0605739BB32A}"/>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34" name="Freeform 5">
              <a:extLst>
                <a:ext uri="{FF2B5EF4-FFF2-40B4-BE49-F238E27FC236}">
                  <a16:creationId xmlns:a16="http://schemas.microsoft.com/office/drawing/2014/main" id="{A09EE7CA-75D6-93FB-F5AC-22593312ADBC}"/>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35" name="Group 4">
            <a:extLst>
              <a:ext uri="{FF2B5EF4-FFF2-40B4-BE49-F238E27FC236}">
                <a16:creationId xmlns:a16="http://schemas.microsoft.com/office/drawing/2014/main" id="{34B85822-3D29-57FC-DF54-18A69F01F76E}"/>
              </a:ext>
            </a:extLst>
          </p:cNvPr>
          <p:cNvGrpSpPr/>
          <p:nvPr/>
        </p:nvGrpSpPr>
        <p:grpSpPr>
          <a:xfrm>
            <a:off x="2487645" y="-4327253"/>
            <a:ext cx="13617510" cy="55894"/>
            <a:chOff x="0" y="0"/>
            <a:chExt cx="812800" cy="571917"/>
          </a:xfrm>
        </p:grpSpPr>
        <p:sp>
          <p:nvSpPr>
            <p:cNvPr id="36" name="TextBox 6">
              <a:extLst>
                <a:ext uri="{FF2B5EF4-FFF2-40B4-BE49-F238E27FC236}">
                  <a16:creationId xmlns:a16="http://schemas.microsoft.com/office/drawing/2014/main" id="{6C1E179C-1427-6A63-7438-CD11C4C748AF}"/>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37" name="Freeform 5">
              <a:extLst>
                <a:ext uri="{FF2B5EF4-FFF2-40B4-BE49-F238E27FC236}">
                  <a16:creationId xmlns:a16="http://schemas.microsoft.com/office/drawing/2014/main" id="{AA3501FE-09B5-EFC3-8951-00AEE608DD5E}"/>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spTree>
    <p:extLst>
      <p:ext uri="{BB962C8B-B14F-4D97-AF65-F5344CB8AC3E}">
        <p14:creationId xmlns:p14="http://schemas.microsoft.com/office/powerpoint/2010/main" val="30191210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C3C00-C6A5-47A8-2B87-24F5516505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644239-12DC-E8FE-00CF-DC16BF995C08}"/>
              </a:ext>
            </a:extLst>
          </p:cNvPr>
          <p:cNvSpPr>
            <a:spLocks noGrp="1" noRot="1" noMove="1" noResize="1" noEditPoints="1" noAdjustHandles="1" noChangeArrowheads="1" noChangeShapeType="1"/>
          </p:cNvSpPr>
          <p:nvPr/>
        </p:nvSpPr>
        <p:spPr>
          <a:xfrm>
            <a:off x="0" y="0"/>
            <a:ext cx="18288000" cy="1062990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grpSp>
        <p:nvGrpSpPr>
          <p:cNvPr id="27" name="组合 26">
            <a:extLst>
              <a:ext uri="{FF2B5EF4-FFF2-40B4-BE49-F238E27FC236}">
                <a16:creationId xmlns:a16="http://schemas.microsoft.com/office/drawing/2014/main" id="{6AB7E87A-3B0B-DBD4-C033-E3C3E6448DE3}"/>
              </a:ext>
            </a:extLst>
          </p:cNvPr>
          <p:cNvGrpSpPr/>
          <p:nvPr/>
        </p:nvGrpSpPr>
        <p:grpSpPr>
          <a:xfrm>
            <a:off x="-228600" y="3952870"/>
            <a:ext cx="37381967" cy="2381255"/>
            <a:chOff x="-2788574" y="7905745"/>
            <a:chExt cx="37381967" cy="2381255"/>
          </a:xfrm>
        </p:grpSpPr>
        <p:pic>
          <p:nvPicPr>
            <p:cNvPr id="12290" name="Picture 2" descr="How LSTM Networks are Revolutionizing Time Series Forecasting">
              <a:extLst>
                <a:ext uri="{FF2B5EF4-FFF2-40B4-BE49-F238E27FC236}">
                  <a16:creationId xmlns:a16="http://schemas.microsoft.com/office/drawing/2014/main" id="{B48FA8CA-5140-669A-5677-DE16F86A5E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272" b="17662"/>
            <a:stretch>
              <a:fillRect/>
            </a:stretch>
          </p:blipFill>
          <p:spPr bwMode="auto">
            <a:xfrm>
              <a:off x="9732288" y="7905746"/>
              <a:ext cx="611348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Deep Learning's Long Development Continues | Bench Talk">
              <a:extLst>
                <a:ext uri="{FF2B5EF4-FFF2-40B4-BE49-F238E27FC236}">
                  <a16:creationId xmlns:a16="http://schemas.microsoft.com/office/drawing/2014/main" id="{C6E49000-D197-17F3-83BF-17690B70D0B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2" t="28908" r="-566" b="15991"/>
            <a:stretch>
              <a:fillRect/>
            </a:stretch>
          </p:blipFill>
          <p:spPr bwMode="auto">
            <a:xfrm>
              <a:off x="-2788574" y="7905745"/>
              <a:ext cx="6147152" cy="2381250"/>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6 Bollinger Bands® Trading Strategies + Video | TradingSim">
              <a:extLst>
                <a:ext uri="{FF2B5EF4-FFF2-40B4-BE49-F238E27FC236}">
                  <a16:creationId xmlns:a16="http://schemas.microsoft.com/office/drawing/2014/main" id="{B294F629-42C3-1061-F789-B00FF3F06B2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3950"/>
            <a:stretch>
              <a:fillRect/>
            </a:stretch>
          </p:blipFill>
          <p:spPr bwMode="auto">
            <a:xfrm>
              <a:off x="3471857" y="7905747"/>
              <a:ext cx="614715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How LSTM Networks are Revolutionizing Time Series Forecasting">
              <a:extLst>
                <a:ext uri="{FF2B5EF4-FFF2-40B4-BE49-F238E27FC236}">
                  <a16:creationId xmlns:a16="http://schemas.microsoft.com/office/drawing/2014/main" id="{7AFDFE3D-D517-A6BF-39B3-52EF671B2C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272" b="17662"/>
            <a:stretch>
              <a:fillRect/>
            </a:stretch>
          </p:blipFill>
          <p:spPr bwMode="auto">
            <a:xfrm>
              <a:off x="28479911" y="7905751"/>
              <a:ext cx="611348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Deep Learning's Long Development Continues | Bench Talk">
              <a:extLst>
                <a:ext uri="{FF2B5EF4-FFF2-40B4-BE49-F238E27FC236}">
                  <a16:creationId xmlns:a16="http://schemas.microsoft.com/office/drawing/2014/main" id="{8C4B91DA-89EB-F840-6722-4875D67D2C4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2" t="28908" r="-566" b="15991"/>
            <a:stretch>
              <a:fillRect/>
            </a:stretch>
          </p:blipFill>
          <p:spPr bwMode="auto">
            <a:xfrm>
              <a:off x="15959049" y="7905750"/>
              <a:ext cx="6147152" cy="238125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descr="6 Bollinger Bands® Trading Strategies + Video | TradingSim">
              <a:extLst>
                <a:ext uri="{FF2B5EF4-FFF2-40B4-BE49-F238E27FC236}">
                  <a16:creationId xmlns:a16="http://schemas.microsoft.com/office/drawing/2014/main" id="{1D75A871-B8FB-96B3-27C6-F7A8B40A6FB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3950"/>
            <a:stretch>
              <a:fillRect/>
            </a:stretch>
          </p:blipFill>
          <p:spPr bwMode="auto">
            <a:xfrm>
              <a:off x="22219480" y="7905751"/>
              <a:ext cx="6147152" cy="238124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4">
            <a:extLst>
              <a:ext uri="{FF2B5EF4-FFF2-40B4-BE49-F238E27FC236}">
                <a16:creationId xmlns:a16="http://schemas.microsoft.com/office/drawing/2014/main" id="{8B62726C-EA37-5B69-11E5-24E0C798411F}"/>
              </a:ext>
            </a:extLst>
          </p:cNvPr>
          <p:cNvGrpSpPr/>
          <p:nvPr/>
        </p:nvGrpSpPr>
        <p:grpSpPr>
          <a:xfrm rot="5400000">
            <a:off x="-1543050" y="4057749"/>
            <a:ext cx="3086100" cy="2171499"/>
            <a:chOff x="0" y="0"/>
            <a:chExt cx="812800" cy="571917"/>
          </a:xfrm>
        </p:grpSpPr>
        <p:sp>
          <p:nvSpPr>
            <p:cNvPr id="5" name="Freeform 5">
              <a:extLst>
                <a:ext uri="{FF2B5EF4-FFF2-40B4-BE49-F238E27FC236}">
                  <a16:creationId xmlns:a16="http://schemas.microsoft.com/office/drawing/2014/main" id="{FCB644CE-C490-59AD-BB05-AA55B45D9EC3}"/>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6" name="TextBox 6">
              <a:extLst>
                <a:ext uri="{FF2B5EF4-FFF2-40B4-BE49-F238E27FC236}">
                  <a16:creationId xmlns:a16="http://schemas.microsoft.com/office/drawing/2014/main" id="{7AC18A36-F2D2-E0C9-14B9-DE1B0FFBA6FA}"/>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C35F9DD0-85A8-EB61-E07A-F3599DA8A90F}"/>
              </a:ext>
            </a:extLst>
          </p:cNvPr>
          <p:cNvGrpSpPr/>
          <p:nvPr/>
        </p:nvGrpSpPr>
        <p:grpSpPr>
          <a:xfrm rot="16200000">
            <a:off x="16699267" y="4057749"/>
            <a:ext cx="3086100" cy="2171499"/>
            <a:chOff x="0" y="0"/>
            <a:chExt cx="812800" cy="571917"/>
          </a:xfrm>
        </p:grpSpPr>
        <p:sp>
          <p:nvSpPr>
            <p:cNvPr id="10" name="Freeform 10">
              <a:extLst>
                <a:ext uri="{FF2B5EF4-FFF2-40B4-BE49-F238E27FC236}">
                  <a16:creationId xmlns:a16="http://schemas.microsoft.com/office/drawing/2014/main" id="{D0A81E17-2679-F01C-1D11-B4C604DEDAE4}"/>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11" name="TextBox 11">
              <a:extLst>
                <a:ext uri="{FF2B5EF4-FFF2-40B4-BE49-F238E27FC236}">
                  <a16:creationId xmlns:a16="http://schemas.microsoft.com/office/drawing/2014/main" id="{03EF17F8-8C31-B338-AF53-53907121AD3C}"/>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21" name="TextBox 29">
            <a:extLst>
              <a:ext uri="{FF2B5EF4-FFF2-40B4-BE49-F238E27FC236}">
                <a16:creationId xmlns:a16="http://schemas.microsoft.com/office/drawing/2014/main" id="{7E0FC263-5EA8-421B-6724-A7685EAF7D4A}"/>
              </a:ext>
            </a:extLst>
          </p:cNvPr>
          <p:cNvSpPr txBox="1"/>
          <p:nvPr/>
        </p:nvSpPr>
        <p:spPr>
          <a:xfrm>
            <a:off x="5882508" y="3184253"/>
            <a:ext cx="6553200" cy="592406"/>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4AAD"/>
                </a:solidFill>
                <a:latin typeface="Poppins Bold"/>
                <a:ea typeface="Poppins Bold"/>
                <a:cs typeface="Poppins Bold"/>
                <a:sym typeface="Poppins Bold"/>
              </a:rPr>
              <a:t>Traditional Trading Methods</a:t>
            </a:r>
          </a:p>
        </p:txBody>
      </p:sp>
      <p:sp>
        <p:nvSpPr>
          <p:cNvPr id="3" name="TextBox 28">
            <a:extLst>
              <a:ext uri="{FF2B5EF4-FFF2-40B4-BE49-F238E27FC236}">
                <a16:creationId xmlns:a16="http://schemas.microsoft.com/office/drawing/2014/main" id="{98E9214E-DBB4-20EB-8E0F-48BA8101B600}"/>
              </a:ext>
            </a:extLst>
          </p:cNvPr>
          <p:cNvSpPr txBox="1"/>
          <p:nvPr/>
        </p:nvSpPr>
        <p:spPr>
          <a:xfrm>
            <a:off x="5121004" y="6686542"/>
            <a:ext cx="8045992" cy="830997"/>
          </a:xfrm>
          <a:prstGeom prst="rect">
            <a:avLst/>
          </a:prstGeom>
        </p:spPr>
        <p:txBody>
          <a:bodyPr wrap="square" lIns="0" tIns="0" rIns="0" bIns="0" rtlCol="0" anchor="t">
            <a:spAutoFit/>
          </a:bodyPr>
          <a:lstStyle/>
          <a:p>
            <a:pPr algn="ctr">
              <a:spcBef>
                <a:spcPct val="0"/>
              </a:spcBef>
            </a:pPr>
            <a:r>
              <a:rPr lang="en-US" sz="5400" b="1" dirty="0">
                <a:solidFill>
                  <a:srgbClr val="C00000"/>
                </a:solidFill>
                <a:latin typeface="Poppins Bold"/>
                <a:ea typeface="Poppins Bold"/>
                <a:cs typeface="Poppins Bold"/>
                <a:sym typeface="Poppins Bold"/>
              </a:rPr>
              <a:t>Struggle To Adapt</a:t>
            </a:r>
          </a:p>
        </p:txBody>
      </p:sp>
      <p:sp>
        <p:nvSpPr>
          <p:cNvPr id="8" name="TextBox 7">
            <a:extLst>
              <a:ext uri="{FF2B5EF4-FFF2-40B4-BE49-F238E27FC236}">
                <a16:creationId xmlns:a16="http://schemas.microsoft.com/office/drawing/2014/main" id="{52FA2C0E-EB49-7350-5A71-FBBAAC2695ED}"/>
              </a:ext>
            </a:extLst>
          </p:cNvPr>
          <p:cNvSpPr txBox="1"/>
          <p:nvPr/>
        </p:nvSpPr>
        <p:spPr>
          <a:xfrm>
            <a:off x="-2133600" y="961411"/>
            <a:ext cx="14945093" cy="904094"/>
          </a:xfrm>
          <a:prstGeom prst="rect">
            <a:avLst/>
          </a:prstGeom>
        </p:spPr>
        <p:txBody>
          <a:bodyPr lIns="0" tIns="0" rIns="0" bIns="0" rtlCol="0" anchor="t">
            <a:spAutoFit/>
          </a:bodyPr>
          <a:lstStyle/>
          <a:p>
            <a:pPr algn="ctr">
              <a:lnSpc>
                <a:spcPts val="7424"/>
              </a:lnSpc>
            </a:pPr>
            <a:r>
              <a:rPr lang="en-US" sz="5400" b="1" dirty="0">
                <a:solidFill>
                  <a:srgbClr val="004AAD"/>
                </a:solidFill>
                <a:latin typeface="Roboto Bold"/>
                <a:ea typeface="Roboto Bold"/>
                <a:cs typeface="Roboto Bold"/>
                <a:sym typeface="Roboto Bold"/>
              </a:rPr>
              <a:t>Background </a:t>
            </a:r>
            <a:r>
              <a:rPr lang="en-US" sz="5400" b="1" dirty="0">
                <a:solidFill>
                  <a:schemeClr val="bg1">
                    <a:lumMod val="75000"/>
                  </a:schemeClr>
                </a:solidFill>
                <a:latin typeface="Roboto Bold"/>
                <a:ea typeface="Roboto Bold"/>
                <a:cs typeface="Roboto Bold"/>
                <a:sym typeface="Roboto Bold"/>
              </a:rPr>
              <a:t>&amp;</a:t>
            </a:r>
            <a:r>
              <a:rPr lang="en-US" sz="5400" b="1" dirty="0">
                <a:solidFill>
                  <a:srgbClr val="004AAD"/>
                </a:solidFill>
                <a:latin typeface="Roboto Bold"/>
                <a:ea typeface="Roboto Bold"/>
                <a:cs typeface="Roboto Bold"/>
                <a:sym typeface="Roboto Bold"/>
              </a:rPr>
              <a:t> </a:t>
            </a:r>
            <a:r>
              <a:rPr lang="en-US" sz="5400" b="1" dirty="0">
                <a:solidFill>
                  <a:schemeClr val="bg1">
                    <a:lumMod val="75000"/>
                  </a:schemeClr>
                </a:solidFill>
                <a:latin typeface="Roboto Bold"/>
                <a:ea typeface="Roboto Bold"/>
                <a:cs typeface="Roboto Bold"/>
                <a:sym typeface="Roboto Bold"/>
              </a:rPr>
              <a:t>Motivation</a:t>
            </a:r>
          </a:p>
        </p:txBody>
      </p:sp>
      <p:grpSp>
        <p:nvGrpSpPr>
          <p:cNvPr id="12" name="Group 4">
            <a:extLst>
              <a:ext uri="{FF2B5EF4-FFF2-40B4-BE49-F238E27FC236}">
                <a16:creationId xmlns:a16="http://schemas.microsoft.com/office/drawing/2014/main" id="{E2E47BB1-0183-487C-02C9-A1A8CA34E6CC}"/>
              </a:ext>
            </a:extLst>
          </p:cNvPr>
          <p:cNvGrpSpPr/>
          <p:nvPr/>
        </p:nvGrpSpPr>
        <p:grpSpPr>
          <a:xfrm>
            <a:off x="2335245" y="6438900"/>
            <a:ext cx="13617510" cy="55894"/>
            <a:chOff x="0" y="0"/>
            <a:chExt cx="812800" cy="571917"/>
          </a:xfrm>
        </p:grpSpPr>
        <p:sp>
          <p:nvSpPr>
            <p:cNvPr id="13" name="TextBox 6">
              <a:extLst>
                <a:ext uri="{FF2B5EF4-FFF2-40B4-BE49-F238E27FC236}">
                  <a16:creationId xmlns:a16="http://schemas.microsoft.com/office/drawing/2014/main" id="{FCAEE70E-D043-005D-62D5-97786E8AD110}"/>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4" name="Freeform 5">
              <a:extLst>
                <a:ext uri="{FF2B5EF4-FFF2-40B4-BE49-F238E27FC236}">
                  <a16:creationId xmlns:a16="http://schemas.microsoft.com/office/drawing/2014/main" id="{A6F60AEA-C798-C769-9460-6B44C66C24CE}"/>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15" name="Group 4">
            <a:extLst>
              <a:ext uri="{FF2B5EF4-FFF2-40B4-BE49-F238E27FC236}">
                <a16:creationId xmlns:a16="http://schemas.microsoft.com/office/drawing/2014/main" id="{37ACED99-55F5-51B5-C721-5FA6D60349BD}"/>
              </a:ext>
            </a:extLst>
          </p:cNvPr>
          <p:cNvGrpSpPr/>
          <p:nvPr/>
        </p:nvGrpSpPr>
        <p:grpSpPr>
          <a:xfrm>
            <a:off x="2487645" y="3848100"/>
            <a:ext cx="13617510" cy="55894"/>
            <a:chOff x="0" y="0"/>
            <a:chExt cx="812800" cy="571917"/>
          </a:xfrm>
        </p:grpSpPr>
        <p:sp>
          <p:nvSpPr>
            <p:cNvPr id="16" name="TextBox 6">
              <a:extLst>
                <a:ext uri="{FF2B5EF4-FFF2-40B4-BE49-F238E27FC236}">
                  <a16:creationId xmlns:a16="http://schemas.microsoft.com/office/drawing/2014/main" id="{402D0495-AEF1-8DB2-DAE9-A269140A709F}"/>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7" name="Freeform 5">
              <a:extLst>
                <a:ext uri="{FF2B5EF4-FFF2-40B4-BE49-F238E27FC236}">
                  <a16:creationId xmlns:a16="http://schemas.microsoft.com/office/drawing/2014/main" id="{9574B76B-CCF6-8F10-3ED5-6E0A5D4EF90A}"/>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18" name="组合 17">
            <a:extLst>
              <a:ext uri="{FF2B5EF4-FFF2-40B4-BE49-F238E27FC236}">
                <a16:creationId xmlns:a16="http://schemas.microsoft.com/office/drawing/2014/main" id="{5DB29314-2315-016E-3EE9-CDDF48BF512A}"/>
              </a:ext>
            </a:extLst>
          </p:cNvPr>
          <p:cNvGrpSpPr/>
          <p:nvPr/>
        </p:nvGrpSpPr>
        <p:grpSpPr>
          <a:xfrm>
            <a:off x="-21344691" y="11574147"/>
            <a:ext cx="40517882" cy="3655173"/>
            <a:chOff x="-7574327" y="3309563"/>
            <a:chExt cx="40517882" cy="3655173"/>
          </a:xfrm>
        </p:grpSpPr>
        <p:pic>
          <p:nvPicPr>
            <p:cNvPr id="19" name="Picture 8" descr="Top 5 Most Volatile Forex Pairs &amp; Strategies To Consider">
              <a:extLst>
                <a:ext uri="{FF2B5EF4-FFF2-40B4-BE49-F238E27FC236}">
                  <a16:creationId xmlns:a16="http://schemas.microsoft.com/office/drawing/2014/main" id="{EF1EAECF-A30C-2913-C744-3FBCD813C1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41161" y="33095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2,296 Volatile Stock Videos, Footage, &amp; 4K Video Clips - Getty Images |  Volatile market, Volatile stocks, Volatile stock">
              <a:extLst>
                <a:ext uri="{FF2B5EF4-FFF2-40B4-BE49-F238E27FC236}">
                  <a16:creationId xmlns:a16="http://schemas.microsoft.com/office/drawing/2014/main" id="{E4D69AF9-DD43-382E-A087-770FF1224F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74327" y="33095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Cryptocurrencies, a highly volatile asset - 11Onze">
              <a:extLst>
                <a:ext uri="{FF2B5EF4-FFF2-40B4-BE49-F238E27FC236}">
                  <a16:creationId xmlns:a16="http://schemas.microsoft.com/office/drawing/2014/main" id="{BF65F13D-3085-CFC6-7453-F06FB5FD6D0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929" y="3309563"/>
              <a:ext cx="6468200" cy="364247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2,296 Volatile Stock Videos, Footage, &amp; 4K Video Clips - Getty Images |  Volatile market, Volatile stocks, Volatile stock">
              <a:extLst>
                <a:ext uri="{FF2B5EF4-FFF2-40B4-BE49-F238E27FC236}">
                  <a16:creationId xmlns:a16="http://schemas.microsoft.com/office/drawing/2014/main" id="{10034263-CB36-24E8-74DB-1B776DB2B46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52559" y="33222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Top 5 Most Volatile Forex Pairs &amp; Strategies To Consider">
              <a:extLst>
                <a:ext uri="{FF2B5EF4-FFF2-40B4-BE49-F238E27FC236}">
                  <a16:creationId xmlns:a16="http://schemas.microsoft.com/office/drawing/2014/main" id="{A2D568A2-7E7E-2814-CBBB-1DE1F9E48F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68047" y="3322263"/>
              <a:ext cx="6475508" cy="364247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6" descr="Cryptocurrencies, a highly volatile asset - 11Onze">
              <a:extLst>
                <a:ext uri="{FF2B5EF4-FFF2-40B4-BE49-F238E27FC236}">
                  <a16:creationId xmlns:a16="http://schemas.microsoft.com/office/drawing/2014/main" id="{E85EE6B7-62BC-CCE7-05B5-ECF2303DE2B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663957" y="3322263"/>
              <a:ext cx="6468200" cy="3642473"/>
            </a:xfrm>
            <a:prstGeom prst="rect">
              <a:avLst/>
            </a:prstGeom>
            <a:noFill/>
            <a:extLst>
              <a:ext uri="{909E8E84-426E-40DD-AFC4-6F175D3DCCD1}">
                <a14:hiddenFill xmlns:a14="http://schemas.microsoft.com/office/drawing/2010/main">
                  <a:solidFill>
                    <a:srgbClr val="FFFFFF"/>
                  </a:solidFill>
                </a14:hiddenFill>
              </a:ext>
            </a:extLst>
          </p:spPr>
        </p:pic>
      </p:grpSp>
      <p:sp>
        <p:nvSpPr>
          <p:cNvPr id="30" name="TextBox 28">
            <a:extLst>
              <a:ext uri="{FF2B5EF4-FFF2-40B4-BE49-F238E27FC236}">
                <a16:creationId xmlns:a16="http://schemas.microsoft.com/office/drawing/2014/main" id="{78B876E6-B694-975C-A682-B72D83660949}"/>
              </a:ext>
            </a:extLst>
          </p:cNvPr>
          <p:cNvSpPr txBox="1"/>
          <p:nvPr/>
        </p:nvSpPr>
        <p:spPr>
          <a:xfrm>
            <a:off x="5104697" y="15742503"/>
            <a:ext cx="8045992" cy="830997"/>
          </a:xfrm>
          <a:prstGeom prst="rect">
            <a:avLst/>
          </a:prstGeom>
        </p:spPr>
        <p:txBody>
          <a:bodyPr wrap="square" lIns="0" tIns="0" rIns="0" bIns="0" rtlCol="0" anchor="t">
            <a:spAutoFit/>
          </a:bodyPr>
          <a:lstStyle/>
          <a:p>
            <a:pPr algn="ctr">
              <a:spcBef>
                <a:spcPct val="0"/>
              </a:spcBef>
            </a:pPr>
            <a:r>
              <a:rPr lang="en-US" sz="5400" b="1" dirty="0">
                <a:solidFill>
                  <a:srgbClr val="FF8100"/>
                </a:solidFill>
                <a:latin typeface="Poppins Bold"/>
                <a:ea typeface="Poppins Bold"/>
                <a:cs typeface="Poppins Bold"/>
                <a:sym typeface="Poppins Bold"/>
              </a:rPr>
              <a:t>24/7 Highly Volatile</a:t>
            </a:r>
          </a:p>
        </p:txBody>
      </p:sp>
    </p:spTree>
    <p:extLst>
      <p:ext uri="{BB962C8B-B14F-4D97-AF65-F5344CB8AC3E}">
        <p14:creationId xmlns:p14="http://schemas.microsoft.com/office/powerpoint/2010/main" val="13063739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6887E-4D74-B58D-D22A-3990117D543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FB0EDED-F24A-6FD5-303C-8F501FC02AF3}"/>
              </a:ext>
            </a:extLst>
          </p:cNvPr>
          <p:cNvSpPr>
            <a:spLocks noGrp="1" noRot="1" noMove="1" noResize="1" noEditPoints="1" noAdjustHandles="1" noChangeArrowheads="1" noChangeShapeType="1"/>
          </p:cNvSpPr>
          <p:nvPr/>
        </p:nvSpPr>
        <p:spPr>
          <a:xfrm>
            <a:off x="0" y="0"/>
            <a:ext cx="18288000" cy="1062990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grpSp>
        <p:nvGrpSpPr>
          <p:cNvPr id="27" name="组合 26">
            <a:extLst>
              <a:ext uri="{FF2B5EF4-FFF2-40B4-BE49-F238E27FC236}">
                <a16:creationId xmlns:a16="http://schemas.microsoft.com/office/drawing/2014/main" id="{A2D0AB4C-91E6-AD8F-2F68-9FDEDC6D2314}"/>
              </a:ext>
            </a:extLst>
          </p:cNvPr>
          <p:cNvGrpSpPr/>
          <p:nvPr/>
        </p:nvGrpSpPr>
        <p:grpSpPr>
          <a:xfrm>
            <a:off x="-6400800" y="3952870"/>
            <a:ext cx="37381967" cy="2381255"/>
            <a:chOff x="-2788574" y="7905745"/>
            <a:chExt cx="37381967" cy="2381255"/>
          </a:xfrm>
        </p:grpSpPr>
        <p:pic>
          <p:nvPicPr>
            <p:cNvPr id="12290" name="Picture 2" descr="How LSTM Networks are Revolutionizing Time Series Forecasting">
              <a:extLst>
                <a:ext uri="{FF2B5EF4-FFF2-40B4-BE49-F238E27FC236}">
                  <a16:creationId xmlns:a16="http://schemas.microsoft.com/office/drawing/2014/main" id="{4D6C37FB-8639-7817-13DB-EAAE5167107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272" b="17662"/>
            <a:stretch>
              <a:fillRect/>
            </a:stretch>
          </p:blipFill>
          <p:spPr bwMode="auto">
            <a:xfrm>
              <a:off x="9732288" y="7905746"/>
              <a:ext cx="611348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Deep Learning's Long Development Continues | Bench Talk">
              <a:extLst>
                <a:ext uri="{FF2B5EF4-FFF2-40B4-BE49-F238E27FC236}">
                  <a16:creationId xmlns:a16="http://schemas.microsoft.com/office/drawing/2014/main" id="{50CA6878-729E-ED5D-6F32-605237F6301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2" t="28908" r="-566" b="15991"/>
            <a:stretch>
              <a:fillRect/>
            </a:stretch>
          </p:blipFill>
          <p:spPr bwMode="auto">
            <a:xfrm>
              <a:off x="-2788574" y="7905745"/>
              <a:ext cx="6147152" cy="2381250"/>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6 Bollinger Bands® Trading Strategies + Video | TradingSim">
              <a:extLst>
                <a:ext uri="{FF2B5EF4-FFF2-40B4-BE49-F238E27FC236}">
                  <a16:creationId xmlns:a16="http://schemas.microsoft.com/office/drawing/2014/main" id="{FE8602DD-1C70-E7F1-BC48-DD96306DBA6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3950"/>
            <a:stretch>
              <a:fillRect/>
            </a:stretch>
          </p:blipFill>
          <p:spPr bwMode="auto">
            <a:xfrm>
              <a:off x="3471857" y="7905747"/>
              <a:ext cx="614715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How LSTM Networks are Revolutionizing Time Series Forecasting">
              <a:extLst>
                <a:ext uri="{FF2B5EF4-FFF2-40B4-BE49-F238E27FC236}">
                  <a16:creationId xmlns:a16="http://schemas.microsoft.com/office/drawing/2014/main" id="{2B0B5B5E-B712-96C5-DAEF-42FA63AD15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272" b="17662"/>
            <a:stretch>
              <a:fillRect/>
            </a:stretch>
          </p:blipFill>
          <p:spPr bwMode="auto">
            <a:xfrm>
              <a:off x="28479911" y="7905751"/>
              <a:ext cx="611348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Deep Learning's Long Development Continues | Bench Talk">
              <a:extLst>
                <a:ext uri="{FF2B5EF4-FFF2-40B4-BE49-F238E27FC236}">
                  <a16:creationId xmlns:a16="http://schemas.microsoft.com/office/drawing/2014/main" id="{1DE2863C-5C31-C591-D68E-A249C131F1E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2" t="28908" r="-566" b="15991"/>
            <a:stretch>
              <a:fillRect/>
            </a:stretch>
          </p:blipFill>
          <p:spPr bwMode="auto">
            <a:xfrm>
              <a:off x="15959049" y="7905750"/>
              <a:ext cx="6147152" cy="238125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descr="6 Bollinger Bands® Trading Strategies + Video | TradingSim">
              <a:extLst>
                <a:ext uri="{FF2B5EF4-FFF2-40B4-BE49-F238E27FC236}">
                  <a16:creationId xmlns:a16="http://schemas.microsoft.com/office/drawing/2014/main" id="{2031BFF9-429D-D074-E655-0D47FA7130B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3950"/>
            <a:stretch>
              <a:fillRect/>
            </a:stretch>
          </p:blipFill>
          <p:spPr bwMode="auto">
            <a:xfrm>
              <a:off x="22219480" y="7905751"/>
              <a:ext cx="6147152" cy="238124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4">
            <a:extLst>
              <a:ext uri="{FF2B5EF4-FFF2-40B4-BE49-F238E27FC236}">
                <a16:creationId xmlns:a16="http://schemas.microsoft.com/office/drawing/2014/main" id="{CC47C183-C6B2-F97A-42CA-4AE6C49C2CFA}"/>
              </a:ext>
            </a:extLst>
          </p:cNvPr>
          <p:cNvGrpSpPr/>
          <p:nvPr/>
        </p:nvGrpSpPr>
        <p:grpSpPr>
          <a:xfrm rot="5400000">
            <a:off x="-1543050" y="4057749"/>
            <a:ext cx="3086100" cy="2171499"/>
            <a:chOff x="0" y="0"/>
            <a:chExt cx="812800" cy="571917"/>
          </a:xfrm>
        </p:grpSpPr>
        <p:sp>
          <p:nvSpPr>
            <p:cNvPr id="5" name="Freeform 5">
              <a:extLst>
                <a:ext uri="{FF2B5EF4-FFF2-40B4-BE49-F238E27FC236}">
                  <a16:creationId xmlns:a16="http://schemas.microsoft.com/office/drawing/2014/main" id="{CF781F3D-0AC5-ADD3-2612-4C2690664EE4}"/>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6" name="TextBox 6">
              <a:extLst>
                <a:ext uri="{FF2B5EF4-FFF2-40B4-BE49-F238E27FC236}">
                  <a16:creationId xmlns:a16="http://schemas.microsoft.com/office/drawing/2014/main" id="{8F67A66E-909A-D78D-1421-550BA5B7CDA0}"/>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55494A8F-C806-9D59-63BA-8B174BF914F0}"/>
              </a:ext>
            </a:extLst>
          </p:cNvPr>
          <p:cNvGrpSpPr/>
          <p:nvPr/>
        </p:nvGrpSpPr>
        <p:grpSpPr>
          <a:xfrm rot="16200000">
            <a:off x="16699267" y="4057749"/>
            <a:ext cx="3086100" cy="2171499"/>
            <a:chOff x="0" y="0"/>
            <a:chExt cx="812800" cy="571917"/>
          </a:xfrm>
        </p:grpSpPr>
        <p:sp>
          <p:nvSpPr>
            <p:cNvPr id="10" name="Freeform 10">
              <a:extLst>
                <a:ext uri="{FF2B5EF4-FFF2-40B4-BE49-F238E27FC236}">
                  <a16:creationId xmlns:a16="http://schemas.microsoft.com/office/drawing/2014/main" id="{50D29984-EE5D-C988-0038-6FEEB81F3629}"/>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11" name="TextBox 11">
              <a:extLst>
                <a:ext uri="{FF2B5EF4-FFF2-40B4-BE49-F238E27FC236}">
                  <a16:creationId xmlns:a16="http://schemas.microsoft.com/office/drawing/2014/main" id="{75E2C781-7639-1E9E-CC42-0E8B41B2563B}"/>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28" name="TextBox 29">
            <a:extLst>
              <a:ext uri="{FF2B5EF4-FFF2-40B4-BE49-F238E27FC236}">
                <a16:creationId xmlns:a16="http://schemas.microsoft.com/office/drawing/2014/main" id="{299AD44B-C4A0-8D09-AB13-9E45855307C5}"/>
              </a:ext>
            </a:extLst>
          </p:cNvPr>
          <p:cNvSpPr txBox="1"/>
          <p:nvPr/>
        </p:nvSpPr>
        <p:spPr>
          <a:xfrm>
            <a:off x="5882508" y="3184253"/>
            <a:ext cx="6553200" cy="592406"/>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4AAD"/>
                </a:solidFill>
                <a:latin typeface="Poppins Bold"/>
                <a:ea typeface="Poppins Bold"/>
                <a:cs typeface="Poppins Bold"/>
                <a:sym typeface="Poppins Bold"/>
              </a:rPr>
              <a:t>Traditional Trading Methods</a:t>
            </a:r>
          </a:p>
        </p:txBody>
      </p:sp>
      <p:sp>
        <p:nvSpPr>
          <p:cNvPr id="29" name="TextBox 28">
            <a:extLst>
              <a:ext uri="{FF2B5EF4-FFF2-40B4-BE49-F238E27FC236}">
                <a16:creationId xmlns:a16="http://schemas.microsoft.com/office/drawing/2014/main" id="{B61F4C39-623E-C9C0-A262-C8AC6B9883A5}"/>
              </a:ext>
            </a:extLst>
          </p:cNvPr>
          <p:cNvSpPr txBox="1"/>
          <p:nvPr/>
        </p:nvSpPr>
        <p:spPr>
          <a:xfrm>
            <a:off x="-8763000" y="6686542"/>
            <a:ext cx="8045992" cy="830997"/>
          </a:xfrm>
          <a:prstGeom prst="rect">
            <a:avLst/>
          </a:prstGeom>
        </p:spPr>
        <p:txBody>
          <a:bodyPr wrap="square" lIns="0" tIns="0" rIns="0" bIns="0" rtlCol="0" anchor="t">
            <a:spAutoFit/>
          </a:bodyPr>
          <a:lstStyle/>
          <a:p>
            <a:pPr algn="ctr">
              <a:spcBef>
                <a:spcPct val="0"/>
              </a:spcBef>
            </a:pPr>
            <a:r>
              <a:rPr lang="en-US" sz="5400" b="1" dirty="0">
                <a:solidFill>
                  <a:srgbClr val="C00000"/>
                </a:solidFill>
                <a:latin typeface="Poppins Bold"/>
                <a:ea typeface="Poppins Bold"/>
                <a:cs typeface="Poppins Bold"/>
                <a:sym typeface="Poppins Bold"/>
              </a:rPr>
              <a:t>Struggle To Adapt</a:t>
            </a:r>
          </a:p>
        </p:txBody>
      </p:sp>
      <p:sp>
        <p:nvSpPr>
          <p:cNvPr id="30" name="TextBox 28">
            <a:extLst>
              <a:ext uri="{FF2B5EF4-FFF2-40B4-BE49-F238E27FC236}">
                <a16:creationId xmlns:a16="http://schemas.microsoft.com/office/drawing/2014/main" id="{B287641D-BADC-F7FB-E33A-84B1D08AC515}"/>
              </a:ext>
            </a:extLst>
          </p:cNvPr>
          <p:cNvSpPr txBox="1"/>
          <p:nvPr/>
        </p:nvSpPr>
        <p:spPr>
          <a:xfrm>
            <a:off x="5121004" y="6686542"/>
            <a:ext cx="8045992" cy="830997"/>
          </a:xfrm>
          <a:prstGeom prst="rect">
            <a:avLst/>
          </a:prstGeom>
        </p:spPr>
        <p:txBody>
          <a:bodyPr wrap="square" lIns="0" tIns="0" rIns="0" bIns="0" rtlCol="0" anchor="t">
            <a:spAutoFit/>
          </a:bodyPr>
          <a:lstStyle/>
          <a:p>
            <a:pPr algn="ctr">
              <a:spcBef>
                <a:spcPct val="0"/>
              </a:spcBef>
            </a:pPr>
            <a:r>
              <a:rPr lang="en-US" sz="5400" b="1" dirty="0">
                <a:solidFill>
                  <a:srgbClr val="C00000"/>
                </a:solidFill>
                <a:latin typeface="Poppins Bold"/>
                <a:ea typeface="Poppins Bold"/>
                <a:cs typeface="Poppins Bold"/>
                <a:sym typeface="Poppins Bold"/>
              </a:rPr>
              <a:t>Lack Transparency</a:t>
            </a:r>
          </a:p>
        </p:txBody>
      </p:sp>
      <p:sp>
        <p:nvSpPr>
          <p:cNvPr id="31" name="TextBox 7">
            <a:extLst>
              <a:ext uri="{FF2B5EF4-FFF2-40B4-BE49-F238E27FC236}">
                <a16:creationId xmlns:a16="http://schemas.microsoft.com/office/drawing/2014/main" id="{1EA34E2A-25E7-1C8F-A9F8-7152D672AC59}"/>
              </a:ext>
            </a:extLst>
          </p:cNvPr>
          <p:cNvSpPr txBox="1"/>
          <p:nvPr/>
        </p:nvSpPr>
        <p:spPr>
          <a:xfrm>
            <a:off x="-2133600" y="961411"/>
            <a:ext cx="14945093" cy="904094"/>
          </a:xfrm>
          <a:prstGeom prst="rect">
            <a:avLst/>
          </a:prstGeom>
        </p:spPr>
        <p:txBody>
          <a:bodyPr lIns="0" tIns="0" rIns="0" bIns="0" rtlCol="0" anchor="t">
            <a:spAutoFit/>
          </a:bodyPr>
          <a:lstStyle/>
          <a:p>
            <a:pPr algn="ctr">
              <a:lnSpc>
                <a:spcPts val="7424"/>
              </a:lnSpc>
            </a:pPr>
            <a:r>
              <a:rPr lang="en-US" sz="5400" b="1" dirty="0">
                <a:solidFill>
                  <a:srgbClr val="004AAD"/>
                </a:solidFill>
                <a:latin typeface="Roboto Bold"/>
                <a:ea typeface="Roboto Bold"/>
                <a:cs typeface="Roboto Bold"/>
                <a:sym typeface="Roboto Bold"/>
              </a:rPr>
              <a:t>Background </a:t>
            </a:r>
            <a:r>
              <a:rPr lang="en-US" sz="5400" b="1" dirty="0">
                <a:solidFill>
                  <a:schemeClr val="bg1">
                    <a:lumMod val="75000"/>
                  </a:schemeClr>
                </a:solidFill>
                <a:latin typeface="Roboto Bold"/>
                <a:ea typeface="Roboto Bold"/>
                <a:cs typeface="Roboto Bold"/>
                <a:sym typeface="Roboto Bold"/>
              </a:rPr>
              <a:t>&amp;</a:t>
            </a:r>
            <a:r>
              <a:rPr lang="en-US" sz="5400" b="1" dirty="0">
                <a:solidFill>
                  <a:srgbClr val="004AAD"/>
                </a:solidFill>
                <a:latin typeface="Roboto Bold"/>
                <a:ea typeface="Roboto Bold"/>
                <a:cs typeface="Roboto Bold"/>
                <a:sym typeface="Roboto Bold"/>
              </a:rPr>
              <a:t> </a:t>
            </a:r>
            <a:r>
              <a:rPr lang="en-US" sz="5400" b="1" dirty="0">
                <a:solidFill>
                  <a:schemeClr val="bg1">
                    <a:lumMod val="75000"/>
                  </a:schemeClr>
                </a:solidFill>
                <a:latin typeface="Roboto Bold"/>
                <a:ea typeface="Roboto Bold"/>
                <a:cs typeface="Roboto Bold"/>
                <a:sym typeface="Roboto Bold"/>
              </a:rPr>
              <a:t>Motivation</a:t>
            </a:r>
          </a:p>
        </p:txBody>
      </p:sp>
      <p:grpSp>
        <p:nvGrpSpPr>
          <p:cNvPr id="32" name="Group 4">
            <a:extLst>
              <a:ext uri="{FF2B5EF4-FFF2-40B4-BE49-F238E27FC236}">
                <a16:creationId xmlns:a16="http://schemas.microsoft.com/office/drawing/2014/main" id="{83E0C77D-4999-F9DE-8429-C26836A6B834}"/>
              </a:ext>
            </a:extLst>
          </p:cNvPr>
          <p:cNvGrpSpPr/>
          <p:nvPr/>
        </p:nvGrpSpPr>
        <p:grpSpPr>
          <a:xfrm>
            <a:off x="2335245" y="6438900"/>
            <a:ext cx="13617510" cy="55894"/>
            <a:chOff x="0" y="0"/>
            <a:chExt cx="812800" cy="571917"/>
          </a:xfrm>
        </p:grpSpPr>
        <p:sp>
          <p:nvSpPr>
            <p:cNvPr id="33" name="TextBox 6">
              <a:extLst>
                <a:ext uri="{FF2B5EF4-FFF2-40B4-BE49-F238E27FC236}">
                  <a16:creationId xmlns:a16="http://schemas.microsoft.com/office/drawing/2014/main" id="{E1DAEF9E-8D4B-A589-FBB3-636CDD0221E9}"/>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34" name="Freeform 5">
              <a:extLst>
                <a:ext uri="{FF2B5EF4-FFF2-40B4-BE49-F238E27FC236}">
                  <a16:creationId xmlns:a16="http://schemas.microsoft.com/office/drawing/2014/main" id="{21EA274D-DCF5-51E4-9D4D-B8556259A5FE}"/>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35" name="Group 4">
            <a:extLst>
              <a:ext uri="{FF2B5EF4-FFF2-40B4-BE49-F238E27FC236}">
                <a16:creationId xmlns:a16="http://schemas.microsoft.com/office/drawing/2014/main" id="{9798253A-C226-D3C0-FE1B-EB4461D9C057}"/>
              </a:ext>
            </a:extLst>
          </p:cNvPr>
          <p:cNvGrpSpPr/>
          <p:nvPr/>
        </p:nvGrpSpPr>
        <p:grpSpPr>
          <a:xfrm>
            <a:off x="2487645" y="3848100"/>
            <a:ext cx="13617510" cy="55894"/>
            <a:chOff x="0" y="0"/>
            <a:chExt cx="812800" cy="571917"/>
          </a:xfrm>
        </p:grpSpPr>
        <p:sp>
          <p:nvSpPr>
            <p:cNvPr id="36" name="TextBox 6">
              <a:extLst>
                <a:ext uri="{FF2B5EF4-FFF2-40B4-BE49-F238E27FC236}">
                  <a16:creationId xmlns:a16="http://schemas.microsoft.com/office/drawing/2014/main" id="{07AFC265-C88E-034A-13FA-3F905E2F06D6}"/>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37" name="Freeform 5">
              <a:extLst>
                <a:ext uri="{FF2B5EF4-FFF2-40B4-BE49-F238E27FC236}">
                  <a16:creationId xmlns:a16="http://schemas.microsoft.com/office/drawing/2014/main" id="{83D419C0-8B1A-FE09-232F-697CFC232FA3}"/>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spTree>
    <p:extLst>
      <p:ext uri="{BB962C8B-B14F-4D97-AF65-F5344CB8AC3E}">
        <p14:creationId xmlns:p14="http://schemas.microsoft.com/office/powerpoint/2010/main" val="10152978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8B8F1-A65D-0F56-2D78-F4CA8B2D5DA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723550E-9FC8-3302-EB4C-B491D26D195E}"/>
              </a:ext>
            </a:extLst>
          </p:cNvPr>
          <p:cNvSpPr>
            <a:spLocks noGrp="1" noRot="1" noMove="1" noResize="1" noEditPoints="1" noAdjustHandles="1" noChangeArrowheads="1" noChangeShapeType="1"/>
          </p:cNvSpPr>
          <p:nvPr/>
        </p:nvSpPr>
        <p:spPr>
          <a:xfrm>
            <a:off x="0" y="0"/>
            <a:ext cx="18288000" cy="1062990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grpSp>
        <p:nvGrpSpPr>
          <p:cNvPr id="27" name="组合 26">
            <a:extLst>
              <a:ext uri="{FF2B5EF4-FFF2-40B4-BE49-F238E27FC236}">
                <a16:creationId xmlns:a16="http://schemas.microsoft.com/office/drawing/2014/main" id="{30AB6726-4D9F-B790-3D00-2D269403541F}"/>
              </a:ext>
            </a:extLst>
          </p:cNvPr>
          <p:cNvGrpSpPr/>
          <p:nvPr/>
        </p:nvGrpSpPr>
        <p:grpSpPr>
          <a:xfrm>
            <a:off x="-12616967" y="3952870"/>
            <a:ext cx="37381967" cy="2381255"/>
            <a:chOff x="-2788574" y="7905745"/>
            <a:chExt cx="37381967" cy="2381255"/>
          </a:xfrm>
        </p:grpSpPr>
        <p:pic>
          <p:nvPicPr>
            <p:cNvPr id="12290" name="Picture 2" descr="How LSTM Networks are Revolutionizing Time Series Forecasting">
              <a:extLst>
                <a:ext uri="{FF2B5EF4-FFF2-40B4-BE49-F238E27FC236}">
                  <a16:creationId xmlns:a16="http://schemas.microsoft.com/office/drawing/2014/main" id="{6A9B152E-B994-6613-8A05-32E2F7338C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272" b="17662"/>
            <a:stretch>
              <a:fillRect/>
            </a:stretch>
          </p:blipFill>
          <p:spPr bwMode="auto">
            <a:xfrm>
              <a:off x="9732288" y="7905746"/>
              <a:ext cx="611348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Deep Learning's Long Development Continues | Bench Talk">
              <a:extLst>
                <a:ext uri="{FF2B5EF4-FFF2-40B4-BE49-F238E27FC236}">
                  <a16:creationId xmlns:a16="http://schemas.microsoft.com/office/drawing/2014/main" id="{8988AC9A-F246-255A-A29B-010EA32A057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2" t="28908" r="-566" b="15991"/>
            <a:stretch>
              <a:fillRect/>
            </a:stretch>
          </p:blipFill>
          <p:spPr bwMode="auto">
            <a:xfrm>
              <a:off x="-2788574" y="7905745"/>
              <a:ext cx="6147152" cy="2381250"/>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6 Bollinger Bands® Trading Strategies + Video | TradingSim">
              <a:extLst>
                <a:ext uri="{FF2B5EF4-FFF2-40B4-BE49-F238E27FC236}">
                  <a16:creationId xmlns:a16="http://schemas.microsoft.com/office/drawing/2014/main" id="{4C28A63C-F290-1387-0C07-A29F7BA1A54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3950"/>
            <a:stretch>
              <a:fillRect/>
            </a:stretch>
          </p:blipFill>
          <p:spPr bwMode="auto">
            <a:xfrm>
              <a:off x="3471857" y="7905747"/>
              <a:ext cx="614715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How LSTM Networks are Revolutionizing Time Series Forecasting">
              <a:extLst>
                <a:ext uri="{FF2B5EF4-FFF2-40B4-BE49-F238E27FC236}">
                  <a16:creationId xmlns:a16="http://schemas.microsoft.com/office/drawing/2014/main" id="{ABFF27F3-E31A-A91A-AEB3-5A9561BDA5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272" b="17662"/>
            <a:stretch>
              <a:fillRect/>
            </a:stretch>
          </p:blipFill>
          <p:spPr bwMode="auto">
            <a:xfrm>
              <a:off x="28479911" y="7905751"/>
              <a:ext cx="611348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Deep Learning's Long Development Continues | Bench Talk">
              <a:extLst>
                <a:ext uri="{FF2B5EF4-FFF2-40B4-BE49-F238E27FC236}">
                  <a16:creationId xmlns:a16="http://schemas.microsoft.com/office/drawing/2014/main" id="{82165A32-2DB0-FED6-5234-8E58F0EFA3D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2" t="28908" r="-566" b="15991"/>
            <a:stretch>
              <a:fillRect/>
            </a:stretch>
          </p:blipFill>
          <p:spPr bwMode="auto">
            <a:xfrm>
              <a:off x="15959049" y="7905750"/>
              <a:ext cx="6147152" cy="238125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descr="6 Bollinger Bands® Trading Strategies + Video | TradingSim">
              <a:extLst>
                <a:ext uri="{FF2B5EF4-FFF2-40B4-BE49-F238E27FC236}">
                  <a16:creationId xmlns:a16="http://schemas.microsoft.com/office/drawing/2014/main" id="{C7239C8C-AF19-7CA3-9870-C38A078A6F2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3950"/>
            <a:stretch>
              <a:fillRect/>
            </a:stretch>
          </p:blipFill>
          <p:spPr bwMode="auto">
            <a:xfrm>
              <a:off x="22219480" y="7905751"/>
              <a:ext cx="6147152" cy="238124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4">
            <a:extLst>
              <a:ext uri="{FF2B5EF4-FFF2-40B4-BE49-F238E27FC236}">
                <a16:creationId xmlns:a16="http://schemas.microsoft.com/office/drawing/2014/main" id="{3323AC69-EC08-1D7F-1F52-15FBABC47321}"/>
              </a:ext>
            </a:extLst>
          </p:cNvPr>
          <p:cNvGrpSpPr/>
          <p:nvPr/>
        </p:nvGrpSpPr>
        <p:grpSpPr>
          <a:xfrm rot="5400000">
            <a:off x="-1543050" y="4057749"/>
            <a:ext cx="3086100" cy="2171499"/>
            <a:chOff x="0" y="0"/>
            <a:chExt cx="812800" cy="571917"/>
          </a:xfrm>
        </p:grpSpPr>
        <p:sp>
          <p:nvSpPr>
            <p:cNvPr id="5" name="Freeform 5">
              <a:extLst>
                <a:ext uri="{FF2B5EF4-FFF2-40B4-BE49-F238E27FC236}">
                  <a16:creationId xmlns:a16="http://schemas.microsoft.com/office/drawing/2014/main" id="{1F9F3AD5-D7AD-A392-95CF-CCCFE7A544E9}"/>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6" name="TextBox 6">
              <a:extLst>
                <a:ext uri="{FF2B5EF4-FFF2-40B4-BE49-F238E27FC236}">
                  <a16:creationId xmlns:a16="http://schemas.microsoft.com/office/drawing/2014/main" id="{BA066A7F-AE7E-CC06-D9FF-C03B26D16F80}"/>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EF475C06-1E0E-BED6-F7FB-9432FC18BA44}"/>
              </a:ext>
            </a:extLst>
          </p:cNvPr>
          <p:cNvGrpSpPr/>
          <p:nvPr/>
        </p:nvGrpSpPr>
        <p:grpSpPr>
          <a:xfrm rot="16200000">
            <a:off x="16699267" y="4057749"/>
            <a:ext cx="3086100" cy="2171499"/>
            <a:chOff x="0" y="0"/>
            <a:chExt cx="812800" cy="571917"/>
          </a:xfrm>
        </p:grpSpPr>
        <p:sp>
          <p:nvSpPr>
            <p:cNvPr id="10" name="Freeform 10">
              <a:extLst>
                <a:ext uri="{FF2B5EF4-FFF2-40B4-BE49-F238E27FC236}">
                  <a16:creationId xmlns:a16="http://schemas.microsoft.com/office/drawing/2014/main" id="{EF081065-1D88-DFF1-1417-7B2AC0F833FA}"/>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11" name="TextBox 11">
              <a:extLst>
                <a:ext uri="{FF2B5EF4-FFF2-40B4-BE49-F238E27FC236}">
                  <a16:creationId xmlns:a16="http://schemas.microsoft.com/office/drawing/2014/main" id="{862FAD4B-8D66-B2E9-0EBB-5071138F86B6}"/>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28" name="TextBox 29">
            <a:extLst>
              <a:ext uri="{FF2B5EF4-FFF2-40B4-BE49-F238E27FC236}">
                <a16:creationId xmlns:a16="http://schemas.microsoft.com/office/drawing/2014/main" id="{583A2DF5-4BBE-B61C-9369-F4CD81E8A51B}"/>
              </a:ext>
            </a:extLst>
          </p:cNvPr>
          <p:cNvSpPr txBox="1"/>
          <p:nvPr/>
        </p:nvSpPr>
        <p:spPr>
          <a:xfrm>
            <a:off x="5882508" y="3184253"/>
            <a:ext cx="6553200" cy="592406"/>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4AAD"/>
                </a:solidFill>
                <a:latin typeface="Poppins Bold"/>
                <a:ea typeface="Poppins Bold"/>
                <a:cs typeface="Poppins Bold"/>
                <a:sym typeface="Poppins Bold"/>
              </a:rPr>
              <a:t>Traditional Trading Methods</a:t>
            </a:r>
          </a:p>
        </p:txBody>
      </p:sp>
      <p:sp>
        <p:nvSpPr>
          <p:cNvPr id="3" name="TextBox 28">
            <a:extLst>
              <a:ext uri="{FF2B5EF4-FFF2-40B4-BE49-F238E27FC236}">
                <a16:creationId xmlns:a16="http://schemas.microsoft.com/office/drawing/2014/main" id="{EC084E9A-BA23-66C6-EF35-1B251F95EB9A}"/>
              </a:ext>
            </a:extLst>
          </p:cNvPr>
          <p:cNvSpPr txBox="1"/>
          <p:nvPr/>
        </p:nvSpPr>
        <p:spPr>
          <a:xfrm>
            <a:off x="-22479000" y="6686542"/>
            <a:ext cx="8045992" cy="830997"/>
          </a:xfrm>
          <a:prstGeom prst="rect">
            <a:avLst/>
          </a:prstGeom>
        </p:spPr>
        <p:txBody>
          <a:bodyPr wrap="square" lIns="0" tIns="0" rIns="0" bIns="0" rtlCol="0" anchor="t">
            <a:spAutoFit/>
          </a:bodyPr>
          <a:lstStyle/>
          <a:p>
            <a:pPr algn="ctr">
              <a:spcBef>
                <a:spcPct val="0"/>
              </a:spcBef>
            </a:pPr>
            <a:r>
              <a:rPr lang="en-US" sz="5400" b="1" dirty="0">
                <a:solidFill>
                  <a:srgbClr val="C00000"/>
                </a:solidFill>
                <a:latin typeface="Poppins Bold"/>
                <a:ea typeface="Poppins Bold"/>
                <a:cs typeface="Poppins Bold"/>
                <a:sym typeface="Poppins Bold"/>
              </a:rPr>
              <a:t>Struggle To Adapt</a:t>
            </a:r>
          </a:p>
        </p:txBody>
      </p:sp>
      <p:sp>
        <p:nvSpPr>
          <p:cNvPr id="8" name="TextBox 28">
            <a:extLst>
              <a:ext uri="{FF2B5EF4-FFF2-40B4-BE49-F238E27FC236}">
                <a16:creationId xmlns:a16="http://schemas.microsoft.com/office/drawing/2014/main" id="{0B4978F2-58DC-BD9E-82FE-CD26ED847336}"/>
              </a:ext>
            </a:extLst>
          </p:cNvPr>
          <p:cNvSpPr txBox="1"/>
          <p:nvPr/>
        </p:nvSpPr>
        <p:spPr>
          <a:xfrm>
            <a:off x="-8594996" y="6686542"/>
            <a:ext cx="8045992" cy="830997"/>
          </a:xfrm>
          <a:prstGeom prst="rect">
            <a:avLst/>
          </a:prstGeom>
        </p:spPr>
        <p:txBody>
          <a:bodyPr wrap="square" lIns="0" tIns="0" rIns="0" bIns="0" rtlCol="0" anchor="t">
            <a:spAutoFit/>
          </a:bodyPr>
          <a:lstStyle/>
          <a:p>
            <a:pPr algn="ctr">
              <a:spcBef>
                <a:spcPct val="0"/>
              </a:spcBef>
            </a:pPr>
            <a:r>
              <a:rPr lang="en-US" sz="5400" b="1" dirty="0">
                <a:solidFill>
                  <a:srgbClr val="C00000"/>
                </a:solidFill>
                <a:latin typeface="Poppins Bold"/>
                <a:ea typeface="Poppins Bold"/>
                <a:cs typeface="Poppins Bold"/>
                <a:sym typeface="Poppins Bold"/>
              </a:rPr>
              <a:t>Lack Transparency</a:t>
            </a:r>
          </a:p>
        </p:txBody>
      </p:sp>
      <p:sp>
        <p:nvSpPr>
          <p:cNvPr id="12" name="TextBox 28">
            <a:extLst>
              <a:ext uri="{FF2B5EF4-FFF2-40B4-BE49-F238E27FC236}">
                <a16:creationId xmlns:a16="http://schemas.microsoft.com/office/drawing/2014/main" id="{9FA9447C-D679-FE26-D7AA-409C0542D425}"/>
              </a:ext>
            </a:extLst>
          </p:cNvPr>
          <p:cNvSpPr txBox="1"/>
          <p:nvPr/>
        </p:nvSpPr>
        <p:spPr>
          <a:xfrm>
            <a:off x="5121004" y="6686542"/>
            <a:ext cx="8045992" cy="830997"/>
          </a:xfrm>
          <a:prstGeom prst="rect">
            <a:avLst/>
          </a:prstGeom>
        </p:spPr>
        <p:txBody>
          <a:bodyPr wrap="square" lIns="0" tIns="0" rIns="0" bIns="0" rtlCol="0" anchor="t">
            <a:spAutoFit/>
          </a:bodyPr>
          <a:lstStyle/>
          <a:p>
            <a:pPr algn="ctr">
              <a:spcBef>
                <a:spcPct val="0"/>
              </a:spcBef>
            </a:pPr>
            <a:r>
              <a:rPr lang="en-US" sz="5400" b="1" dirty="0">
                <a:solidFill>
                  <a:srgbClr val="C00000"/>
                </a:solidFill>
                <a:latin typeface="Poppins Bold"/>
                <a:ea typeface="Poppins Bold"/>
                <a:cs typeface="Poppins Bold"/>
                <a:sym typeface="Poppins Bold"/>
              </a:rPr>
              <a:t>Cannot Explain</a:t>
            </a:r>
          </a:p>
        </p:txBody>
      </p:sp>
      <p:sp>
        <p:nvSpPr>
          <p:cNvPr id="13" name="TextBox 7">
            <a:extLst>
              <a:ext uri="{FF2B5EF4-FFF2-40B4-BE49-F238E27FC236}">
                <a16:creationId xmlns:a16="http://schemas.microsoft.com/office/drawing/2014/main" id="{3DED5183-EA49-C8E6-2880-3311F7401064}"/>
              </a:ext>
            </a:extLst>
          </p:cNvPr>
          <p:cNvSpPr txBox="1"/>
          <p:nvPr/>
        </p:nvSpPr>
        <p:spPr>
          <a:xfrm>
            <a:off x="-2133600" y="961411"/>
            <a:ext cx="14945093" cy="904094"/>
          </a:xfrm>
          <a:prstGeom prst="rect">
            <a:avLst/>
          </a:prstGeom>
        </p:spPr>
        <p:txBody>
          <a:bodyPr lIns="0" tIns="0" rIns="0" bIns="0" rtlCol="0" anchor="t">
            <a:spAutoFit/>
          </a:bodyPr>
          <a:lstStyle/>
          <a:p>
            <a:pPr algn="ctr">
              <a:lnSpc>
                <a:spcPts val="7424"/>
              </a:lnSpc>
            </a:pPr>
            <a:r>
              <a:rPr lang="en-US" sz="5400" b="1" dirty="0">
                <a:solidFill>
                  <a:srgbClr val="004AAD"/>
                </a:solidFill>
                <a:latin typeface="Roboto Bold"/>
                <a:ea typeface="Roboto Bold"/>
                <a:cs typeface="Roboto Bold"/>
                <a:sym typeface="Roboto Bold"/>
              </a:rPr>
              <a:t>Background </a:t>
            </a:r>
            <a:r>
              <a:rPr lang="en-US" sz="5400" b="1" dirty="0">
                <a:solidFill>
                  <a:schemeClr val="bg1">
                    <a:lumMod val="75000"/>
                  </a:schemeClr>
                </a:solidFill>
                <a:latin typeface="Roboto Bold"/>
                <a:ea typeface="Roboto Bold"/>
                <a:cs typeface="Roboto Bold"/>
                <a:sym typeface="Roboto Bold"/>
              </a:rPr>
              <a:t>&amp;</a:t>
            </a:r>
            <a:r>
              <a:rPr lang="en-US" sz="5400" b="1" dirty="0">
                <a:solidFill>
                  <a:srgbClr val="004AAD"/>
                </a:solidFill>
                <a:latin typeface="Roboto Bold"/>
                <a:ea typeface="Roboto Bold"/>
                <a:cs typeface="Roboto Bold"/>
                <a:sym typeface="Roboto Bold"/>
              </a:rPr>
              <a:t> </a:t>
            </a:r>
            <a:r>
              <a:rPr lang="en-US" sz="5400" b="1" dirty="0">
                <a:solidFill>
                  <a:schemeClr val="bg1">
                    <a:lumMod val="75000"/>
                  </a:schemeClr>
                </a:solidFill>
                <a:latin typeface="Roboto Bold"/>
                <a:ea typeface="Roboto Bold"/>
                <a:cs typeface="Roboto Bold"/>
                <a:sym typeface="Roboto Bold"/>
              </a:rPr>
              <a:t>Motivation</a:t>
            </a:r>
          </a:p>
        </p:txBody>
      </p:sp>
      <p:grpSp>
        <p:nvGrpSpPr>
          <p:cNvPr id="14" name="Group 4">
            <a:extLst>
              <a:ext uri="{FF2B5EF4-FFF2-40B4-BE49-F238E27FC236}">
                <a16:creationId xmlns:a16="http://schemas.microsoft.com/office/drawing/2014/main" id="{B1073366-11A0-594E-253F-529A2AB38033}"/>
              </a:ext>
            </a:extLst>
          </p:cNvPr>
          <p:cNvGrpSpPr/>
          <p:nvPr/>
        </p:nvGrpSpPr>
        <p:grpSpPr>
          <a:xfrm>
            <a:off x="2335245" y="6438900"/>
            <a:ext cx="13617510" cy="55894"/>
            <a:chOff x="0" y="0"/>
            <a:chExt cx="812800" cy="571917"/>
          </a:xfrm>
        </p:grpSpPr>
        <p:sp>
          <p:nvSpPr>
            <p:cNvPr id="15" name="TextBox 6">
              <a:extLst>
                <a:ext uri="{FF2B5EF4-FFF2-40B4-BE49-F238E27FC236}">
                  <a16:creationId xmlns:a16="http://schemas.microsoft.com/office/drawing/2014/main" id="{6B8AFE30-7FD4-B785-4BF4-B709B7822303}"/>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6" name="Freeform 5">
              <a:extLst>
                <a:ext uri="{FF2B5EF4-FFF2-40B4-BE49-F238E27FC236}">
                  <a16:creationId xmlns:a16="http://schemas.microsoft.com/office/drawing/2014/main" id="{8F197085-F83C-C322-9259-8E5E609B691A}"/>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17" name="Group 4">
            <a:extLst>
              <a:ext uri="{FF2B5EF4-FFF2-40B4-BE49-F238E27FC236}">
                <a16:creationId xmlns:a16="http://schemas.microsoft.com/office/drawing/2014/main" id="{16B11D8C-907E-6864-630B-F45EA57796C7}"/>
              </a:ext>
            </a:extLst>
          </p:cNvPr>
          <p:cNvGrpSpPr/>
          <p:nvPr/>
        </p:nvGrpSpPr>
        <p:grpSpPr>
          <a:xfrm>
            <a:off x="2487645" y="3848100"/>
            <a:ext cx="13617510" cy="55894"/>
            <a:chOff x="0" y="0"/>
            <a:chExt cx="812800" cy="571917"/>
          </a:xfrm>
        </p:grpSpPr>
        <p:sp>
          <p:nvSpPr>
            <p:cNvPr id="18" name="TextBox 6">
              <a:extLst>
                <a:ext uri="{FF2B5EF4-FFF2-40B4-BE49-F238E27FC236}">
                  <a16:creationId xmlns:a16="http://schemas.microsoft.com/office/drawing/2014/main" id="{6F4832C2-83EE-70A3-AD3D-30A30CDF540F}"/>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9" name="Freeform 5">
              <a:extLst>
                <a:ext uri="{FF2B5EF4-FFF2-40B4-BE49-F238E27FC236}">
                  <a16:creationId xmlns:a16="http://schemas.microsoft.com/office/drawing/2014/main" id="{85C2B938-BDBF-77D2-0CE7-A517452246B6}"/>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sp>
        <p:nvSpPr>
          <p:cNvPr id="25" name="Freeform 12">
            <a:extLst>
              <a:ext uri="{FF2B5EF4-FFF2-40B4-BE49-F238E27FC236}">
                <a16:creationId xmlns:a16="http://schemas.microsoft.com/office/drawing/2014/main" id="{2AD60111-AB02-5409-953F-21F735E91A4D}"/>
              </a:ext>
            </a:extLst>
          </p:cNvPr>
          <p:cNvSpPr/>
          <p:nvPr/>
        </p:nvSpPr>
        <p:spPr>
          <a:xfrm>
            <a:off x="1465682" y="11461074"/>
            <a:ext cx="5011207" cy="3055026"/>
          </a:xfrm>
          <a:custGeom>
            <a:avLst/>
            <a:gdLst/>
            <a:ahLst/>
            <a:cxnLst/>
            <a:rect l="l" t="t" r="r" b="b"/>
            <a:pathLst>
              <a:path w="5011207" h="3055026">
                <a:moveTo>
                  <a:pt x="0" y="0"/>
                </a:moveTo>
                <a:lnTo>
                  <a:pt x="5011206" y="0"/>
                </a:lnTo>
                <a:lnTo>
                  <a:pt x="5011206" y="3055025"/>
                </a:lnTo>
                <a:lnTo>
                  <a:pt x="0" y="3055025"/>
                </a:lnTo>
                <a:lnTo>
                  <a:pt x="0" y="0"/>
                </a:lnTo>
                <a:close/>
              </a:path>
            </a:pathLst>
          </a:custGeom>
          <a:blipFill>
            <a:blip/>
            <a:stretch>
              <a:fillRect r="-8380"/>
            </a:stretch>
          </a:blipFill>
        </p:spPr>
        <p:txBody>
          <a:bodyPr/>
          <a:lstStyle/>
          <a:p>
            <a:endParaRPr lang="zh-CN" altLang="en-US"/>
          </a:p>
        </p:txBody>
      </p:sp>
      <p:pic>
        <p:nvPicPr>
          <p:cNvPr id="26" name="Picture 2" descr="經濟不停學》一隻股份抵唔抵？唔係齋睇市盈率！ | 經濟不停學- 財富管理- 生活| etnet 經濟通|香港新聞財經資訊和生活平台">
            <a:extLst>
              <a:ext uri="{FF2B5EF4-FFF2-40B4-BE49-F238E27FC236}">
                <a16:creationId xmlns:a16="http://schemas.microsoft.com/office/drawing/2014/main" id="{18A97381-034C-B931-E0B0-83DACCE7CA6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666" b="4138"/>
          <a:stretch>
            <a:fillRect/>
          </a:stretch>
        </p:blipFill>
        <p:spPr bwMode="auto">
          <a:xfrm>
            <a:off x="11849748" y="11476612"/>
            <a:ext cx="4945167" cy="3039488"/>
          </a:xfrm>
          <a:prstGeom prst="rect">
            <a:avLst/>
          </a:prstGeom>
          <a:noFill/>
          <a:extLst>
            <a:ext uri="{909E8E84-426E-40DD-AFC4-6F175D3DCCD1}">
              <a14:hiddenFill xmlns:a14="http://schemas.microsoft.com/office/drawing/2010/main">
                <a:solidFill>
                  <a:srgbClr val="FFFFFF"/>
                </a:solidFill>
              </a14:hiddenFill>
            </a:ext>
          </a:extLst>
        </p:spPr>
      </p:pic>
      <p:sp>
        <p:nvSpPr>
          <p:cNvPr id="29" name="Freeform 16">
            <a:extLst>
              <a:ext uri="{FF2B5EF4-FFF2-40B4-BE49-F238E27FC236}">
                <a16:creationId xmlns:a16="http://schemas.microsoft.com/office/drawing/2014/main" id="{D0D771EB-3C83-1455-744D-AAEF12C5BE34}"/>
              </a:ext>
            </a:extLst>
          </p:cNvPr>
          <p:cNvSpPr/>
          <p:nvPr/>
        </p:nvSpPr>
        <p:spPr>
          <a:xfrm>
            <a:off x="6657715" y="-4000500"/>
            <a:ext cx="5011207" cy="3055026"/>
          </a:xfrm>
          <a:custGeom>
            <a:avLst/>
            <a:gdLst/>
            <a:ahLst/>
            <a:cxnLst/>
            <a:rect l="l" t="t" r="r" b="b"/>
            <a:pathLst>
              <a:path w="5011207" h="3055026">
                <a:moveTo>
                  <a:pt x="0" y="0"/>
                </a:moveTo>
                <a:lnTo>
                  <a:pt x="5011206" y="0"/>
                </a:lnTo>
                <a:lnTo>
                  <a:pt x="5011206" y="3055025"/>
                </a:lnTo>
                <a:lnTo>
                  <a:pt x="0" y="3055025"/>
                </a:lnTo>
                <a:lnTo>
                  <a:pt x="0" y="0"/>
                </a:lnTo>
                <a:close/>
              </a:path>
            </a:pathLst>
          </a:custGeom>
          <a:blipFill>
            <a:blip/>
            <a:stretch>
              <a:fillRect l="-2329" r="-2329"/>
            </a:stretch>
          </a:blipFill>
        </p:spPr>
        <p:txBody>
          <a:bodyPr/>
          <a:lstStyle/>
          <a:p>
            <a:endParaRPr lang="zh-CN" altLang="en-US"/>
          </a:p>
        </p:txBody>
      </p:sp>
    </p:spTree>
    <p:extLst>
      <p:ext uri="{BB962C8B-B14F-4D97-AF65-F5344CB8AC3E}">
        <p14:creationId xmlns:p14="http://schemas.microsoft.com/office/powerpoint/2010/main" val="27545723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BAB18-C82D-F029-C1AC-D8C4F4AC4D9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E2DB28A-3F31-CE79-3322-3EF42E6C78FB}"/>
              </a:ext>
            </a:extLst>
          </p:cNvPr>
          <p:cNvSpPr>
            <a:spLocks noGrp="1" noRot="1" noMove="1" noResize="1" noEditPoints="1" noAdjustHandles="1" noChangeArrowheads="1" noChangeShapeType="1"/>
          </p:cNvSpPr>
          <p:nvPr/>
        </p:nvSpPr>
        <p:spPr>
          <a:xfrm>
            <a:off x="0" y="0"/>
            <a:ext cx="18288000" cy="1062990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grpSp>
        <p:nvGrpSpPr>
          <p:cNvPr id="27" name="组合 26">
            <a:extLst>
              <a:ext uri="{FF2B5EF4-FFF2-40B4-BE49-F238E27FC236}">
                <a16:creationId xmlns:a16="http://schemas.microsoft.com/office/drawing/2014/main" id="{184DE1CC-CF09-A3EA-75A9-4668565FEAA4}"/>
              </a:ext>
            </a:extLst>
          </p:cNvPr>
          <p:cNvGrpSpPr/>
          <p:nvPr/>
        </p:nvGrpSpPr>
        <p:grpSpPr>
          <a:xfrm>
            <a:off x="-12616967" y="-4603483"/>
            <a:ext cx="37381967" cy="2381255"/>
            <a:chOff x="-2788574" y="7905745"/>
            <a:chExt cx="37381967" cy="2381255"/>
          </a:xfrm>
        </p:grpSpPr>
        <p:pic>
          <p:nvPicPr>
            <p:cNvPr id="12290" name="Picture 2" descr="How LSTM Networks are Revolutionizing Time Series Forecasting">
              <a:extLst>
                <a:ext uri="{FF2B5EF4-FFF2-40B4-BE49-F238E27FC236}">
                  <a16:creationId xmlns:a16="http://schemas.microsoft.com/office/drawing/2014/main" id="{18B1B11B-1987-CD38-FACB-417474CA7F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272" b="17662"/>
            <a:stretch>
              <a:fillRect/>
            </a:stretch>
          </p:blipFill>
          <p:spPr bwMode="auto">
            <a:xfrm>
              <a:off x="9732288" y="7905746"/>
              <a:ext cx="611348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Deep Learning's Long Development Continues | Bench Talk">
              <a:extLst>
                <a:ext uri="{FF2B5EF4-FFF2-40B4-BE49-F238E27FC236}">
                  <a16:creationId xmlns:a16="http://schemas.microsoft.com/office/drawing/2014/main" id="{22382A48-0242-B7E1-164E-1A0C0EEFFF0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2" t="28908" r="-566" b="15991"/>
            <a:stretch>
              <a:fillRect/>
            </a:stretch>
          </p:blipFill>
          <p:spPr bwMode="auto">
            <a:xfrm>
              <a:off x="-2788574" y="7905745"/>
              <a:ext cx="6147152" cy="2381250"/>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6 Bollinger Bands® Trading Strategies + Video | TradingSim">
              <a:extLst>
                <a:ext uri="{FF2B5EF4-FFF2-40B4-BE49-F238E27FC236}">
                  <a16:creationId xmlns:a16="http://schemas.microsoft.com/office/drawing/2014/main" id="{71854D57-A341-7338-FF52-520476EE6CB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3950"/>
            <a:stretch>
              <a:fillRect/>
            </a:stretch>
          </p:blipFill>
          <p:spPr bwMode="auto">
            <a:xfrm>
              <a:off x="3471857" y="7905747"/>
              <a:ext cx="614715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How LSTM Networks are Revolutionizing Time Series Forecasting">
              <a:extLst>
                <a:ext uri="{FF2B5EF4-FFF2-40B4-BE49-F238E27FC236}">
                  <a16:creationId xmlns:a16="http://schemas.microsoft.com/office/drawing/2014/main" id="{4E73C668-C988-8D36-17D5-469245C81EC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272" b="17662"/>
            <a:stretch>
              <a:fillRect/>
            </a:stretch>
          </p:blipFill>
          <p:spPr bwMode="auto">
            <a:xfrm>
              <a:off x="28479911" y="7905751"/>
              <a:ext cx="6113482" cy="238124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Deep Learning's Long Development Continues | Bench Talk">
              <a:extLst>
                <a:ext uri="{FF2B5EF4-FFF2-40B4-BE49-F238E27FC236}">
                  <a16:creationId xmlns:a16="http://schemas.microsoft.com/office/drawing/2014/main" id="{541341F5-AD71-2E05-19E6-512AC8499BA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2" t="28908" r="-566" b="15991"/>
            <a:stretch>
              <a:fillRect/>
            </a:stretch>
          </p:blipFill>
          <p:spPr bwMode="auto">
            <a:xfrm>
              <a:off x="15959049" y="7905750"/>
              <a:ext cx="6147152" cy="238125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descr="6 Bollinger Bands® Trading Strategies + Video | TradingSim">
              <a:extLst>
                <a:ext uri="{FF2B5EF4-FFF2-40B4-BE49-F238E27FC236}">
                  <a16:creationId xmlns:a16="http://schemas.microsoft.com/office/drawing/2014/main" id="{7F9803B5-94A3-D7FF-E02D-3EFBB90C06E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3950"/>
            <a:stretch>
              <a:fillRect/>
            </a:stretch>
          </p:blipFill>
          <p:spPr bwMode="auto">
            <a:xfrm>
              <a:off x="22219480" y="7905751"/>
              <a:ext cx="6147152" cy="238124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4">
            <a:extLst>
              <a:ext uri="{FF2B5EF4-FFF2-40B4-BE49-F238E27FC236}">
                <a16:creationId xmlns:a16="http://schemas.microsoft.com/office/drawing/2014/main" id="{F617C751-608D-00DA-EA03-012E062BC464}"/>
              </a:ext>
            </a:extLst>
          </p:cNvPr>
          <p:cNvGrpSpPr/>
          <p:nvPr/>
        </p:nvGrpSpPr>
        <p:grpSpPr>
          <a:xfrm rot="5400000">
            <a:off x="-1543050" y="4057749"/>
            <a:ext cx="3086100" cy="2171499"/>
            <a:chOff x="0" y="0"/>
            <a:chExt cx="812800" cy="571917"/>
          </a:xfrm>
        </p:grpSpPr>
        <p:sp>
          <p:nvSpPr>
            <p:cNvPr id="5" name="Freeform 5">
              <a:extLst>
                <a:ext uri="{FF2B5EF4-FFF2-40B4-BE49-F238E27FC236}">
                  <a16:creationId xmlns:a16="http://schemas.microsoft.com/office/drawing/2014/main" id="{675CBA03-5E52-060E-CEB8-9B973402EC3E}"/>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6" name="TextBox 6">
              <a:extLst>
                <a:ext uri="{FF2B5EF4-FFF2-40B4-BE49-F238E27FC236}">
                  <a16:creationId xmlns:a16="http://schemas.microsoft.com/office/drawing/2014/main" id="{CD64C853-D15A-BD36-C62A-C1CA6E253363}"/>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18959CF2-0157-05A0-00A1-E2C5BA1EBB07}"/>
              </a:ext>
            </a:extLst>
          </p:cNvPr>
          <p:cNvGrpSpPr/>
          <p:nvPr/>
        </p:nvGrpSpPr>
        <p:grpSpPr>
          <a:xfrm rot="16200000">
            <a:off x="16699267" y="4057749"/>
            <a:ext cx="3086100" cy="2171499"/>
            <a:chOff x="0" y="0"/>
            <a:chExt cx="812800" cy="571917"/>
          </a:xfrm>
        </p:grpSpPr>
        <p:sp>
          <p:nvSpPr>
            <p:cNvPr id="10" name="Freeform 10">
              <a:extLst>
                <a:ext uri="{FF2B5EF4-FFF2-40B4-BE49-F238E27FC236}">
                  <a16:creationId xmlns:a16="http://schemas.microsoft.com/office/drawing/2014/main" id="{E996EB65-65B5-E60D-0D09-A519451E24E1}"/>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11" name="TextBox 11">
              <a:extLst>
                <a:ext uri="{FF2B5EF4-FFF2-40B4-BE49-F238E27FC236}">
                  <a16:creationId xmlns:a16="http://schemas.microsoft.com/office/drawing/2014/main" id="{1AD701D6-973C-77BF-1712-FED379063A20}"/>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28" name="TextBox 29">
            <a:extLst>
              <a:ext uri="{FF2B5EF4-FFF2-40B4-BE49-F238E27FC236}">
                <a16:creationId xmlns:a16="http://schemas.microsoft.com/office/drawing/2014/main" id="{7D232B73-98CF-2FAA-AAAA-0D41E1070A14}"/>
              </a:ext>
            </a:extLst>
          </p:cNvPr>
          <p:cNvSpPr txBox="1"/>
          <p:nvPr/>
        </p:nvSpPr>
        <p:spPr>
          <a:xfrm>
            <a:off x="5882508" y="-5372100"/>
            <a:ext cx="6553200" cy="592406"/>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4AAD"/>
                </a:solidFill>
                <a:latin typeface="Poppins Bold"/>
                <a:ea typeface="Poppins Bold"/>
                <a:cs typeface="Poppins Bold"/>
                <a:sym typeface="Poppins Bold"/>
              </a:rPr>
              <a:t>Traditional Trading Methods</a:t>
            </a:r>
          </a:p>
        </p:txBody>
      </p:sp>
      <p:sp>
        <p:nvSpPr>
          <p:cNvPr id="3" name="TextBox 28">
            <a:extLst>
              <a:ext uri="{FF2B5EF4-FFF2-40B4-BE49-F238E27FC236}">
                <a16:creationId xmlns:a16="http://schemas.microsoft.com/office/drawing/2014/main" id="{10B6DA97-F297-22D7-F380-28F8E830E712}"/>
              </a:ext>
            </a:extLst>
          </p:cNvPr>
          <p:cNvSpPr txBox="1"/>
          <p:nvPr/>
        </p:nvSpPr>
        <p:spPr>
          <a:xfrm>
            <a:off x="-22479000" y="-1869811"/>
            <a:ext cx="8045992" cy="830997"/>
          </a:xfrm>
          <a:prstGeom prst="rect">
            <a:avLst/>
          </a:prstGeom>
        </p:spPr>
        <p:txBody>
          <a:bodyPr wrap="square" lIns="0" tIns="0" rIns="0" bIns="0" rtlCol="0" anchor="t">
            <a:spAutoFit/>
          </a:bodyPr>
          <a:lstStyle/>
          <a:p>
            <a:pPr algn="ctr">
              <a:spcBef>
                <a:spcPct val="0"/>
              </a:spcBef>
            </a:pPr>
            <a:r>
              <a:rPr lang="en-US" sz="5400" b="1" dirty="0">
                <a:solidFill>
                  <a:srgbClr val="C00000"/>
                </a:solidFill>
                <a:latin typeface="Poppins Bold"/>
                <a:ea typeface="Poppins Bold"/>
                <a:cs typeface="Poppins Bold"/>
                <a:sym typeface="Poppins Bold"/>
              </a:rPr>
              <a:t>Struggle To Adapt</a:t>
            </a:r>
          </a:p>
        </p:txBody>
      </p:sp>
      <p:sp>
        <p:nvSpPr>
          <p:cNvPr id="8" name="TextBox 28">
            <a:extLst>
              <a:ext uri="{FF2B5EF4-FFF2-40B4-BE49-F238E27FC236}">
                <a16:creationId xmlns:a16="http://schemas.microsoft.com/office/drawing/2014/main" id="{C20D878E-1BC3-FA71-A174-74063DD16125}"/>
              </a:ext>
            </a:extLst>
          </p:cNvPr>
          <p:cNvSpPr txBox="1"/>
          <p:nvPr/>
        </p:nvSpPr>
        <p:spPr>
          <a:xfrm>
            <a:off x="-8594996" y="-1869811"/>
            <a:ext cx="8045992" cy="830997"/>
          </a:xfrm>
          <a:prstGeom prst="rect">
            <a:avLst/>
          </a:prstGeom>
        </p:spPr>
        <p:txBody>
          <a:bodyPr wrap="square" lIns="0" tIns="0" rIns="0" bIns="0" rtlCol="0" anchor="t">
            <a:spAutoFit/>
          </a:bodyPr>
          <a:lstStyle/>
          <a:p>
            <a:pPr algn="ctr">
              <a:spcBef>
                <a:spcPct val="0"/>
              </a:spcBef>
            </a:pPr>
            <a:r>
              <a:rPr lang="en-US" sz="5400" b="1" dirty="0">
                <a:solidFill>
                  <a:srgbClr val="C00000"/>
                </a:solidFill>
                <a:latin typeface="Poppins Bold"/>
                <a:ea typeface="Poppins Bold"/>
                <a:cs typeface="Poppins Bold"/>
                <a:sym typeface="Poppins Bold"/>
              </a:rPr>
              <a:t>Lack Transparency</a:t>
            </a:r>
          </a:p>
        </p:txBody>
      </p:sp>
      <p:sp>
        <p:nvSpPr>
          <p:cNvPr id="12" name="TextBox 28">
            <a:extLst>
              <a:ext uri="{FF2B5EF4-FFF2-40B4-BE49-F238E27FC236}">
                <a16:creationId xmlns:a16="http://schemas.microsoft.com/office/drawing/2014/main" id="{B29BF8E1-2211-40C9-3EFB-2F3C32E9303D}"/>
              </a:ext>
            </a:extLst>
          </p:cNvPr>
          <p:cNvSpPr txBox="1"/>
          <p:nvPr/>
        </p:nvSpPr>
        <p:spPr>
          <a:xfrm>
            <a:off x="5121004" y="-1869811"/>
            <a:ext cx="8045992" cy="830997"/>
          </a:xfrm>
          <a:prstGeom prst="rect">
            <a:avLst/>
          </a:prstGeom>
        </p:spPr>
        <p:txBody>
          <a:bodyPr wrap="square" lIns="0" tIns="0" rIns="0" bIns="0" rtlCol="0" anchor="t">
            <a:spAutoFit/>
          </a:bodyPr>
          <a:lstStyle/>
          <a:p>
            <a:pPr algn="ctr">
              <a:spcBef>
                <a:spcPct val="0"/>
              </a:spcBef>
            </a:pPr>
            <a:r>
              <a:rPr lang="en-US" sz="5400" b="1" dirty="0">
                <a:solidFill>
                  <a:srgbClr val="C00000"/>
                </a:solidFill>
                <a:latin typeface="Poppins Bold"/>
                <a:ea typeface="Poppins Bold"/>
                <a:cs typeface="Poppins Bold"/>
                <a:sym typeface="Poppins Bold"/>
              </a:rPr>
              <a:t>Cannot Explain</a:t>
            </a:r>
          </a:p>
        </p:txBody>
      </p:sp>
      <p:sp>
        <p:nvSpPr>
          <p:cNvPr id="13" name="TextBox 7">
            <a:extLst>
              <a:ext uri="{FF2B5EF4-FFF2-40B4-BE49-F238E27FC236}">
                <a16:creationId xmlns:a16="http://schemas.microsoft.com/office/drawing/2014/main" id="{4B5BB452-812B-C4CE-78F5-F92FE4454BE3}"/>
              </a:ext>
            </a:extLst>
          </p:cNvPr>
          <p:cNvSpPr txBox="1"/>
          <p:nvPr/>
        </p:nvSpPr>
        <p:spPr>
          <a:xfrm>
            <a:off x="-2133600" y="961411"/>
            <a:ext cx="14945093" cy="904094"/>
          </a:xfrm>
          <a:prstGeom prst="rect">
            <a:avLst/>
          </a:prstGeom>
        </p:spPr>
        <p:txBody>
          <a:bodyPr lIns="0" tIns="0" rIns="0" bIns="0" rtlCol="0" anchor="t">
            <a:spAutoFit/>
          </a:bodyPr>
          <a:lstStyle/>
          <a:p>
            <a:pPr algn="ctr">
              <a:lnSpc>
                <a:spcPts val="7424"/>
              </a:lnSpc>
            </a:pPr>
            <a:r>
              <a:rPr lang="en-US" altLang="zh-CN" sz="5400" b="1" dirty="0">
                <a:solidFill>
                  <a:srgbClr val="004AAD"/>
                </a:solidFill>
                <a:latin typeface="Roboto Bold"/>
                <a:ea typeface="Roboto Bold"/>
                <a:cs typeface="Roboto Bold"/>
                <a:sym typeface="Roboto Bold"/>
              </a:rPr>
              <a:t>Motivation </a:t>
            </a:r>
            <a:r>
              <a:rPr lang="en-US" sz="5400" b="1" dirty="0">
                <a:solidFill>
                  <a:schemeClr val="bg1">
                    <a:lumMod val="75000"/>
                  </a:schemeClr>
                </a:solidFill>
                <a:latin typeface="Roboto Bold"/>
                <a:ea typeface="Roboto Bold"/>
                <a:cs typeface="Roboto Bold"/>
                <a:sym typeface="Roboto Bold"/>
              </a:rPr>
              <a:t>&amp; </a:t>
            </a:r>
            <a:r>
              <a:rPr lang="en-US" altLang="zh-CN" sz="5400" b="1" dirty="0">
                <a:solidFill>
                  <a:schemeClr val="bg1">
                    <a:lumMod val="75000"/>
                  </a:schemeClr>
                </a:solidFill>
                <a:latin typeface="Roboto Bold"/>
                <a:ea typeface="Roboto Bold"/>
                <a:cs typeface="Roboto Bold"/>
                <a:sym typeface="Roboto Bold"/>
              </a:rPr>
              <a:t>Background</a:t>
            </a:r>
            <a:endParaRPr lang="en-US" sz="5400" b="1" dirty="0">
              <a:solidFill>
                <a:srgbClr val="004AAD"/>
              </a:solidFill>
              <a:latin typeface="Roboto Bold"/>
              <a:ea typeface="Roboto Bold"/>
              <a:cs typeface="Roboto Bold"/>
              <a:sym typeface="Roboto Bold"/>
            </a:endParaRPr>
          </a:p>
        </p:txBody>
      </p:sp>
      <p:sp>
        <p:nvSpPr>
          <p:cNvPr id="14" name="Freeform 12">
            <a:extLst>
              <a:ext uri="{FF2B5EF4-FFF2-40B4-BE49-F238E27FC236}">
                <a16:creationId xmlns:a16="http://schemas.microsoft.com/office/drawing/2014/main" id="{61B2DCDE-299D-D9BD-21B6-9E3232F3F765}"/>
              </a:ext>
            </a:extLst>
          </p:cNvPr>
          <p:cNvSpPr/>
          <p:nvPr/>
        </p:nvSpPr>
        <p:spPr>
          <a:xfrm>
            <a:off x="1465682" y="3631523"/>
            <a:ext cx="5011207" cy="3055026"/>
          </a:xfrm>
          <a:custGeom>
            <a:avLst/>
            <a:gdLst/>
            <a:ahLst/>
            <a:cxnLst/>
            <a:rect l="l" t="t" r="r" b="b"/>
            <a:pathLst>
              <a:path w="5011207" h="3055026">
                <a:moveTo>
                  <a:pt x="0" y="0"/>
                </a:moveTo>
                <a:lnTo>
                  <a:pt x="5011206" y="0"/>
                </a:lnTo>
                <a:lnTo>
                  <a:pt x="5011206" y="3055025"/>
                </a:lnTo>
                <a:lnTo>
                  <a:pt x="0" y="3055025"/>
                </a:lnTo>
                <a:lnTo>
                  <a:pt x="0" y="0"/>
                </a:lnTo>
                <a:close/>
              </a:path>
            </a:pathLst>
          </a:custGeom>
          <a:blipFill>
            <a:blip/>
            <a:stretch>
              <a:fillRect r="-8380"/>
            </a:stretch>
          </a:blipFill>
        </p:spPr>
        <p:txBody>
          <a:bodyPr/>
          <a:lstStyle/>
          <a:p>
            <a:endParaRPr lang="zh-CN" altLang="en-US"/>
          </a:p>
        </p:txBody>
      </p:sp>
      <p:sp>
        <p:nvSpPr>
          <p:cNvPr id="15" name="Freeform 16">
            <a:extLst>
              <a:ext uri="{FF2B5EF4-FFF2-40B4-BE49-F238E27FC236}">
                <a16:creationId xmlns:a16="http://schemas.microsoft.com/office/drawing/2014/main" id="{5A1AC86F-914D-09FD-1133-2402300D4D49}"/>
              </a:ext>
            </a:extLst>
          </p:cNvPr>
          <p:cNvSpPr/>
          <p:nvPr/>
        </p:nvSpPr>
        <p:spPr>
          <a:xfrm>
            <a:off x="6657715" y="3647061"/>
            <a:ext cx="5011207" cy="3055026"/>
          </a:xfrm>
          <a:custGeom>
            <a:avLst/>
            <a:gdLst/>
            <a:ahLst/>
            <a:cxnLst/>
            <a:rect l="l" t="t" r="r" b="b"/>
            <a:pathLst>
              <a:path w="5011207" h="3055026">
                <a:moveTo>
                  <a:pt x="0" y="0"/>
                </a:moveTo>
                <a:lnTo>
                  <a:pt x="5011206" y="0"/>
                </a:lnTo>
                <a:lnTo>
                  <a:pt x="5011206" y="3055025"/>
                </a:lnTo>
                <a:lnTo>
                  <a:pt x="0" y="3055025"/>
                </a:lnTo>
                <a:lnTo>
                  <a:pt x="0" y="0"/>
                </a:lnTo>
                <a:close/>
              </a:path>
            </a:pathLst>
          </a:custGeom>
          <a:blipFill>
            <a:blip/>
            <a:stretch>
              <a:fillRect l="-2329" r="-2329"/>
            </a:stretch>
          </a:blipFill>
        </p:spPr>
        <p:txBody>
          <a:bodyPr/>
          <a:lstStyle/>
          <a:p>
            <a:endParaRPr lang="zh-CN" altLang="en-US" dirty="0"/>
          </a:p>
        </p:txBody>
      </p:sp>
      <p:pic>
        <p:nvPicPr>
          <p:cNvPr id="18434" name="Picture 2" descr="經濟不停學》一隻股份抵唔抵？唔係齋睇市盈率！ | 經濟不停學- 財富管理- 生活| etnet 經濟通|香港新聞財經資訊和生活平台">
            <a:extLst>
              <a:ext uri="{FF2B5EF4-FFF2-40B4-BE49-F238E27FC236}">
                <a16:creationId xmlns:a16="http://schemas.microsoft.com/office/drawing/2014/main" id="{C5DBEB61-1A1E-C88E-31D7-04D57BC7A22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666" b="4138"/>
          <a:stretch>
            <a:fillRect/>
          </a:stretch>
        </p:blipFill>
        <p:spPr bwMode="auto">
          <a:xfrm>
            <a:off x="11849748" y="3647061"/>
            <a:ext cx="4945167" cy="3039488"/>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28">
            <a:extLst>
              <a:ext uri="{FF2B5EF4-FFF2-40B4-BE49-F238E27FC236}">
                <a16:creationId xmlns:a16="http://schemas.microsoft.com/office/drawing/2014/main" id="{C071B5E8-D15A-1C36-36CB-7472DCFA364A}"/>
              </a:ext>
            </a:extLst>
          </p:cNvPr>
          <p:cNvSpPr txBox="1"/>
          <p:nvPr/>
        </p:nvSpPr>
        <p:spPr>
          <a:xfrm>
            <a:off x="3367276" y="6935647"/>
            <a:ext cx="11673911" cy="830997"/>
          </a:xfrm>
          <a:prstGeom prst="rect">
            <a:avLst/>
          </a:prstGeom>
        </p:spPr>
        <p:txBody>
          <a:bodyPr wrap="square" lIns="0" tIns="0" rIns="0" bIns="0" rtlCol="0" anchor="t">
            <a:spAutoFit/>
          </a:bodyPr>
          <a:lstStyle/>
          <a:p>
            <a:pPr algn="ctr">
              <a:spcBef>
                <a:spcPct val="0"/>
              </a:spcBef>
            </a:pPr>
            <a:r>
              <a:rPr lang="en-US" sz="5400" b="1" dirty="0">
                <a:solidFill>
                  <a:srgbClr val="C00000"/>
                </a:solidFill>
                <a:latin typeface="Poppins Bold"/>
                <a:ea typeface="Poppins Bold"/>
                <a:cs typeface="Poppins Bold"/>
                <a:sym typeface="Poppins Bold"/>
              </a:rPr>
              <a:t>Inaccessible </a:t>
            </a:r>
            <a:r>
              <a:rPr lang="en-US" altLang="zh-CN" sz="5400" b="1" dirty="0">
                <a:solidFill>
                  <a:srgbClr val="C00000"/>
                </a:solidFill>
                <a:latin typeface="Poppins Bold"/>
                <a:ea typeface="Poppins Bold"/>
                <a:cs typeface="Poppins Bold"/>
                <a:sym typeface="Poppins Bold"/>
              </a:rPr>
              <a:t>&amp;</a:t>
            </a:r>
            <a:r>
              <a:rPr lang="zh-CN" altLang="en-US" sz="5400" b="1" dirty="0">
                <a:solidFill>
                  <a:srgbClr val="C00000"/>
                </a:solidFill>
                <a:latin typeface="Poppins Bold"/>
                <a:ea typeface="Poppins Bold"/>
                <a:cs typeface="Poppins Bold"/>
                <a:sym typeface="Poppins Bold"/>
              </a:rPr>
              <a:t> </a:t>
            </a:r>
            <a:r>
              <a:rPr lang="en-US" altLang="zh-CN" sz="5400" b="1" dirty="0">
                <a:solidFill>
                  <a:srgbClr val="C00000"/>
                </a:solidFill>
                <a:latin typeface="Poppins Bold"/>
                <a:ea typeface="Poppins Bold"/>
                <a:cs typeface="Poppins Bold"/>
                <a:sym typeface="Poppins Bold"/>
              </a:rPr>
              <a:t>Unaffordable</a:t>
            </a:r>
            <a:endParaRPr lang="en-US" sz="5400" b="1" dirty="0">
              <a:solidFill>
                <a:srgbClr val="C00000"/>
              </a:solidFill>
              <a:latin typeface="Poppins Bold"/>
              <a:ea typeface="Poppins Bold"/>
              <a:cs typeface="Poppins Bold"/>
              <a:sym typeface="Poppins Bold"/>
            </a:endParaRPr>
          </a:p>
        </p:txBody>
      </p:sp>
      <p:sp>
        <p:nvSpPr>
          <p:cNvPr id="17" name="TextBox 29">
            <a:extLst>
              <a:ext uri="{FF2B5EF4-FFF2-40B4-BE49-F238E27FC236}">
                <a16:creationId xmlns:a16="http://schemas.microsoft.com/office/drawing/2014/main" id="{CA3FE8AE-A1DF-4197-D491-028373297C82}"/>
              </a:ext>
            </a:extLst>
          </p:cNvPr>
          <p:cNvSpPr txBox="1"/>
          <p:nvPr/>
        </p:nvSpPr>
        <p:spPr>
          <a:xfrm>
            <a:off x="5325585" y="2948572"/>
            <a:ext cx="7757292" cy="592406"/>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4AAD"/>
                </a:solidFill>
                <a:latin typeface="Poppins Bold"/>
                <a:ea typeface="Poppins Bold"/>
                <a:cs typeface="Poppins Bold"/>
                <a:sym typeface="Poppins Bold"/>
              </a:rPr>
              <a:t>Institutional</a:t>
            </a:r>
            <a:r>
              <a:rPr lang="zh-CN" altLang="en-US" sz="3399" b="1" dirty="0">
                <a:solidFill>
                  <a:srgbClr val="004AAD"/>
                </a:solidFill>
                <a:latin typeface="Poppins Bold"/>
                <a:ea typeface="Poppins Bold"/>
                <a:cs typeface="Poppins Bold"/>
                <a:sym typeface="Poppins Bold"/>
              </a:rPr>
              <a:t> </a:t>
            </a:r>
            <a:r>
              <a:rPr lang="en-US" altLang="zh-CN" sz="3399" b="1" dirty="0">
                <a:solidFill>
                  <a:srgbClr val="004AAD"/>
                </a:solidFill>
                <a:latin typeface="Poppins Bold"/>
                <a:ea typeface="Poppins Bold"/>
                <a:cs typeface="Poppins Bold"/>
                <a:sym typeface="Poppins Bold"/>
              </a:rPr>
              <a:t>Asset</a:t>
            </a:r>
            <a:r>
              <a:rPr lang="zh-CN" altLang="en-US" sz="3399" b="1" dirty="0">
                <a:solidFill>
                  <a:srgbClr val="004AAD"/>
                </a:solidFill>
                <a:latin typeface="Poppins Bold"/>
                <a:ea typeface="Poppins Bold"/>
                <a:cs typeface="Poppins Bold"/>
                <a:sym typeface="Poppins Bold"/>
              </a:rPr>
              <a:t> </a:t>
            </a:r>
            <a:r>
              <a:rPr lang="en-US" altLang="zh-CN" sz="3399" b="1" dirty="0">
                <a:solidFill>
                  <a:srgbClr val="004AAD"/>
                </a:solidFill>
                <a:latin typeface="Poppins Bold"/>
                <a:ea typeface="Poppins Bold"/>
                <a:cs typeface="Poppins Bold"/>
                <a:sym typeface="Poppins Bold"/>
              </a:rPr>
              <a:t>Management</a:t>
            </a:r>
            <a:endParaRPr lang="en-US" sz="3399" b="1" dirty="0">
              <a:solidFill>
                <a:srgbClr val="004AAD"/>
              </a:solidFill>
              <a:latin typeface="Poppins Bold"/>
              <a:ea typeface="Poppins Bold"/>
              <a:cs typeface="Poppins Bold"/>
              <a:sym typeface="Poppins Bold"/>
            </a:endParaRPr>
          </a:p>
        </p:txBody>
      </p:sp>
      <p:sp>
        <p:nvSpPr>
          <p:cNvPr id="18" name="Freeform 15">
            <a:extLst>
              <a:ext uri="{FF2B5EF4-FFF2-40B4-BE49-F238E27FC236}">
                <a16:creationId xmlns:a16="http://schemas.microsoft.com/office/drawing/2014/main" id="{C63C1B6A-7289-994D-BBD8-8DEF8D732A4C}"/>
              </a:ext>
            </a:extLst>
          </p:cNvPr>
          <p:cNvSpPr/>
          <p:nvPr/>
        </p:nvSpPr>
        <p:spPr>
          <a:xfrm>
            <a:off x="1465681" y="-4457700"/>
            <a:ext cx="5011207" cy="3055026"/>
          </a:xfrm>
          <a:custGeom>
            <a:avLst/>
            <a:gdLst/>
            <a:ahLst/>
            <a:cxnLst/>
            <a:rect l="l" t="t" r="r" b="b"/>
            <a:pathLst>
              <a:path w="4778768" h="2688057">
                <a:moveTo>
                  <a:pt x="0" y="0"/>
                </a:moveTo>
                <a:lnTo>
                  <a:pt x="4778768" y="0"/>
                </a:lnTo>
                <a:lnTo>
                  <a:pt x="4778768" y="2688057"/>
                </a:lnTo>
                <a:lnTo>
                  <a:pt x="0" y="2688057"/>
                </a:lnTo>
                <a:lnTo>
                  <a:pt x="0" y="0"/>
                </a:lnTo>
                <a:close/>
              </a:path>
            </a:pathLst>
          </a:custGeom>
          <a:blipFill>
            <a:blip/>
            <a:stretch>
              <a:fillRect/>
            </a:stretch>
          </a:blipFill>
        </p:spPr>
        <p:txBody>
          <a:bodyPr/>
          <a:lstStyle/>
          <a:p>
            <a:endParaRPr lang="zh-CN" altLang="en-US"/>
          </a:p>
        </p:txBody>
      </p:sp>
      <p:sp>
        <p:nvSpPr>
          <p:cNvPr id="19" name="Freeform 16">
            <a:extLst>
              <a:ext uri="{FF2B5EF4-FFF2-40B4-BE49-F238E27FC236}">
                <a16:creationId xmlns:a16="http://schemas.microsoft.com/office/drawing/2014/main" id="{3F491CED-7568-8AE9-7D25-ED15C6960063}"/>
              </a:ext>
            </a:extLst>
          </p:cNvPr>
          <p:cNvSpPr/>
          <p:nvPr/>
        </p:nvSpPr>
        <p:spPr>
          <a:xfrm>
            <a:off x="11855389" y="-4442162"/>
            <a:ext cx="4939525" cy="3039488"/>
          </a:xfrm>
          <a:custGeom>
            <a:avLst/>
            <a:gdLst/>
            <a:ahLst/>
            <a:cxnLst/>
            <a:rect l="l" t="t" r="r" b="b"/>
            <a:pathLst>
              <a:path w="4778768" h="2867261">
                <a:moveTo>
                  <a:pt x="0" y="0"/>
                </a:moveTo>
                <a:lnTo>
                  <a:pt x="4778768" y="0"/>
                </a:lnTo>
                <a:lnTo>
                  <a:pt x="4778768" y="2867260"/>
                </a:lnTo>
                <a:lnTo>
                  <a:pt x="0" y="2867260"/>
                </a:lnTo>
                <a:lnTo>
                  <a:pt x="0" y="0"/>
                </a:lnTo>
                <a:close/>
              </a:path>
            </a:pathLst>
          </a:custGeom>
          <a:blipFill>
            <a:blip/>
            <a:stretch>
              <a:fillRect/>
            </a:stretch>
          </a:blipFill>
        </p:spPr>
        <p:txBody>
          <a:bodyPr/>
          <a:lstStyle/>
          <a:p>
            <a:endParaRPr lang="zh-CN" altLang="en-US"/>
          </a:p>
        </p:txBody>
      </p:sp>
      <p:pic>
        <p:nvPicPr>
          <p:cNvPr id="20" name="Picture 2" descr="Multi-agent LLMs in 2026 [+frameworks] | SuperAnnotate">
            <a:extLst>
              <a:ext uri="{FF2B5EF4-FFF2-40B4-BE49-F238E27FC236}">
                <a16:creationId xmlns:a16="http://schemas.microsoft.com/office/drawing/2014/main" id="{98DAC526-BDA9-3DA1-8099-18480E5AA6F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57713" y="-4442161"/>
            <a:ext cx="5011207" cy="303948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Multi-agent LLMs in 2026 [+frameworks] | SuperAnnotate">
            <a:extLst>
              <a:ext uri="{FF2B5EF4-FFF2-40B4-BE49-F238E27FC236}">
                <a16:creationId xmlns:a16="http://schemas.microsoft.com/office/drawing/2014/main" id="{425CA12C-28EC-F02C-978A-93AE360AA38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38396" y="3642850"/>
            <a:ext cx="5011207" cy="3039488"/>
          </a:xfrm>
          <a:prstGeom prst="rect">
            <a:avLst/>
          </a:prstGeom>
          <a:noFill/>
          <a:extLst>
            <a:ext uri="{909E8E84-426E-40DD-AFC4-6F175D3DCCD1}">
              <a14:hiddenFill xmlns:a14="http://schemas.microsoft.com/office/drawing/2010/main">
                <a:solidFill>
                  <a:srgbClr val="FFFFFF"/>
                </a:solidFill>
              </a14:hiddenFill>
            </a:ext>
          </a:extLst>
        </p:spPr>
      </p:pic>
      <p:sp>
        <p:nvSpPr>
          <p:cNvPr id="21" name="Freeform 15">
            <a:extLst>
              <a:ext uri="{FF2B5EF4-FFF2-40B4-BE49-F238E27FC236}">
                <a16:creationId xmlns:a16="http://schemas.microsoft.com/office/drawing/2014/main" id="{E0E52844-82EE-82EE-1F0B-952D6C5683B6}"/>
              </a:ext>
            </a:extLst>
          </p:cNvPr>
          <p:cNvSpPr/>
          <p:nvPr/>
        </p:nvSpPr>
        <p:spPr>
          <a:xfrm>
            <a:off x="1463030" y="3642850"/>
            <a:ext cx="4994540" cy="3039488"/>
          </a:xfrm>
          <a:custGeom>
            <a:avLst/>
            <a:gdLst/>
            <a:ahLst/>
            <a:cxnLst/>
            <a:rect l="l" t="t" r="r" b="b"/>
            <a:pathLst>
              <a:path w="4778768" h="2688057">
                <a:moveTo>
                  <a:pt x="0" y="0"/>
                </a:moveTo>
                <a:lnTo>
                  <a:pt x="4778768" y="0"/>
                </a:lnTo>
                <a:lnTo>
                  <a:pt x="4778768" y="2688057"/>
                </a:lnTo>
                <a:lnTo>
                  <a:pt x="0" y="2688057"/>
                </a:lnTo>
                <a:lnTo>
                  <a:pt x="0" y="0"/>
                </a:lnTo>
                <a:close/>
              </a:path>
            </a:pathLst>
          </a:custGeom>
          <a:blipFill>
            <a:blip r:embed="rId8"/>
            <a:stretch>
              <a:fillRect/>
            </a:stretch>
          </a:blipFill>
        </p:spPr>
        <p:txBody>
          <a:bodyPr/>
          <a:lstStyle/>
          <a:p>
            <a:endParaRPr lang="zh-CN" altLang="en-US"/>
          </a:p>
        </p:txBody>
      </p:sp>
    </p:spTree>
    <p:extLst>
      <p:ext uri="{BB962C8B-B14F-4D97-AF65-F5344CB8AC3E}">
        <p14:creationId xmlns:p14="http://schemas.microsoft.com/office/powerpoint/2010/main" val="8338345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76BC5-4556-D33B-0253-72BDF1B4A6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F267D96-EFC5-9243-614F-9C2FEAF00D27}"/>
              </a:ext>
            </a:extLst>
          </p:cNvPr>
          <p:cNvSpPr>
            <a:spLocks noGrp="1" noRot="1" noMove="1" noResize="1" noEditPoints="1" noAdjustHandles="1" noChangeArrowheads="1" noChangeShapeType="1"/>
          </p:cNvSpPr>
          <p:nvPr/>
        </p:nvSpPr>
        <p:spPr>
          <a:xfrm>
            <a:off x="0" y="0"/>
            <a:ext cx="18288000" cy="1062990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grpSp>
        <p:nvGrpSpPr>
          <p:cNvPr id="4" name="Group 4">
            <a:extLst>
              <a:ext uri="{FF2B5EF4-FFF2-40B4-BE49-F238E27FC236}">
                <a16:creationId xmlns:a16="http://schemas.microsoft.com/office/drawing/2014/main" id="{A43B0B7D-93A0-B936-921A-C34760FE6DD2}"/>
              </a:ext>
            </a:extLst>
          </p:cNvPr>
          <p:cNvGrpSpPr/>
          <p:nvPr/>
        </p:nvGrpSpPr>
        <p:grpSpPr>
          <a:xfrm rot="5400000">
            <a:off x="-1543050" y="4057749"/>
            <a:ext cx="3086100" cy="2171499"/>
            <a:chOff x="0" y="0"/>
            <a:chExt cx="812800" cy="571917"/>
          </a:xfrm>
        </p:grpSpPr>
        <p:sp>
          <p:nvSpPr>
            <p:cNvPr id="5" name="Freeform 5">
              <a:extLst>
                <a:ext uri="{FF2B5EF4-FFF2-40B4-BE49-F238E27FC236}">
                  <a16:creationId xmlns:a16="http://schemas.microsoft.com/office/drawing/2014/main" id="{B740A02C-D97B-54A0-9900-DFBAAB442BE2}"/>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6" name="TextBox 6">
              <a:extLst>
                <a:ext uri="{FF2B5EF4-FFF2-40B4-BE49-F238E27FC236}">
                  <a16:creationId xmlns:a16="http://schemas.microsoft.com/office/drawing/2014/main" id="{56568109-76B9-CAB1-186A-24831A909074}"/>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6B0C7775-2CB7-81C6-10A9-B8EA8EF42694}"/>
              </a:ext>
            </a:extLst>
          </p:cNvPr>
          <p:cNvGrpSpPr/>
          <p:nvPr/>
        </p:nvGrpSpPr>
        <p:grpSpPr>
          <a:xfrm rot="16200000">
            <a:off x="16699267" y="4057749"/>
            <a:ext cx="3086100" cy="2171499"/>
            <a:chOff x="0" y="0"/>
            <a:chExt cx="812800" cy="571917"/>
          </a:xfrm>
        </p:grpSpPr>
        <p:sp>
          <p:nvSpPr>
            <p:cNvPr id="10" name="Freeform 10">
              <a:extLst>
                <a:ext uri="{FF2B5EF4-FFF2-40B4-BE49-F238E27FC236}">
                  <a16:creationId xmlns:a16="http://schemas.microsoft.com/office/drawing/2014/main" id="{F57ABF44-718C-52FD-B814-FC47EADBF760}"/>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11" name="TextBox 11">
              <a:extLst>
                <a:ext uri="{FF2B5EF4-FFF2-40B4-BE49-F238E27FC236}">
                  <a16:creationId xmlns:a16="http://schemas.microsoft.com/office/drawing/2014/main" id="{2ABAABE2-A929-3D9E-0E4C-3CAC4B3332BF}"/>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13" name="TextBox 7">
            <a:extLst>
              <a:ext uri="{FF2B5EF4-FFF2-40B4-BE49-F238E27FC236}">
                <a16:creationId xmlns:a16="http://schemas.microsoft.com/office/drawing/2014/main" id="{EB43D3DA-6C16-2859-006E-A4D767304424}"/>
              </a:ext>
            </a:extLst>
          </p:cNvPr>
          <p:cNvSpPr txBox="1"/>
          <p:nvPr/>
        </p:nvSpPr>
        <p:spPr>
          <a:xfrm>
            <a:off x="-2133600" y="961411"/>
            <a:ext cx="14945093" cy="904094"/>
          </a:xfrm>
          <a:prstGeom prst="rect">
            <a:avLst/>
          </a:prstGeom>
        </p:spPr>
        <p:txBody>
          <a:bodyPr lIns="0" tIns="0" rIns="0" bIns="0" rtlCol="0" anchor="t">
            <a:spAutoFit/>
          </a:bodyPr>
          <a:lstStyle/>
          <a:p>
            <a:pPr algn="ctr">
              <a:lnSpc>
                <a:spcPts val="7424"/>
              </a:lnSpc>
            </a:pPr>
            <a:r>
              <a:rPr lang="en-US" altLang="zh-CN" sz="5400" b="1" dirty="0">
                <a:solidFill>
                  <a:srgbClr val="004AAD"/>
                </a:solidFill>
                <a:latin typeface="Roboto Bold"/>
                <a:ea typeface="Roboto Bold"/>
                <a:cs typeface="Roboto Bold"/>
                <a:sym typeface="Roboto Bold"/>
              </a:rPr>
              <a:t>Motivation </a:t>
            </a:r>
            <a:r>
              <a:rPr lang="en-US" sz="5400" b="1" dirty="0">
                <a:solidFill>
                  <a:schemeClr val="bg1">
                    <a:lumMod val="75000"/>
                  </a:schemeClr>
                </a:solidFill>
                <a:latin typeface="Roboto Bold"/>
                <a:ea typeface="Roboto Bold"/>
                <a:cs typeface="Roboto Bold"/>
                <a:sym typeface="Roboto Bold"/>
              </a:rPr>
              <a:t>&amp; </a:t>
            </a:r>
            <a:r>
              <a:rPr lang="en-US" altLang="zh-CN" sz="5400" b="1" dirty="0">
                <a:solidFill>
                  <a:schemeClr val="bg1">
                    <a:lumMod val="75000"/>
                  </a:schemeClr>
                </a:solidFill>
                <a:latin typeface="Roboto Bold"/>
                <a:ea typeface="Roboto Bold"/>
                <a:cs typeface="Roboto Bold"/>
                <a:sym typeface="Roboto Bold"/>
              </a:rPr>
              <a:t>Background</a:t>
            </a:r>
            <a:endParaRPr lang="en-US" sz="5400" b="1" dirty="0">
              <a:solidFill>
                <a:srgbClr val="004AAD"/>
              </a:solidFill>
              <a:latin typeface="Roboto Bold"/>
              <a:ea typeface="Roboto Bold"/>
              <a:cs typeface="Roboto Bold"/>
              <a:sym typeface="Roboto Bold"/>
            </a:endParaRPr>
          </a:p>
        </p:txBody>
      </p:sp>
      <p:sp>
        <p:nvSpPr>
          <p:cNvPr id="16" name="TextBox 28">
            <a:extLst>
              <a:ext uri="{FF2B5EF4-FFF2-40B4-BE49-F238E27FC236}">
                <a16:creationId xmlns:a16="http://schemas.microsoft.com/office/drawing/2014/main" id="{5F6E2D79-6450-2513-D0F9-1A6A5ECF5F12}"/>
              </a:ext>
            </a:extLst>
          </p:cNvPr>
          <p:cNvSpPr txBox="1"/>
          <p:nvPr/>
        </p:nvSpPr>
        <p:spPr>
          <a:xfrm>
            <a:off x="3367276" y="6935647"/>
            <a:ext cx="11673911" cy="830997"/>
          </a:xfrm>
          <a:prstGeom prst="rect">
            <a:avLst/>
          </a:prstGeom>
        </p:spPr>
        <p:txBody>
          <a:bodyPr wrap="square" lIns="0" tIns="0" rIns="0" bIns="0" rtlCol="0" anchor="t">
            <a:spAutoFit/>
          </a:bodyPr>
          <a:lstStyle/>
          <a:p>
            <a:pPr algn="ctr">
              <a:spcBef>
                <a:spcPct val="0"/>
              </a:spcBef>
            </a:pPr>
            <a:r>
              <a:rPr lang="en-US" sz="5400" b="1" dirty="0">
                <a:solidFill>
                  <a:srgbClr val="00B050"/>
                </a:solidFill>
                <a:latin typeface="Poppins Bold"/>
                <a:ea typeface="Poppins Bold"/>
                <a:cs typeface="Poppins Bold"/>
                <a:sym typeface="Poppins Bold"/>
              </a:rPr>
              <a:t>Bridge</a:t>
            </a:r>
            <a:r>
              <a:rPr lang="zh-CN" altLang="en-US" sz="5400" b="1" dirty="0">
                <a:solidFill>
                  <a:srgbClr val="00B050"/>
                </a:solidFill>
                <a:latin typeface="Poppins Bold"/>
                <a:ea typeface="Poppins Bold"/>
                <a:cs typeface="Poppins Bold"/>
                <a:sym typeface="Poppins Bold"/>
              </a:rPr>
              <a:t> </a:t>
            </a:r>
            <a:r>
              <a:rPr lang="en-US" altLang="zh-CN" sz="5400" b="1" dirty="0">
                <a:solidFill>
                  <a:srgbClr val="00B050"/>
                </a:solidFill>
                <a:latin typeface="Poppins Bold"/>
                <a:ea typeface="Poppins Bold"/>
                <a:cs typeface="Poppins Bold"/>
                <a:sym typeface="Poppins Bold"/>
              </a:rPr>
              <a:t>The</a:t>
            </a:r>
            <a:r>
              <a:rPr lang="zh-CN" altLang="en-US" sz="5400" b="1" dirty="0">
                <a:solidFill>
                  <a:srgbClr val="00B050"/>
                </a:solidFill>
                <a:latin typeface="Poppins Bold"/>
                <a:ea typeface="Poppins Bold"/>
                <a:cs typeface="Poppins Bold"/>
                <a:sym typeface="Poppins Bold"/>
              </a:rPr>
              <a:t> </a:t>
            </a:r>
            <a:r>
              <a:rPr lang="en-US" altLang="zh-CN" sz="5400" b="1" dirty="0">
                <a:solidFill>
                  <a:srgbClr val="00B050"/>
                </a:solidFill>
                <a:latin typeface="Poppins Bold"/>
                <a:ea typeface="Poppins Bold"/>
                <a:cs typeface="Poppins Bold"/>
                <a:sym typeface="Poppins Bold"/>
              </a:rPr>
              <a:t>Gap</a:t>
            </a:r>
            <a:r>
              <a:rPr lang="en-US" sz="5400" b="1" dirty="0">
                <a:solidFill>
                  <a:srgbClr val="00B050"/>
                </a:solidFill>
                <a:latin typeface="Poppins Bold"/>
                <a:ea typeface="Poppins Bold"/>
                <a:cs typeface="Poppins Bold"/>
                <a:sym typeface="Poppins Bold"/>
              </a:rPr>
              <a:t> </a:t>
            </a:r>
            <a:r>
              <a:rPr lang="en-US" altLang="zh-CN" sz="5400" b="1" dirty="0">
                <a:solidFill>
                  <a:srgbClr val="00B050"/>
                </a:solidFill>
                <a:latin typeface="Poppins Bold"/>
                <a:ea typeface="Poppins Bold"/>
                <a:cs typeface="Poppins Bold"/>
                <a:sym typeface="Poppins Bold"/>
              </a:rPr>
              <a:t>&amp; Affordable</a:t>
            </a:r>
            <a:endParaRPr lang="en-US" sz="5400" b="1" dirty="0">
              <a:solidFill>
                <a:srgbClr val="00B050"/>
              </a:solidFill>
              <a:latin typeface="Poppins Bold"/>
              <a:ea typeface="Poppins Bold"/>
              <a:cs typeface="Poppins Bold"/>
              <a:sym typeface="Poppins Bold"/>
            </a:endParaRPr>
          </a:p>
        </p:txBody>
      </p:sp>
      <p:sp>
        <p:nvSpPr>
          <p:cNvPr id="17" name="TextBox 29">
            <a:extLst>
              <a:ext uri="{FF2B5EF4-FFF2-40B4-BE49-F238E27FC236}">
                <a16:creationId xmlns:a16="http://schemas.microsoft.com/office/drawing/2014/main" id="{88A74B6C-F37D-AE6A-E86D-A6064A903A95}"/>
              </a:ext>
            </a:extLst>
          </p:cNvPr>
          <p:cNvSpPr txBox="1"/>
          <p:nvPr/>
        </p:nvSpPr>
        <p:spPr>
          <a:xfrm>
            <a:off x="5325585" y="2948572"/>
            <a:ext cx="7757292" cy="592406"/>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4AAD"/>
                </a:solidFill>
                <a:latin typeface="Poppins Bold"/>
                <a:ea typeface="Poppins Bold"/>
                <a:cs typeface="Poppins Bold"/>
                <a:sym typeface="Poppins Bold"/>
              </a:rPr>
              <a:t>Multi</a:t>
            </a:r>
            <a:r>
              <a:rPr lang="zh-CN" altLang="en-US" sz="3399" b="1" dirty="0">
                <a:solidFill>
                  <a:srgbClr val="004AAD"/>
                </a:solidFill>
                <a:latin typeface="Poppins Bold"/>
                <a:ea typeface="Poppins Bold"/>
                <a:cs typeface="Poppins Bold"/>
                <a:sym typeface="Poppins Bold"/>
              </a:rPr>
              <a:t> </a:t>
            </a:r>
            <a:r>
              <a:rPr lang="en-US" altLang="zh-CN" sz="3399" b="1" dirty="0">
                <a:solidFill>
                  <a:srgbClr val="004AAD"/>
                </a:solidFill>
                <a:latin typeface="Poppins Bold"/>
                <a:ea typeface="Poppins Bold"/>
                <a:cs typeface="Poppins Bold"/>
                <a:sym typeface="Poppins Bold"/>
              </a:rPr>
              <a:t>Agent</a:t>
            </a:r>
            <a:r>
              <a:rPr lang="zh-CN" altLang="en-US" sz="3399" b="1" dirty="0">
                <a:solidFill>
                  <a:srgbClr val="004AAD"/>
                </a:solidFill>
                <a:latin typeface="Poppins Bold"/>
                <a:ea typeface="Poppins Bold"/>
                <a:cs typeface="Poppins Bold"/>
                <a:sym typeface="Poppins Bold"/>
              </a:rPr>
              <a:t> </a:t>
            </a:r>
            <a:r>
              <a:rPr lang="en-US" altLang="zh-CN" sz="3399" b="1" dirty="0">
                <a:solidFill>
                  <a:srgbClr val="004AAD"/>
                </a:solidFill>
                <a:latin typeface="Poppins Bold"/>
                <a:ea typeface="Poppins Bold"/>
                <a:cs typeface="Poppins Bold"/>
                <a:sym typeface="Poppins Bold"/>
              </a:rPr>
              <a:t>Framework</a:t>
            </a:r>
            <a:endParaRPr lang="en-US" sz="3399" b="1" dirty="0">
              <a:solidFill>
                <a:srgbClr val="004AAD"/>
              </a:solidFill>
              <a:latin typeface="Poppins Bold"/>
              <a:ea typeface="Poppins Bold"/>
              <a:cs typeface="Poppins Bold"/>
              <a:sym typeface="Poppins Bold"/>
            </a:endParaRPr>
          </a:p>
        </p:txBody>
      </p:sp>
      <p:sp>
        <p:nvSpPr>
          <p:cNvPr id="19" name="Freeform 15">
            <a:extLst>
              <a:ext uri="{FF2B5EF4-FFF2-40B4-BE49-F238E27FC236}">
                <a16:creationId xmlns:a16="http://schemas.microsoft.com/office/drawing/2014/main" id="{F2C2B700-D576-D93B-CA69-77F83E516526}"/>
              </a:ext>
            </a:extLst>
          </p:cNvPr>
          <p:cNvSpPr/>
          <p:nvPr/>
        </p:nvSpPr>
        <p:spPr>
          <a:xfrm>
            <a:off x="1465681" y="3631523"/>
            <a:ext cx="5011207" cy="3055026"/>
          </a:xfrm>
          <a:custGeom>
            <a:avLst/>
            <a:gdLst/>
            <a:ahLst/>
            <a:cxnLst/>
            <a:rect l="l" t="t" r="r" b="b"/>
            <a:pathLst>
              <a:path w="4778768" h="2688057">
                <a:moveTo>
                  <a:pt x="0" y="0"/>
                </a:moveTo>
                <a:lnTo>
                  <a:pt x="4778768" y="0"/>
                </a:lnTo>
                <a:lnTo>
                  <a:pt x="4778768" y="2688057"/>
                </a:lnTo>
                <a:lnTo>
                  <a:pt x="0" y="2688057"/>
                </a:lnTo>
                <a:lnTo>
                  <a:pt x="0" y="0"/>
                </a:lnTo>
                <a:close/>
              </a:path>
            </a:pathLst>
          </a:custGeom>
          <a:blipFill>
            <a:blip/>
            <a:stretch>
              <a:fillRect/>
            </a:stretch>
          </a:blipFill>
        </p:spPr>
        <p:txBody>
          <a:bodyPr/>
          <a:lstStyle/>
          <a:p>
            <a:endParaRPr lang="zh-CN" altLang="en-US"/>
          </a:p>
        </p:txBody>
      </p:sp>
      <p:sp>
        <p:nvSpPr>
          <p:cNvPr id="20" name="Freeform 16">
            <a:extLst>
              <a:ext uri="{FF2B5EF4-FFF2-40B4-BE49-F238E27FC236}">
                <a16:creationId xmlns:a16="http://schemas.microsoft.com/office/drawing/2014/main" id="{9B8445E3-7F91-014A-DBBE-D66DC6C81856}"/>
              </a:ext>
            </a:extLst>
          </p:cNvPr>
          <p:cNvSpPr/>
          <p:nvPr/>
        </p:nvSpPr>
        <p:spPr>
          <a:xfrm>
            <a:off x="11855389" y="3647061"/>
            <a:ext cx="4939525" cy="3039488"/>
          </a:xfrm>
          <a:custGeom>
            <a:avLst/>
            <a:gdLst/>
            <a:ahLst/>
            <a:cxnLst/>
            <a:rect l="l" t="t" r="r" b="b"/>
            <a:pathLst>
              <a:path w="4778768" h="2867261">
                <a:moveTo>
                  <a:pt x="0" y="0"/>
                </a:moveTo>
                <a:lnTo>
                  <a:pt x="4778768" y="0"/>
                </a:lnTo>
                <a:lnTo>
                  <a:pt x="4778768" y="2867260"/>
                </a:lnTo>
                <a:lnTo>
                  <a:pt x="0" y="2867260"/>
                </a:lnTo>
                <a:lnTo>
                  <a:pt x="0" y="0"/>
                </a:lnTo>
                <a:close/>
              </a:path>
            </a:pathLst>
          </a:custGeom>
          <a:blipFill>
            <a:blip/>
            <a:stretch>
              <a:fillRect/>
            </a:stretch>
          </a:blipFill>
        </p:spPr>
        <p:txBody>
          <a:bodyPr/>
          <a:lstStyle/>
          <a:p>
            <a:endParaRPr lang="zh-CN" altLang="en-US"/>
          </a:p>
        </p:txBody>
      </p:sp>
      <p:sp>
        <p:nvSpPr>
          <p:cNvPr id="25" name="Freeform 12">
            <a:extLst>
              <a:ext uri="{FF2B5EF4-FFF2-40B4-BE49-F238E27FC236}">
                <a16:creationId xmlns:a16="http://schemas.microsoft.com/office/drawing/2014/main" id="{4C67B1D1-76D7-2CEB-F07A-CD5DE0C6CED9}"/>
              </a:ext>
            </a:extLst>
          </p:cNvPr>
          <p:cNvSpPr/>
          <p:nvPr/>
        </p:nvSpPr>
        <p:spPr>
          <a:xfrm>
            <a:off x="1465682" y="11369336"/>
            <a:ext cx="5011207" cy="3055026"/>
          </a:xfrm>
          <a:custGeom>
            <a:avLst/>
            <a:gdLst/>
            <a:ahLst/>
            <a:cxnLst/>
            <a:rect l="l" t="t" r="r" b="b"/>
            <a:pathLst>
              <a:path w="5011207" h="3055026">
                <a:moveTo>
                  <a:pt x="0" y="0"/>
                </a:moveTo>
                <a:lnTo>
                  <a:pt x="5011206" y="0"/>
                </a:lnTo>
                <a:lnTo>
                  <a:pt x="5011206" y="3055025"/>
                </a:lnTo>
                <a:lnTo>
                  <a:pt x="0" y="3055025"/>
                </a:lnTo>
                <a:lnTo>
                  <a:pt x="0" y="0"/>
                </a:lnTo>
                <a:close/>
              </a:path>
            </a:pathLst>
          </a:custGeom>
          <a:blipFill>
            <a:blip/>
            <a:stretch>
              <a:fillRect r="-8380"/>
            </a:stretch>
          </a:blipFill>
        </p:spPr>
        <p:txBody>
          <a:bodyPr/>
          <a:lstStyle/>
          <a:p>
            <a:endParaRPr lang="zh-CN" altLang="en-US"/>
          </a:p>
        </p:txBody>
      </p:sp>
      <p:sp>
        <p:nvSpPr>
          <p:cNvPr id="26" name="Freeform 16">
            <a:extLst>
              <a:ext uri="{FF2B5EF4-FFF2-40B4-BE49-F238E27FC236}">
                <a16:creationId xmlns:a16="http://schemas.microsoft.com/office/drawing/2014/main" id="{F1600990-BABE-DC44-D680-A4AC7EE19E7F}"/>
              </a:ext>
            </a:extLst>
          </p:cNvPr>
          <p:cNvSpPr/>
          <p:nvPr/>
        </p:nvSpPr>
        <p:spPr>
          <a:xfrm>
            <a:off x="6657715" y="11384874"/>
            <a:ext cx="5011207" cy="3055026"/>
          </a:xfrm>
          <a:custGeom>
            <a:avLst/>
            <a:gdLst/>
            <a:ahLst/>
            <a:cxnLst/>
            <a:rect l="l" t="t" r="r" b="b"/>
            <a:pathLst>
              <a:path w="5011207" h="3055026">
                <a:moveTo>
                  <a:pt x="0" y="0"/>
                </a:moveTo>
                <a:lnTo>
                  <a:pt x="5011206" y="0"/>
                </a:lnTo>
                <a:lnTo>
                  <a:pt x="5011206" y="3055025"/>
                </a:lnTo>
                <a:lnTo>
                  <a:pt x="0" y="3055025"/>
                </a:lnTo>
                <a:lnTo>
                  <a:pt x="0" y="0"/>
                </a:lnTo>
                <a:close/>
              </a:path>
            </a:pathLst>
          </a:custGeom>
          <a:blipFill>
            <a:blip/>
            <a:stretch>
              <a:fillRect l="-2329" r="-2329"/>
            </a:stretch>
          </a:blipFill>
        </p:spPr>
        <p:txBody>
          <a:bodyPr/>
          <a:lstStyle/>
          <a:p>
            <a:endParaRPr lang="zh-CN" altLang="en-US"/>
          </a:p>
        </p:txBody>
      </p:sp>
      <p:pic>
        <p:nvPicPr>
          <p:cNvPr id="29" name="Picture 2" descr="經濟不停學》一隻股份抵唔抵？唔係齋睇市盈率！ | 經濟不停學- 財富管理- 生活| etnet 經濟通|香港新聞財經資訊和生活平台">
            <a:extLst>
              <a:ext uri="{FF2B5EF4-FFF2-40B4-BE49-F238E27FC236}">
                <a16:creationId xmlns:a16="http://schemas.microsoft.com/office/drawing/2014/main" id="{F4D8E4A9-F376-E332-7259-ED6B51A91B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666" b="4138"/>
          <a:stretch>
            <a:fillRect/>
          </a:stretch>
        </p:blipFill>
        <p:spPr bwMode="auto">
          <a:xfrm>
            <a:off x="11849748" y="11384874"/>
            <a:ext cx="4945167" cy="303948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經濟不停學》一隻股份抵唔抵？唔係齋睇市盈率！ | 經濟不停學- 財富管理- 生活| etnet 經濟通|香港新聞財經資訊和生活平台">
            <a:extLst>
              <a:ext uri="{FF2B5EF4-FFF2-40B4-BE49-F238E27FC236}">
                <a16:creationId xmlns:a16="http://schemas.microsoft.com/office/drawing/2014/main" id="{51D129A7-7B2D-15DE-B82D-906397CF40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666" b="4138"/>
          <a:stretch>
            <a:fillRect/>
          </a:stretch>
        </p:blipFill>
        <p:spPr bwMode="auto">
          <a:xfrm>
            <a:off x="6693555" y="3618823"/>
            <a:ext cx="4945167" cy="303948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Multi-agent LLMs in 2026 [+frameworks] | SuperAnnotate">
            <a:extLst>
              <a:ext uri="{FF2B5EF4-FFF2-40B4-BE49-F238E27FC236}">
                <a16:creationId xmlns:a16="http://schemas.microsoft.com/office/drawing/2014/main" id="{C559716E-B954-5CAB-03B9-B7488D3484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120" y="3631523"/>
            <a:ext cx="5011207" cy="3039488"/>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12">
            <a:extLst>
              <a:ext uri="{FF2B5EF4-FFF2-40B4-BE49-F238E27FC236}">
                <a16:creationId xmlns:a16="http://schemas.microsoft.com/office/drawing/2014/main" id="{ED917D8A-2FDE-ECF8-2370-0C24F3370D71}"/>
              </a:ext>
            </a:extLst>
          </p:cNvPr>
          <p:cNvSpPr/>
          <p:nvPr/>
        </p:nvSpPr>
        <p:spPr>
          <a:xfrm>
            <a:off x="1446950" y="3647061"/>
            <a:ext cx="5011207" cy="3055026"/>
          </a:xfrm>
          <a:custGeom>
            <a:avLst/>
            <a:gdLst/>
            <a:ahLst/>
            <a:cxnLst/>
            <a:rect l="l" t="t" r="r" b="b"/>
            <a:pathLst>
              <a:path w="5011207" h="3055026">
                <a:moveTo>
                  <a:pt x="0" y="0"/>
                </a:moveTo>
                <a:lnTo>
                  <a:pt x="5011206" y="0"/>
                </a:lnTo>
                <a:lnTo>
                  <a:pt x="5011206" y="3055025"/>
                </a:lnTo>
                <a:lnTo>
                  <a:pt x="0" y="3055025"/>
                </a:lnTo>
                <a:lnTo>
                  <a:pt x="0" y="0"/>
                </a:lnTo>
                <a:close/>
              </a:path>
            </a:pathLst>
          </a:custGeom>
          <a:blipFill>
            <a:blip r:embed="rId5"/>
            <a:stretch>
              <a:fillRect r="-8380"/>
            </a:stretch>
          </a:blipFill>
        </p:spPr>
        <p:txBody>
          <a:bodyPr/>
          <a:lstStyle/>
          <a:p>
            <a:endParaRPr lang="zh-CN" altLang="en-US"/>
          </a:p>
        </p:txBody>
      </p:sp>
    </p:spTree>
    <p:extLst>
      <p:ext uri="{BB962C8B-B14F-4D97-AF65-F5344CB8AC3E}">
        <p14:creationId xmlns:p14="http://schemas.microsoft.com/office/powerpoint/2010/main" val="29783859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1E12E-A15B-B3D4-463D-AE8476565CF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693141-9968-2509-BC2A-0EBF108C24D8}"/>
              </a:ext>
            </a:extLst>
          </p:cNvPr>
          <p:cNvSpPr>
            <a:spLocks noGrp="1" noRot="1" noMove="1" noResize="1" noEditPoints="1" noAdjustHandles="1" noChangeArrowheads="1" noChangeShapeType="1"/>
          </p:cNvSpPr>
          <p:nvPr/>
        </p:nvSpPr>
        <p:spPr>
          <a:xfrm>
            <a:off x="0" y="0"/>
            <a:ext cx="18288000" cy="1062990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dirty="0"/>
          </a:p>
        </p:txBody>
      </p:sp>
      <p:grpSp>
        <p:nvGrpSpPr>
          <p:cNvPr id="4" name="Group 4">
            <a:extLst>
              <a:ext uri="{FF2B5EF4-FFF2-40B4-BE49-F238E27FC236}">
                <a16:creationId xmlns:a16="http://schemas.microsoft.com/office/drawing/2014/main" id="{29A51F6B-2299-0954-EB81-8AFFE7C40341}"/>
              </a:ext>
            </a:extLst>
          </p:cNvPr>
          <p:cNvGrpSpPr/>
          <p:nvPr/>
        </p:nvGrpSpPr>
        <p:grpSpPr>
          <a:xfrm rot="5400000">
            <a:off x="-1543050" y="4057749"/>
            <a:ext cx="3086100" cy="2171499"/>
            <a:chOff x="0" y="0"/>
            <a:chExt cx="812800" cy="571917"/>
          </a:xfrm>
        </p:grpSpPr>
        <p:sp>
          <p:nvSpPr>
            <p:cNvPr id="5" name="Freeform 5">
              <a:extLst>
                <a:ext uri="{FF2B5EF4-FFF2-40B4-BE49-F238E27FC236}">
                  <a16:creationId xmlns:a16="http://schemas.microsoft.com/office/drawing/2014/main" id="{0FBF1770-79A6-D27C-AB05-7D6F28E19443}"/>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6" name="TextBox 6">
              <a:extLst>
                <a:ext uri="{FF2B5EF4-FFF2-40B4-BE49-F238E27FC236}">
                  <a16:creationId xmlns:a16="http://schemas.microsoft.com/office/drawing/2014/main" id="{A624EC94-BD28-88D7-7DAA-7A1E88BE9C8E}"/>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D5D9CDA8-86CA-1CB1-1F23-CB5C4B3B26AD}"/>
              </a:ext>
            </a:extLst>
          </p:cNvPr>
          <p:cNvGrpSpPr/>
          <p:nvPr/>
        </p:nvGrpSpPr>
        <p:grpSpPr>
          <a:xfrm rot="16200000">
            <a:off x="16699267" y="4057749"/>
            <a:ext cx="3086100" cy="2171499"/>
            <a:chOff x="0" y="0"/>
            <a:chExt cx="812800" cy="571917"/>
          </a:xfrm>
        </p:grpSpPr>
        <p:sp>
          <p:nvSpPr>
            <p:cNvPr id="10" name="Freeform 10">
              <a:extLst>
                <a:ext uri="{FF2B5EF4-FFF2-40B4-BE49-F238E27FC236}">
                  <a16:creationId xmlns:a16="http://schemas.microsoft.com/office/drawing/2014/main" id="{A964D1B2-1237-DF8D-3ED2-002DDCAF3E17}"/>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11" name="TextBox 11">
              <a:extLst>
                <a:ext uri="{FF2B5EF4-FFF2-40B4-BE49-F238E27FC236}">
                  <a16:creationId xmlns:a16="http://schemas.microsoft.com/office/drawing/2014/main" id="{C89445C8-2FE7-9179-2AE5-38A9F7E61F77}"/>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7" name="TextBox 7">
            <a:extLst>
              <a:ext uri="{FF2B5EF4-FFF2-40B4-BE49-F238E27FC236}">
                <a16:creationId xmlns:a16="http://schemas.microsoft.com/office/drawing/2014/main" id="{29192FCA-E323-9DEA-CD28-03A1F86F795D}"/>
              </a:ext>
            </a:extLst>
          </p:cNvPr>
          <p:cNvSpPr txBox="1"/>
          <p:nvPr/>
        </p:nvSpPr>
        <p:spPr>
          <a:xfrm>
            <a:off x="-3962400" y="896130"/>
            <a:ext cx="14945093" cy="904094"/>
          </a:xfrm>
          <a:prstGeom prst="rect">
            <a:avLst/>
          </a:prstGeom>
        </p:spPr>
        <p:txBody>
          <a:bodyPr lIns="0" tIns="0" rIns="0" bIns="0" rtlCol="0" anchor="t">
            <a:spAutoFit/>
          </a:bodyPr>
          <a:lstStyle/>
          <a:p>
            <a:pPr algn="ctr">
              <a:lnSpc>
                <a:spcPts val="7424"/>
              </a:lnSpc>
            </a:pPr>
            <a:r>
              <a:rPr lang="en-US" sz="5400" b="1" dirty="0">
                <a:solidFill>
                  <a:srgbClr val="004AAD"/>
                </a:solidFill>
                <a:latin typeface="Roboto Bold"/>
                <a:ea typeface="Roboto Bold"/>
                <a:cs typeface="Roboto Bold"/>
                <a:sym typeface="Roboto Bold"/>
              </a:rPr>
              <a:t>Methodology</a:t>
            </a:r>
          </a:p>
        </p:txBody>
      </p:sp>
      <p:sp>
        <p:nvSpPr>
          <p:cNvPr id="13" name="Freeform 9">
            <a:extLst>
              <a:ext uri="{FF2B5EF4-FFF2-40B4-BE49-F238E27FC236}">
                <a16:creationId xmlns:a16="http://schemas.microsoft.com/office/drawing/2014/main" id="{CB369240-26CA-9FDC-F0BA-12F41ED587F4}"/>
              </a:ext>
            </a:extLst>
          </p:cNvPr>
          <p:cNvSpPr/>
          <p:nvPr/>
        </p:nvSpPr>
        <p:spPr>
          <a:xfrm>
            <a:off x="1447402" y="2247900"/>
            <a:ext cx="4953398" cy="5740152"/>
          </a:xfrm>
          <a:custGeom>
            <a:avLst/>
            <a:gdLst/>
            <a:ahLst/>
            <a:cxnLst/>
            <a:rect l="l" t="t" r="r" b="b"/>
            <a:pathLst>
              <a:path w="6420639" h="6356958">
                <a:moveTo>
                  <a:pt x="0" y="0"/>
                </a:moveTo>
                <a:lnTo>
                  <a:pt x="6420638" y="0"/>
                </a:lnTo>
                <a:lnTo>
                  <a:pt x="6420638" y="6356958"/>
                </a:lnTo>
                <a:lnTo>
                  <a:pt x="0" y="6356958"/>
                </a:lnTo>
                <a:lnTo>
                  <a:pt x="0" y="0"/>
                </a:lnTo>
                <a:close/>
              </a:path>
            </a:pathLst>
          </a:custGeom>
          <a:blipFill>
            <a:blip/>
            <a:stretch>
              <a:fillRect l="-33206" r="-42808"/>
            </a:stretch>
          </a:blipFill>
        </p:spPr>
        <p:txBody>
          <a:bodyPr/>
          <a:lstStyle/>
          <a:p>
            <a:endParaRPr lang="zh-CN" altLang="en-US"/>
          </a:p>
        </p:txBody>
      </p:sp>
      <p:sp>
        <p:nvSpPr>
          <p:cNvPr id="14" name="TextBox 13">
            <a:extLst>
              <a:ext uri="{FF2B5EF4-FFF2-40B4-BE49-F238E27FC236}">
                <a16:creationId xmlns:a16="http://schemas.microsoft.com/office/drawing/2014/main" id="{E7438EC3-77D0-103E-64D0-DFF302898868}"/>
              </a:ext>
            </a:extLst>
          </p:cNvPr>
          <p:cNvSpPr txBox="1"/>
          <p:nvPr/>
        </p:nvSpPr>
        <p:spPr>
          <a:xfrm>
            <a:off x="1360138" y="8267700"/>
            <a:ext cx="11117381" cy="689291"/>
          </a:xfrm>
          <a:prstGeom prst="rect">
            <a:avLst/>
          </a:prstGeom>
        </p:spPr>
        <p:txBody>
          <a:bodyPr lIns="0" tIns="0" rIns="0" bIns="0" rtlCol="0" anchor="t">
            <a:spAutoFit/>
          </a:bodyPr>
          <a:lstStyle/>
          <a:p>
            <a:pPr algn="just">
              <a:lnSpc>
                <a:spcPts val="5676"/>
              </a:lnSpc>
            </a:pPr>
            <a:r>
              <a:rPr lang="en-US" sz="3600" b="1" dirty="0">
                <a:solidFill>
                  <a:srgbClr val="004AAD"/>
                </a:solidFill>
                <a:latin typeface="Roboto Bold"/>
                <a:ea typeface="Roboto Bold"/>
                <a:cs typeface="Roboto Bold"/>
                <a:sym typeface="Roboto Bold"/>
              </a:rPr>
              <a:t>The LLM Engine: </a:t>
            </a:r>
            <a:r>
              <a:rPr lang="en-US" sz="3600" dirty="0">
                <a:solidFill>
                  <a:srgbClr val="004AAD"/>
                </a:solidFill>
                <a:latin typeface="Roboto"/>
                <a:ea typeface="Roboto"/>
                <a:cs typeface="Roboto"/>
                <a:sym typeface="Roboto"/>
              </a:rPr>
              <a:t>DeepSeek - V 3.2</a:t>
            </a:r>
          </a:p>
        </p:txBody>
      </p:sp>
      <p:sp>
        <p:nvSpPr>
          <p:cNvPr id="15" name="TextBox 28">
            <a:extLst>
              <a:ext uri="{FF2B5EF4-FFF2-40B4-BE49-F238E27FC236}">
                <a16:creationId xmlns:a16="http://schemas.microsoft.com/office/drawing/2014/main" id="{947C0D62-D7DB-5B1B-0E03-3E9A038560D7}"/>
              </a:ext>
            </a:extLst>
          </p:cNvPr>
          <p:cNvSpPr txBox="1"/>
          <p:nvPr/>
        </p:nvSpPr>
        <p:spPr>
          <a:xfrm>
            <a:off x="7848202" y="2095500"/>
            <a:ext cx="8045992" cy="1661993"/>
          </a:xfrm>
          <a:prstGeom prst="rect">
            <a:avLst/>
          </a:prstGeom>
        </p:spPr>
        <p:txBody>
          <a:bodyPr wrap="square" lIns="0" tIns="0" rIns="0" bIns="0" rtlCol="0" anchor="t">
            <a:spAutoFit/>
          </a:bodyPr>
          <a:lstStyle/>
          <a:p>
            <a:pPr algn="ctr">
              <a:spcBef>
                <a:spcPct val="0"/>
              </a:spcBef>
            </a:pPr>
            <a:r>
              <a:rPr lang="en-US" sz="5400" b="1" dirty="0">
                <a:solidFill>
                  <a:srgbClr val="FF8100"/>
                </a:solidFill>
                <a:latin typeface="Poppins Bold"/>
                <a:ea typeface="Poppins Bold"/>
                <a:cs typeface="Poppins Bold"/>
                <a:sym typeface="Poppins Bold"/>
              </a:rPr>
              <a:t>Advanced Natural Language Processing</a:t>
            </a:r>
          </a:p>
        </p:txBody>
      </p:sp>
      <p:sp>
        <p:nvSpPr>
          <p:cNvPr id="16" name="TextBox 28">
            <a:extLst>
              <a:ext uri="{FF2B5EF4-FFF2-40B4-BE49-F238E27FC236}">
                <a16:creationId xmlns:a16="http://schemas.microsoft.com/office/drawing/2014/main" id="{519AC813-EB29-D101-E6E8-CA5816985049}"/>
              </a:ext>
            </a:extLst>
          </p:cNvPr>
          <p:cNvSpPr txBox="1"/>
          <p:nvPr/>
        </p:nvSpPr>
        <p:spPr>
          <a:xfrm>
            <a:off x="7070399" y="7037805"/>
            <a:ext cx="9601598" cy="830997"/>
          </a:xfrm>
          <a:prstGeom prst="rect">
            <a:avLst/>
          </a:prstGeom>
        </p:spPr>
        <p:txBody>
          <a:bodyPr wrap="square" lIns="0" tIns="0" rIns="0" bIns="0" rtlCol="0" anchor="t">
            <a:spAutoFit/>
          </a:bodyPr>
          <a:lstStyle/>
          <a:p>
            <a:pPr algn="ctr">
              <a:spcBef>
                <a:spcPct val="0"/>
              </a:spcBef>
            </a:pPr>
            <a:r>
              <a:rPr lang="en-US" sz="5400" b="1" dirty="0">
                <a:solidFill>
                  <a:schemeClr val="bg1">
                    <a:lumMod val="75000"/>
                  </a:schemeClr>
                </a:solidFill>
                <a:latin typeface="Poppins Bold"/>
                <a:ea typeface="Poppins Bold"/>
                <a:cs typeface="Poppins Bold"/>
                <a:sym typeface="Poppins Bold"/>
              </a:rPr>
              <a:t>Decision Transparency</a:t>
            </a:r>
          </a:p>
        </p:txBody>
      </p:sp>
      <p:sp>
        <p:nvSpPr>
          <p:cNvPr id="17" name="TextBox 28">
            <a:extLst>
              <a:ext uri="{FF2B5EF4-FFF2-40B4-BE49-F238E27FC236}">
                <a16:creationId xmlns:a16="http://schemas.microsoft.com/office/drawing/2014/main" id="{B7700D4D-0C39-0044-FB5A-D1C89AEA215D}"/>
              </a:ext>
            </a:extLst>
          </p:cNvPr>
          <p:cNvSpPr txBox="1"/>
          <p:nvPr/>
        </p:nvSpPr>
        <p:spPr>
          <a:xfrm>
            <a:off x="7803608" y="4796891"/>
            <a:ext cx="8045992" cy="830997"/>
          </a:xfrm>
          <a:prstGeom prst="rect">
            <a:avLst/>
          </a:prstGeom>
        </p:spPr>
        <p:txBody>
          <a:bodyPr wrap="square" lIns="0" tIns="0" rIns="0" bIns="0" rtlCol="0" anchor="t">
            <a:spAutoFit/>
          </a:bodyPr>
          <a:lstStyle/>
          <a:p>
            <a:pPr algn="ctr">
              <a:spcBef>
                <a:spcPct val="0"/>
              </a:spcBef>
            </a:pPr>
            <a:r>
              <a:rPr lang="en-US" sz="5400" b="1" dirty="0">
                <a:solidFill>
                  <a:schemeClr val="bg1">
                    <a:lumMod val="75000"/>
                  </a:schemeClr>
                </a:solidFill>
                <a:latin typeface="Poppins Bold"/>
                <a:ea typeface="Poppins Bold"/>
                <a:cs typeface="Poppins Bold"/>
                <a:sym typeface="Poppins Bold"/>
              </a:rPr>
              <a:t>Robust Reasoning</a:t>
            </a:r>
          </a:p>
        </p:txBody>
      </p:sp>
      <p:sp>
        <p:nvSpPr>
          <p:cNvPr id="18" name="TextBox 28">
            <a:extLst>
              <a:ext uri="{FF2B5EF4-FFF2-40B4-BE49-F238E27FC236}">
                <a16:creationId xmlns:a16="http://schemas.microsoft.com/office/drawing/2014/main" id="{D11163B1-1E88-D69D-5901-1ABBFF879653}"/>
              </a:ext>
            </a:extLst>
          </p:cNvPr>
          <p:cNvSpPr txBox="1"/>
          <p:nvPr/>
        </p:nvSpPr>
        <p:spPr>
          <a:xfrm>
            <a:off x="7834542" y="3871713"/>
            <a:ext cx="8045992" cy="830997"/>
          </a:xfrm>
          <a:prstGeom prst="rect">
            <a:avLst/>
          </a:prstGeom>
        </p:spPr>
        <p:txBody>
          <a:bodyPr wrap="square" lIns="0" tIns="0" rIns="0" bIns="0" rtlCol="0" anchor="t">
            <a:spAutoFit/>
          </a:bodyPr>
          <a:lstStyle/>
          <a:p>
            <a:pPr algn="ctr">
              <a:spcBef>
                <a:spcPct val="0"/>
              </a:spcBef>
            </a:pPr>
            <a:r>
              <a:rPr lang="en-US" sz="5400" b="1" dirty="0">
                <a:solidFill>
                  <a:schemeClr val="bg1">
                    <a:lumMod val="75000"/>
                  </a:schemeClr>
                </a:solidFill>
                <a:latin typeface="Poppins Bold"/>
                <a:ea typeface="Poppins Bold"/>
                <a:cs typeface="Poppins Bold"/>
                <a:sym typeface="Poppins Bold"/>
              </a:rPr>
              <a:t>+</a:t>
            </a:r>
          </a:p>
        </p:txBody>
      </p:sp>
      <p:sp>
        <p:nvSpPr>
          <p:cNvPr id="19" name="TextBox 28">
            <a:extLst>
              <a:ext uri="{FF2B5EF4-FFF2-40B4-BE49-F238E27FC236}">
                <a16:creationId xmlns:a16="http://schemas.microsoft.com/office/drawing/2014/main" id="{05011ACB-A82E-37CF-03BE-AD0C3E1B8B8F}"/>
              </a:ext>
            </a:extLst>
          </p:cNvPr>
          <p:cNvSpPr txBox="1"/>
          <p:nvPr/>
        </p:nvSpPr>
        <p:spPr>
          <a:xfrm>
            <a:off x="7889682" y="5917348"/>
            <a:ext cx="8045992" cy="830997"/>
          </a:xfrm>
          <a:prstGeom prst="rect">
            <a:avLst/>
          </a:prstGeom>
        </p:spPr>
        <p:txBody>
          <a:bodyPr wrap="square" lIns="0" tIns="0" rIns="0" bIns="0" rtlCol="0" anchor="t">
            <a:spAutoFit/>
          </a:bodyPr>
          <a:lstStyle/>
          <a:p>
            <a:pPr algn="ctr">
              <a:spcBef>
                <a:spcPct val="0"/>
              </a:spcBef>
            </a:pPr>
            <a:r>
              <a:rPr lang="en-US" sz="5400" b="1" dirty="0">
                <a:solidFill>
                  <a:schemeClr val="bg1">
                    <a:lumMod val="75000"/>
                  </a:schemeClr>
                </a:solidFill>
                <a:latin typeface="Poppins Bold"/>
                <a:ea typeface="Poppins Bold"/>
                <a:cs typeface="Poppins Bold"/>
                <a:sym typeface="Poppins Bold"/>
              </a:rPr>
              <a:t>||</a:t>
            </a:r>
          </a:p>
        </p:txBody>
      </p:sp>
      <p:sp>
        <p:nvSpPr>
          <p:cNvPr id="3" name="Freeform 9">
            <a:extLst>
              <a:ext uri="{FF2B5EF4-FFF2-40B4-BE49-F238E27FC236}">
                <a16:creationId xmlns:a16="http://schemas.microsoft.com/office/drawing/2014/main" id="{EBAF81AC-8AE0-EA7F-C1AE-46AC68D013AF}"/>
              </a:ext>
            </a:extLst>
          </p:cNvPr>
          <p:cNvSpPr/>
          <p:nvPr/>
        </p:nvSpPr>
        <p:spPr>
          <a:xfrm>
            <a:off x="1134243" y="1855483"/>
            <a:ext cx="6420639" cy="6356958"/>
          </a:xfrm>
          <a:custGeom>
            <a:avLst/>
            <a:gdLst/>
            <a:ahLst/>
            <a:cxnLst/>
            <a:rect l="l" t="t" r="r" b="b"/>
            <a:pathLst>
              <a:path w="6420639" h="6356958">
                <a:moveTo>
                  <a:pt x="0" y="0"/>
                </a:moveTo>
                <a:lnTo>
                  <a:pt x="6420638" y="0"/>
                </a:lnTo>
                <a:lnTo>
                  <a:pt x="6420638" y="6356958"/>
                </a:lnTo>
                <a:lnTo>
                  <a:pt x="0" y="6356958"/>
                </a:lnTo>
                <a:lnTo>
                  <a:pt x="0" y="0"/>
                </a:lnTo>
                <a:close/>
              </a:path>
            </a:pathLst>
          </a:custGeom>
          <a:blipFill>
            <a:blip r:embed="rId3"/>
            <a:stretch>
              <a:fillRect l="-33206" r="-42808"/>
            </a:stretch>
          </a:blipFill>
        </p:spPr>
        <p:txBody>
          <a:bodyPr/>
          <a:lstStyle/>
          <a:p>
            <a:endParaRPr lang="zh-CN" altLang="en-US"/>
          </a:p>
        </p:txBody>
      </p:sp>
    </p:spTree>
    <p:extLst>
      <p:ext uri="{BB962C8B-B14F-4D97-AF65-F5344CB8AC3E}">
        <p14:creationId xmlns:p14="http://schemas.microsoft.com/office/powerpoint/2010/main" val="8671588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23EAE-7392-3269-A5FA-CC37AB41A0C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60E7928-A9B0-3CFF-87F5-5DCD7E26E564}"/>
              </a:ext>
            </a:extLst>
          </p:cNvPr>
          <p:cNvSpPr>
            <a:spLocks noGrp="1" noRot="1" noMove="1" noResize="1" noEditPoints="1" noAdjustHandles="1" noChangeArrowheads="1" noChangeShapeType="1"/>
          </p:cNvSpPr>
          <p:nvPr/>
        </p:nvSpPr>
        <p:spPr>
          <a:xfrm>
            <a:off x="0" y="0"/>
            <a:ext cx="18288000" cy="1062990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dirty="0"/>
          </a:p>
        </p:txBody>
      </p:sp>
      <p:grpSp>
        <p:nvGrpSpPr>
          <p:cNvPr id="4" name="Group 4">
            <a:extLst>
              <a:ext uri="{FF2B5EF4-FFF2-40B4-BE49-F238E27FC236}">
                <a16:creationId xmlns:a16="http://schemas.microsoft.com/office/drawing/2014/main" id="{D8ACE1B0-2934-1367-38C1-25B0EF403081}"/>
              </a:ext>
            </a:extLst>
          </p:cNvPr>
          <p:cNvGrpSpPr/>
          <p:nvPr/>
        </p:nvGrpSpPr>
        <p:grpSpPr>
          <a:xfrm rot="5400000">
            <a:off x="-1543050" y="4057749"/>
            <a:ext cx="3086100" cy="2171499"/>
            <a:chOff x="0" y="0"/>
            <a:chExt cx="812800" cy="571917"/>
          </a:xfrm>
        </p:grpSpPr>
        <p:sp>
          <p:nvSpPr>
            <p:cNvPr id="5" name="Freeform 5">
              <a:extLst>
                <a:ext uri="{FF2B5EF4-FFF2-40B4-BE49-F238E27FC236}">
                  <a16:creationId xmlns:a16="http://schemas.microsoft.com/office/drawing/2014/main" id="{D3BAC49F-149E-B38F-DBA7-B508B18BEC71}"/>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6" name="TextBox 6">
              <a:extLst>
                <a:ext uri="{FF2B5EF4-FFF2-40B4-BE49-F238E27FC236}">
                  <a16:creationId xmlns:a16="http://schemas.microsoft.com/office/drawing/2014/main" id="{2216C3DD-B0E2-460B-68A9-A63ACB1E3229}"/>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684ECE64-0D19-FA85-97B0-B2D9D9168128}"/>
              </a:ext>
            </a:extLst>
          </p:cNvPr>
          <p:cNvGrpSpPr/>
          <p:nvPr/>
        </p:nvGrpSpPr>
        <p:grpSpPr>
          <a:xfrm rot="16200000">
            <a:off x="16699267" y="4057749"/>
            <a:ext cx="3086100" cy="2171499"/>
            <a:chOff x="0" y="0"/>
            <a:chExt cx="812800" cy="571917"/>
          </a:xfrm>
        </p:grpSpPr>
        <p:sp>
          <p:nvSpPr>
            <p:cNvPr id="10" name="Freeform 10">
              <a:extLst>
                <a:ext uri="{FF2B5EF4-FFF2-40B4-BE49-F238E27FC236}">
                  <a16:creationId xmlns:a16="http://schemas.microsoft.com/office/drawing/2014/main" id="{88F07C20-3354-73B2-3087-80B0A029AAAB}"/>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11" name="TextBox 11">
              <a:extLst>
                <a:ext uri="{FF2B5EF4-FFF2-40B4-BE49-F238E27FC236}">
                  <a16:creationId xmlns:a16="http://schemas.microsoft.com/office/drawing/2014/main" id="{B7875EA4-7CFE-BF62-4F38-20C4BAA82619}"/>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7" name="TextBox 7">
            <a:extLst>
              <a:ext uri="{FF2B5EF4-FFF2-40B4-BE49-F238E27FC236}">
                <a16:creationId xmlns:a16="http://schemas.microsoft.com/office/drawing/2014/main" id="{0390C089-4548-D865-E363-4370710B70A1}"/>
              </a:ext>
            </a:extLst>
          </p:cNvPr>
          <p:cNvSpPr txBox="1"/>
          <p:nvPr/>
        </p:nvSpPr>
        <p:spPr>
          <a:xfrm>
            <a:off x="-3962400" y="896130"/>
            <a:ext cx="14945093" cy="904094"/>
          </a:xfrm>
          <a:prstGeom prst="rect">
            <a:avLst/>
          </a:prstGeom>
        </p:spPr>
        <p:txBody>
          <a:bodyPr lIns="0" tIns="0" rIns="0" bIns="0" rtlCol="0" anchor="t">
            <a:spAutoFit/>
          </a:bodyPr>
          <a:lstStyle/>
          <a:p>
            <a:pPr algn="ctr">
              <a:lnSpc>
                <a:spcPts val="7424"/>
              </a:lnSpc>
            </a:pPr>
            <a:r>
              <a:rPr lang="en-US" sz="5400" b="1" dirty="0">
                <a:solidFill>
                  <a:srgbClr val="004AAD"/>
                </a:solidFill>
                <a:latin typeface="Roboto Bold"/>
                <a:ea typeface="Roboto Bold"/>
                <a:cs typeface="Roboto Bold"/>
                <a:sym typeface="Roboto Bold"/>
              </a:rPr>
              <a:t>Methodology</a:t>
            </a:r>
          </a:p>
        </p:txBody>
      </p:sp>
      <p:sp>
        <p:nvSpPr>
          <p:cNvPr id="14" name="TextBox 13">
            <a:extLst>
              <a:ext uri="{FF2B5EF4-FFF2-40B4-BE49-F238E27FC236}">
                <a16:creationId xmlns:a16="http://schemas.microsoft.com/office/drawing/2014/main" id="{54F7996C-7D8F-DAB2-DC8A-0735E9C923DD}"/>
              </a:ext>
            </a:extLst>
          </p:cNvPr>
          <p:cNvSpPr txBox="1"/>
          <p:nvPr/>
        </p:nvSpPr>
        <p:spPr>
          <a:xfrm>
            <a:off x="1360138" y="8267700"/>
            <a:ext cx="11117381" cy="689291"/>
          </a:xfrm>
          <a:prstGeom prst="rect">
            <a:avLst/>
          </a:prstGeom>
        </p:spPr>
        <p:txBody>
          <a:bodyPr lIns="0" tIns="0" rIns="0" bIns="0" rtlCol="0" anchor="t">
            <a:spAutoFit/>
          </a:bodyPr>
          <a:lstStyle/>
          <a:p>
            <a:pPr algn="just">
              <a:lnSpc>
                <a:spcPts val="5676"/>
              </a:lnSpc>
            </a:pPr>
            <a:r>
              <a:rPr lang="en-US" sz="3600" b="1" dirty="0">
                <a:solidFill>
                  <a:srgbClr val="004AAD"/>
                </a:solidFill>
                <a:latin typeface="Roboto Bold"/>
                <a:ea typeface="Roboto Bold"/>
                <a:cs typeface="Roboto Bold"/>
                <a:sym typeface="Roboto Bold"/>
              </a:rPr>
              <a:t>The LLM Engine: </a:t>
            </a:r>
            <a:r>
              <a:rPr lang="en-US" sz="3600" dirty="0">
                <a:solidFill>
                  <a:srgbClr val="004AAD"/>
                </a:solidFill>
                <a:latin typeface="Roboto"/>
                <a:ea typeface="Roboto"/>
                <a:cs typeface="Roboto"/>
                <a:sym typeface="Roboto"/>
              </a:rPr>
              <a:t>DeepSeek - V 3.2</a:t>
            </a:r>
          </a:p>
        </p:txBody>
      </p:sp>
      <p:sp>
        <p:nvSpPr>
          <p:cNvPr id="15" name="TextBox 28">
            <a:extLst>
              <a:ext uri="{FF2B5EF4-FFF2-40B4-BE49-F238E27FC236}">
                <a16:creationId xmlns:a16="http://schemas.microsoft.com/office/drawing/2014/main" id="{FB53EA25-74ED-00B6-25A0-D8E7DC2E1C68}"/>
              </a:ext>
            </a:extLst>
          </p:cNvPr>
          <p:cNvSpPr txBox="1"/>
          <p:nvPr/>
        </p:nvSpPr>
        <p:spPr>
          <a:xfrm>
            <a:off x="7848202" y="2095500"/>
            <a:ext cx="8045992" cy="1661993"/>
          </a:xfrm>
          <a:prstGeom prst="rect">
            <a:avLst/>
          </a:prstGeom>
        </p:spPr>
        <p:txBody>
          <a:bodyPr wrap="square" lIns="0" tIns="0" rIns="0" bIns="0" rtlCol="0" anchor="t">
            <a:spAutoFit/>
          </a:bodyPr>
          <a:lstStyle/>
          <a:p>
            <a:pPr algn="ctr">
              <a:spcBef>
                <a:spcPct val="0"/>
              </a:spcBef>
            </a:pPr>
            <a:r>
              <a:rPr lang="en-US" sz="5400" b="1" dirty="0">
                <a:solidFill>
                  <a:schemeClr val="bg1">
                    <a:lumMod val="75000"/>
                  </a:schemeClr>
                </a:solidFill>
                <a:latin typeface="Poppins Bold"/>
                <a:ea typeface="Poppins Bold"/>
                <a:cs typeface="Poppins Bold"/>
                <a:sym typeface="Poppins Bold"/>
              </a:rPr>
              <a:t>Advanced Natural Language Processing</a:t>
            </a:r>
          </a:p>
        </p:txBody>
      </p:sp>
      <p:sp>
        <p:nvSpPr>
          <p:cNvPr id="16" name="TextBox 28">
            <a:extLst>
              <a:ext uri="{FF2B5EF4-FFF2-40B4-BE49-F238E27FC236}">
                <a16:creationId xmlns:a16="http://schemas.microsoft.com/office/drawing/2014/main" id="{6BA1405D-738E-AA6E-C580-7C023B87B61D}"/>
              </a:ext>
            </a:extLst>
          </p:cNvPr>
          <p:cNvSpPr txBox="1"/>
          <p:nvPr/>
        </p:nvSpPr>
        <p:spPr>
          <a:xfrm>
            <a:off x="7070399" y="7037805"/>
            <a:ext cx="9601598" cy="830997"/>
          </a:xfrm>
          <a:prstGeom prst="rect">
            <a:avLst/>
          </a:prstGeom>
        </p:spPr>
        <p:txBody>
          <a:bodyPr wrap="square" lIns="0" tIns="0" rIns="0" bIns="0" rtlCol="0" anchor="t">
            <a:spAutoFit/>
          </a:bodyPr>
          <a:lstStyle/>
          <a:p>
            <a:pPr algn="ctr">
              <a:spcBef>
                <a:spcPct val="0"/>
              </a:spcBef>
            </a:pPr>
            <a:r>
              <a:rPr lang="en-US" sz="5400" b="1" dirty="0">
                <a:solidFill>
                  <a:schemeClr val="bg1">
                    <a:lumMod val="75000"/>
                  </a:schemeClr>
                </a:solidFill>
                <a:latin typeface="Poppins Bold"/>
                <a:ea typeface="Poppins Bold"/>
                <a:cs typeface="Poppins Bold"/>
                <a:sym typeface="Poppins Bold"/>
              </a:rPr>
              <a:t>Decision Transparency</a:t>
            </a:r>
          </a:p>
        </p:txBody>
      </p:sp>
      <p:sp>
        <p:nvSpPr>
          <p:cNvPr id="17" name="TextBox 28">
            <a:extLst>
              <a:ext uri="{FF2B5EF4-FFF2-40B4-BE49-F238E27FC236}">
                <a16:creationId xmlns:a16="http://schemas.microsoft.com/office/drawing/2014/main" id="{00750BCD-608D-3FA1-8189-EE412EA9E133}"/>
              </a:ext>
            </a:extLst>
          </p:cNvPr>
          <p:cNvSpPr txBox="1"/>
          <p:nvPr/>
        </p:nvSpPr>
        <p:spPr>
          <a:xfrm>
            <a:off x="7803608" y="4796891"/>
            <a:ext cx="8045992" cy="830997"/>
          </a:xfrm>
          <a:prstGeom prst="rect">
            <a:avLst/>
          </a:prstGeom>
        </p:spPr>
        <p:txBody>
          <a:bodyPr wrap="square" lIns="0" tIns="0" rIns="0" bIns="0" rtlCol="0" anchor="t">
            <a:spAutoFit/>
          </a:bodyPr>
          <a:lstStyle/>
          <a:p>
            <a:pPr algn="ctr">
              <a:spcBef>
                <a:spcPct val="0"/>
              </a:spcBef>
            </a:pPr>
            <a:r>
              <a:rPr lang="en-US" sz="5400" b="1" dirty="0">
                <a:solidFill>
                  <a:srgbClr val="FF8100"/>
                </a:solidFill>
                <a:latin typeface="Poppins Bold"/>
                <a:ea typeface="Poppins Bold"/>
                <a:cs typeface="Poppins Bold"/>
                <a:sym typeface="Poppins Bold"/>
              </a:rPr>
              <a:t>Robust Reasoning</a:t>
            </a:r>
          </a:p>
        </p:txBody>
      </p:sp>
      <p:sp>
        <p:nvSpPr>
          <p:cNvPr id="18" name="TextBox 28">
            <a:extLst>
              <a:ext uri="{FF2B5EF4-FFF2-40B4-BE49-F238E27FC236}">
                <a16:creationId xmlns:a16="http://schemas.microsoft.com/office/drawing/2014/main" id="{46246495-3F6D-8DC9-35A8-FEC747A8AE65}"/>
              </a:ext>
            </a:extLst>
          </p:cNvPr>
          <p:cNvSpPr txBox="1"/>
          <p:nvPr/>
        </p:nvSpPr>
        <p:spPr>
          <a:xfrm>
            <a:off x="7834542" y="3871713"/>
            <a:ext cx="8045992" cy="830997"/>
          </a:xfrm>
          <a:prstGeom prst="rect">
            <a:avLst/>
          </a:prstGeom>
        </p:spPr>
        <p:txBody>
          <a:bodyPr wrap="square" lIns="0" tIns="0" rIns="0" bIns="0" rtlCol="0" anchor="t">
            <a:spAutoFit/>
          </a:bodyPr>
          <a:lstStyle/>
          <a:p>
            <a:pPr algn="ctr">
              <a:spcBef>
                <a:spcPct val="0"/>
              </a:spcBef>
            </a:pPr>
            <a:r>
              <a:rPr lang="en-US" sz="5400" b="1" dirty="0">
                <a:solidFill>
                  <a:schemeClr val="bg1">
                    <a:lumMod val="75000"/>
                  </a:schemeClr>
                </a:solidFill>
                <a:latin typeface="Poppins Bold"/>
                <a:ea typeface="Poppins Bold"/>
                <a:cs typeface="Poppins Bold"/>
                <a:sym typeface="Poppins Bold"/>
              </a:rPr>
              <a:t>+</a:t>
            </a:r>
          </a:p>
        </p:txBody>
      </p:sp>
      <p:sp>
        <p:nvSpPr>
          <p:cNvPr id="19" name="TextBox 28">
            <a:extLst>
              <a:ext uri="{FF2B5EF4-FFF2-40B4-BE49-F238E27FC236}">
                <a16:creationId xmlns:a16="http://schemas.microsoft.com/office/drawing/2014/main" id="{03789A44-0AF4-FA76-AEE6-748B03A879FA}"/>
              </a:ext>
            </a:extLst>
          </p:cNvPr>
          <p:cNvSpPr txBox="1"/>
          <p:nvPr/>
        </p:nvSpPr>
        <p:spPr>
          <a:xfrm>
            <a:off x="7889682" y="5917348"/>
            <a:ext cx="8045992" cy="830997"/>
          </a:xfrm>
          <a:prstGeom prst="rect">
            <a:avLst/>
          </a:prstGeom>
        </p:spPr>
        <p:txBody>
          <a:bodyPr wrap="square" lIns="0" tIns="0" rIns="0" bIns="0" rtlCol="0" anchor="t">
            <a:spAutoFit/>
          </a:bodyPr>
          <a:lstStyle/>
          <a:p>
            <a:pPr algn="ctr">
              <a:spcBef>
                <a:spcPct val="0"/>
              </a:spcBef>
            </a:pPr>
            <a:r>
              <a:rPr lang="en-US" sz="5400" b="1" dirty="0">
                <a:solidFill>
                  <a:schemeClr val="bg1">
                    <a:lumMod val="75000"/>
                  </a:schemeClr>
                </a:solidFill>
                <a:latin typeface="Poppins Bold"/>
                <a:ea typeface="Poppins Bold"/>
                <a:cs typeface="Poppins Bold"/>
                <a:sym typeface="Poppins Bold"/>
              </a:rPr>
              <a:t>||</a:t>
            </a:r>
          </a:p>
        </p:txBody>
      </p:sp>
      <p:sp>
        <p:nvSpPr>
          <p:cNvPr id="3" name="Freeform 9">
            <a:extLst>
              <a:ext uri="{FF2B5EF4-FFF2-40B4-BE49-F238E27FC236}">
                <a16:creationId xmlns:a16="http://schemas.microsoft.com/office/drawing/2014/main" id="{4FAC8012-861B-51D4-2ED9-FF759F414FE5}"/>
              </a:ext>
            </a:extLst>
          </p:cNvPr>
          <p:cNvSpPr/>
          <p:nvPr/>
        </p:nvSpPr>
        <p:spPr>
          <a:xfrm>
            <a:off x="1134243" y="1855483"/>
            <a:ext cx="6420639" cy="6356958"/>
          </a:xfrm>
          <a:custGeom>
            <a:avLst/>
            <a:gdLst/>
            <a:ahLst/>
            <a:cxnLst/>
            <a:rect l="l" t="t" r="r" b="b"/>
            <a:pathLst>
              <a:path w="6420639" h="6356958">
                <a:moveTo>
                  <a:pt x="0" y="0"/>
                </a:moveTo>
                <a:lnTo>
                  <a:pt x="6420638" y="0"/>
                </a:lnTo>
                <a:lnTo>
                  <a:pt x="6420638" y="6356958"/>
                </a:lnTo>
                <a:lnTo>
                  <a:pt x="0" y="6356958"/>
                </a:lnTo>
                <a:lnTo>
                  <a:pt x="0" y="0"/>
                </a:lnTo>
                <a:close/>
              </a:path>
            </a:pathLst>
          </a:custGeom>
          <a:blipFill>
            <a:blip r:embed="rId3"/>
            <a:stretch>
              <a:fillRect l="-33206" r="-42808"/>
            </a:stretch>
          </a:blipFill>
        </p:spPr>
        <p:txBody>
          <a:bodyPr/>
          <a:lstStyle/>
          <a:p>
            <a:endParaRPr lang="zh-CN" altLang="en-US"/>
          </a:p>
        </p:txBody>
      </p:sp>
    </p:spTree>
    <p:extLst>
      <p:ext uri="{BB962C8B-B14F-4D97-AF65-F5344CB8AC3E}">
        <p14:creationId xmlns:p14="http://schemas.microsoft.com/office/powerpoint/2010/main" val="16384897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9A5D5-1B44-646C-08DC-F093CBBB57B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5462302-8C70-212E-FE4C-4F12E1262055}"/>
              </a:ext>
            </a:extLst>
          </p:cNvPr>
          <p:cNvSpPr>
            <a:spLocks noGrp="1" noRot="1" noMove="1" noResize="1" noEditPoints="1" noAdjustHandles="1" noChangeArrowheads="1" noChangeShapeType="1"/>
          </p:cNvSpPr>
          <p:nvPr/>
        </p:nvSpPr>
        <p:spPr>
          <a:xfrm>
            <a:off x="0" y="0"/>
            <a:ext cx="18288000" cy="1062990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dirty="0"/>
          </a:p>
        </p:txBody>
      </p:sp>
      <p:grpSp>
        <p:nvGrpSpPr>
          <p:cNvPr id="4" name="Group 4">
            <a:extLst>
              <a:ext uri="{FF2B5EF4-FFF2-40B4-BE49-F238E27FC236}">
                <a16:creationId xmlns:a16="http://schemas.microsoft.com/office/drawing/2014/main" id="{2779854C-84D0-53CD-A545-A41D324BCC49}"/>
              </a:ext>
            </a:extLst>
          </p:cNvPr>
          <p:cNvGrpSpPr/>
          <p:nvPr/>
        </p:nvGrpSpPr>
        <p:grpSpPr>
          <a:xfrm rot="5400000">
            <a:off x="-1543050" y="4057749"/>
            <a:ext cx="3086100" cy="2171499"/>
            <a:chOff x="0" y="0"/>
            <a:chExt cx="812800" cy="571917"/>
          </a:xfrm>
        </p:grpSpPr>
        <p:sp>
          <p:nvSpPr>
            <p:cNvPr id="5" name="Freeform 5">
              <a:extLst>
                <a:ext uri="{FF2B5EF4-FFF2-40B4-BE49-F238E27FC236}">
                  <a16:creationId xmlns:a16="http://schemas.microsoft.com/office/drawing/2014/main" id="{C9115818-3BA4-83B0-36FF-FB01CE3AC91F}"/>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6" name="TextBox 6">
              <a:extLst>
                <a:ext uri="{FF2B5EF4-FFF2-40B4-BE49-F238E27FC236}">
                  <a16:creationId xmlns:a16="http://schemas.microsoft.com/office/drawing/2014/main" id="{E8FFC887-B6BF-3339-F4F9-28F6151FEF4D}"/>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496B1E4F-8885-CDC8-2251-EE3D6657309A}"/>
              </a:ext>
            </a:extLst>
          </p:cNvPr>
          <p:cNvGrpSpPr/>
          <p:nvPr/>
        </p:nvGrpSpPr>
        <p:grpSpPr>
          <a:xfrm rot="16200000">
            <a:off x="16699267" y="4057749"/>
            <a:ext cx="3086100" cy="2171499"/>
            <a:chOff x="0" y="0"/>
            <a:chExt cx="812800" cy="571917"/>
          </a:xfrm>
        </p:grpSpPr>
        <p:sp>
          <p:nvSpPr>
            <p:cNvPr id="10" name="Freeform 10">
              <a:extLst>
                <a:ext uri="{FF2B5EF4-FFF2-40B4-BE49-F238E27FC236}">
                  <a16:creationId xmlns:a16="http://schemas.microsoft.com/office/drawing/2014/main" id="{9880CBC5-2BBA-368F-964C-9AE93AFBA673}"/>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11" name="TextBox 11">
              <a:extLst>
                <a:ext uri="{FF2B5EF4-FFF2-40B4-BE49-F238E27FC236}">
                  <a16:creationId xmlns:a16="http://schemas.microsoft.com/office/drawing/2014/main" id="{F9F1FC70-AE6F-54DB-CA8E-2BF1B9A68DFE}"/>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7" name="TextBox 7">
            <a:extLst>
              <a:ext uri="{FF2B5EF4-FFF2-40B4-BE49-F238E27FC236}">
                <a16:creationId xmlns:a16="http://schemas.microsoft.com/office/drawing/2014/main" id="{4480C4D3-3FC6-5878-AFCD-76ABDE36D622}"/>
              </a:ext>
            </a:extLst>
          </p:cNvPr>
          <p:cNvSpPr txBox="1"/>
          <p:nvPr/>
        </p:nvSpPr>
        <p:spPr>
          <a:xfrm>
            <a:off x="-3962400" y="896130"/>
            <a:ext cx="14945093" cy="904094"/>
          </a:xfrm>
          <a:prstGeom prst="rect">
            <a:avLst/>
          </a:prstGeom>
        </p:spPr>
        <p:txBody>
          <a:bodyPr lIns="0" tIns="0" rIns="0" bIns="0" rtlCol="0" anchor="t">
            <a:spAutoFit/>
          </a:bodyPr>
          <a:lstStyle/>
          <a:p>
            <a:pPr algn="ctr">
              <a:lnSpc>
                <a:spcPts val="7424"/>
              </a:lnSpc>
            </a:pPr>
            <a:r>
              <a:rPr lang="en-US" sz="5400" b="1" dirty="0">
                <a:solidFill>
                  <a:srgbClr val="004AAD"/>
                </a:solidFill>
                <a:latin typeface="Roboto Bold"/>
                <a:ea typeface="Roboto Bold"/>
                <a:cs typeface="Roboto Bold"/>
                <a:sym typeface="Roboto Bold"/>
              </a:rPr>
              <a:t>Methodology</a:t>
            </a:r>
          </a:p>
        </p:txBody>
      </p:sp>
      <p:sp>
        <p:nvSpPr>
          <p:cNvPr id="14" name="TextBox 13">
            <a:extLst>
              <a:ext uri="{FF2B5EF4-FFF2-40B4-BE49-F238E27FC236}">
                <a16:creationId xmlns:a16="http://schemas.microsoft.com/office/drawing/2014/main" id="{BB0F64FA-8C70-39E0-99C2-7F246693200C}"/>
              </a:ext>
            </a:extLst>
          </p:cNvPr>
          <p:cNvSpPr txBox="1"/>
          <p:nvPr/>
        </p:nvSpPr>
        <p:spPr>
          <a:xfrm>
            <a:off x="1360138" y="8267700"/>
            <a:ext cx="11117381" cy="689291"/>
          </a:xfrm>
          <a:prstGeom prst="rect">
            <a:avLst/>
          </a:prstGeom>
        </p:spPr>
        <p:txBody>
          <a:bodyPr lIns="0" tIns="0" rIns="0" bIns="0" rtlCol="0" anchor="t">
            <a:spAutoFit/>
          </a:bodyPr>
          <a:lstStyle/>
          <a:p>
            <a:pPr algn="just">
              <a:lnSpc>
                <a:spcPts val="5676"/>
              </a:lnSpc>
            </a:pPr>
            <a:r>
              <a:rPr lang="en-US" sz="3600" b="1" dirty="0">
                <a:solidFill>
                  <a:srgbClr val="004AAD"/>
                </a:solidFill>
                <a:latin typeface="Roboto Bold"/>
                <a:ea typeface="Roboto Bold"/>
                <a:cs typeface="Roboto Bold"/>
                <a:sym typeface="Roboto Bold"/>
              </a:rPr>
              <a:t>The LLM Engine: </a:t>
            </a:r>
            <a:r>
              <a:rPr lang="en-US" sz="3600" dirty="0">
                <a:solidFill>
                  <a:srgbClr val="004AAD"/>
                </a:solidFill>
                <a:latin typeface="Roboto"/>
                <a:ea typeface="Roboto"/>
                <a:cs typeface="Roboto"/>
                <a:sym typeface="Roboto"/>
              </a:rPr>
              <a:t>DeepSeek - V 3.2</a:t>
            </a:r>
          </a:p>
        </p:txBody>
      </p:sp>
      <p:sp>
        <p:nvSpPr>
          <p:cNvPr id="15" name="TextBox 28">
            <a:extLst>
              <a:ext uri="{FF2B5EF4-FFF2-40B4-BE49-F238E27FC236}">
                <a16:creationId xmlns:a16="http://schemas.microsoft.com/office/drawing/2014/main" id="{1CA118BB-4E64-FD4C-F2E8-933AB0058810}"/>
              </a:ext>
            </a:extLst>
          </p:cNvPr>
          <p:cNvSpPr txBox="1"/>
          <p:nvPr/>
        </p:nvSpPr>
        <p:spPr>
          <a:xfrm>
            <a:off x="7848202" y="2095500"/>
            <a:ext cx="8045992" cy="1661993"/>
          </a:xfrm>
          <a:prstGeom prst="rect">
            <a:avLst/>
          </a:prstGeom>
        </p:spPr>
        <p:txBody>
          <a:bodyPr wrap="square" lIns="0" tIns="0" rIns="0" bIns="0" rtlCol="0" anchor="t">
            <a:spAutoFit/>
          </a:bodyPr>
          <a:lstStyle/>
          <a:p>
            <a:pPr algn="ctr">
              <a:spcBef>
                <a:spcPct val="0"/>
              </a:spcBef>
            </a:pPr>
            <a:r>
              <a:rPr lang="en-US" sz="5400" b="1" dirty="0">
                <a:solidFill>
                  <a:schemeClr val="bg1">
                    <a:lumMod val="75000"/>
                  </a:schemeClr>
                </a:solidFill>
                <a:latin typeface="Poppins Bold"/>
                <a:ea typeface="Poppins Bold"/>
                <a:cs typeface="Poppins Bold"/>
                <a:sym typeface="Poppins Bold"/>
              </a:rPr>
              <a:t>Advanced Natural Language Processing</a:t>
            </a:r>
          </a:p>
        </p:txBody>
      </p:sp>
      <p:sp>
        <p:nvSpPr>
          <p:cNvPr id="16" name="TextBox 28">
            <a:extLst>
              <a:ext uri="{FF2B5EF4-FFF2-40B4-BE49-F238E27FC236}">
                <a16:creationId xmlns:a16="http://schemas.microsoft.com/office/drawing/2014/main" id="{C079A6BC-FB27-7B33-022F-4F48215B29F6}"/>
              </a:ext>
            </a:extLst>
          </p:cNvPr>
          <p:cNvSpPr txBox="1"/>
          <p:nvPr/>
        </p:nvSpPr>
        <p:spPr>
          <a:xfrm>
            <a:off x="7070399" y="7037805"/>
            <a:ext cx="9601598" cy="830997"/>
          </a:xfrm>
          <a:prstGeom prst="rect">
            <a:avLst/>
          </a:prstGeom>
        </p:spPr>
        <p:txBody>
          <a:bodyPr wrap="square" lIns="0" tIns="0" rIns="0" bIns="0" rtlCol="0" anchor="t">
            <a:spAutoFit/>
          </a:bodyPr>
          <a:lstStyle/>
          <a:p>
            <a:pPr algn="ctr">
              <a:spcBef>
                <a:spcPct val="0"/>
              </a:spcBef>
            </a:pPr>
            <a:r>
              <a:rPr lang="en-US" sz="5400" b="1" dirty="0">
                <a:solidFill>
                  <a:srgbClr val="C00000"/>
                </a:solidFill>
                <a:latin typeface="Poppins Bold"/>
                <a:ea typeface="Poppins Bold"/>
                <a:cs typeface="Poppins Bold"/>
                <a:sym typeface="Poppins Bold"/>
              </a:rPr>
              <a:t>Decision Transparency</a:t>
            </a:r>
          </a:p>
        </p:txBody>
      </p:sp>
      <p:sp>
        <p:nvSpPr>
          <p:cNvPr id="17" name="TextBox 28">
            <a:extLst>
              <a:ext uri="{FF2B5EF4-FFF2-40B4-BE49-F238E27FC236}">
                <a16:creationId xmlns:a16="http://schemas.microsoft.com/office/drawing/2014/main" id="{D0B986AF-FC70-197E-7844-748DE7FA600E}"/>
              </a:ext>
            </a:extLst>
          </p:cNvPr>
          <p:cNvSpPr txBox="1"/>
          <p:nvPr/>
        </p:nvSpPr>
        <p:spPr>
          <a:xfrm>
            <a:off x="7803608" y="4796891"/>
            <a:ext cx="8045992" cy="830997"/>
          </a:xfrm>
          <a:prstGeom prst="rect">
            <a:avLst/>
          </a:prstGeom>
        </p:spPr>
        <p:txBody>
          <a:bodyPr wrap="square" lIns="0" tIns="0" rIns="0" bIns="0" rtlCol="0" anchor="t">
            <a:spAutoFit/>
          </a:bodyPr>
          <a:lstStyle/>
          <a:p>
            <a:pPr algn="ctr">
              <a:spcBef>
                <a:spcPct val="0"/>
              </a:spcBef>
            </a:pPr>
            <a:r>
              <a:rPr lang="en-US" sz="5400" b="1" dirty="0">
                <a:solidFill>
                  <a:schemeClr val="bg1">
                    <a:lumMod val="75000"/>
                  </a:schemeClr>
                </a:solidFill>
                <a:latin typeface="Poppins Bold"/>
                <a:ea typeface="Poppins Bold"/>
                <a:cs typeface="Poppins Bold"/>
                <a:sym typeface="Poppins Bold"/>
              </a:rPr>
              <a:t>Robust Reasoning</a:t>
            </a:r>
          </a:p>
        </p:txBody>
      </p:sp>
      <p:sp>
        <p:nvSpPr>
          <p:cNvPr id="18" name="TextBox 28">
            <a:extLst>
              <a:ext uri="{FF2B5EF4-FFF2-40B4-BE49-F238E27FC236}">
                <a16:creationId xmlns:a16="http://schemas.microsoft.com/office/drawing/2014/main" id="{D973BBCE-7967-227B-D472-B54E170974AD}"/>
              </a:ext>
            </a:extLst>
          </p:cNvPr>
          <p:cNvSpPr txBox="1"/>
          <p:nvPr/>
        </p:nvSpPr>
        <p:spPr>
          <a:xfrm>
            <a:off x="7834542" y="3871713"/>
            <a:ext cx="8045992" cy="830997"/>
          </a:xfrm>
          <a:prstGeom prst="rect">
            <a:avLst/>
          </a:prstGeom>
        </p:spPr>
        <p:txBody>
          <a:bodyPr wrap="square" lIns="0" tIns="0" rIns="0" bIns="0" rtlCol="0" anchor="t">
            <a:spAutoFit/>
          </a:bodyPr>
          <a:lstStyle/>
          <a:p>
            <a:pPr algn="ctr">
              <a:spcBef>
                <a:spcPct val="0"/>
              </a:spcBef>
            </a:pPr>
            <a:r>
              <a:rPr lang="en-US" sz="5400" b="1" dirty="0">
                <a:solidFill>
                  <a:schemeClr val="bg1">
                    <a:lumMod val="75000"/>
                  </a:schemeClr>
                </a:solidFill>
                <a:latin typeface="Poppins Bold"/>
                <a:ea typeface="Poppins Bold"/>
                <a:cs typeface="Poppins Bold"/>
                <a:sym typeface="Poppins Bold"/>
              </a:rPr>
              <a:t>+</a:t>
            </a:r>
          </a:p>
        </p:txBody>
      </p:sp>
      <p:sp>
        <p:nvSpPr>
          <p:cNvPr id="19" name="TextBox 28">
            <a:extLst>
              <a:ext uri="{FF2B5EF4-FFF2-40B4-BE49-F238E27FC236}">
                <a16:creationId xmlns:a16="http://schemas.microsoft.com/office/drawing/2014/main" id="{B473AD23-7D3B-CE0A-865F-F1EB45A429E0}"/>
              </a:ext>
            </a:extLst>
          </p:cNvPr>
          <p:cNvSpPr txBox="1"/>
          <p:nvPr/>
        </p:nvSpPr>
        <p:spPr>
          <a:xfrm>
            <a:off x="7889682" y="5917348"/>
            <a:ext cx="8045992" cy="830997"/>
          </a:xfrm>
          <a:prstGeom prst="rect">
            <a:avLst/>
          </a:prstGeom>
        </p:spPr>
        <p:txBody>
          <a:bodyPr wrap="square" lIns="0" tIns="0" rIns="0" bIns="0" rtlCol="0" anchor="t">
            <a:spAutoFit/>
          </a:bodyPr>
          <a:lstStyle/>
          <a:p>
            <a:pPr algn="ctr">
              <a:spcBef>
                <a:spcPct val="0"/>
              </a:spcBef>
            </a:pPr>
            <a:r>
              <a:rPr lang="en-US" sz="5400" b="1" dirty="0">
                <a:solidFill>
                  <a:schemeClr val="bg1">
                    <a:lumMod val="75000"/>
                  </a:schemeClr>
                </a:solidFill>
                <a:latin typeface="Poppins Bold"/>
                <a:ea typeface="Poppins Bold"/>
                <a:cs typeface="Poppins Bold"/>
                <a:sym typeface="Poppins Bold"/>
              </a:rPr>
              <a:t>||</a:t>
            </a:r>
          </a:p>
        </p:txBody>
      </p:sp>
      <p:pic>
        <p:nvPicPr>
          <p:cNvPr id="20" name="Picture 2" descr="Asset Management Careers: The Best Guide in 2026">
            <a:extLst>
              <a:ext uri="{FF2B5EF4-FFF2-40B4-BE49-F238E27FC236}">
                <a16:creationId xmlns:a16="http://schemas.microsoft.com/office/drawing/2014/main" id="{0B9ECD5A-AE53-26FB-C394-6CBB7DA998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6159" y="-7810500"/>
            <a:ext cx="12935682" cy="727632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8">
            <a:extLst>
              <a:ext uri="{FF2B5EF4-FFF2-40B4-BE49-F238E27FC236}">
                <a16:creationId xmlns:a16="http://schemas.microsoft.com/office/drawing/2014/main" id="{C7E8C5CF-665C-051D-3B4E-B8B8EAECBCF8}"/>
              </a:ext>
            </a:extLst>
          </p:cNvPr>
          <p:cNvSpPr txBox="1"/>
          <p:nvPr/>
        </p:nvSpPr>
        <p:spPr>
          <a:xfrm>
            <a:off x="3307044" y="11341775"/>
            <a:ext cx="11673911" cy="2031325"/>
          </a:xfrm>
          <a:prstGeom prst="rect">
            <a:avLst/>
          </a:prstGeom>
        </p:spPr>
        <p:txBody>
          <a:bodyPr wrap="square" lIns="0" tIns="0" rIns="0" bIns="0" rtlCol="0" anchor="t">
            <a:spAutoFit/>
          </a:bodyPr>
          <a:lstStyle/>
          <a:p>
            <a:pPr algn="ctr">
              <a:spcBef>
                <a:spcPct val="0"/>
              </a:spcBef>
            </a:pPr>
            <a:r>
              <a:rPr lang="en-US" sz="6600" b="1" dirty="0">
                <a:solidFill>
                  <a:srgbClr val="004AAD"/>
                </a:solidFill>
                <a:effectLst>
                  <a:glow rad="63500">
                    <a:schemeClr val="bg1">
                      <a:alpha val="40000"/>
                    </a:schemeClr>
                  </a:glow>
                  <a:outerShdw blurRad="50800" dist="38100" dir="2700000" algn="tl" rotWithShape="0">
                    <a:prstClr val="black">
                      <a:alpha val="40000"/>
                    </a:prstClr>
                  </a:outerShdw>
                </a:effectLst>
                <a:latin typeface="Poppins Bold"/>
                <a:ea typeface="Poppins Bold"/>
                <a:cs typeface="Poppins Bold"/>
                <a:sym typeface="Poppins Bold"/>
              </a:rPr>
              <a:t>Real World Asset </a:t>
            </a:r>
          </a:p>
          <a:p>
            <a:pPr algn="ctr">
              <a:spcBef>
                <a:spcPct val="0"/>
              </a:spcBef>
            </a:pPr>
            <a:r>
              <a:rPr lang="en-US" sz="6600" b="1" dirty="0">
                <a:solidFill>
                  <a:srgbClr val="004AAD"/>
                </a:solidFill>
                <a:effectLst>
                  <a:glow rad="63500">
                    <a:schemeClr val="bg1">
                      <a:alpha val="40000"/>
                    </a:schemeClr>
                  </a:glow>
                  <a:outerShdw blurRad="50800" dist="38100" dir="2700000" algn="tl" rotWithShape="0">
                    <a:prstClr val="black">
                      <a:alpha val="40000"/>
                    </a:prstClr>
                  </a:outerShdw>
                </a:effectLst>
                <a:latin typeface="Poppins Bold"/>
                <a:ea typeface="Poppins Bold"/>
                <a:cs typeface="Poppins Bold"/>
                <a:sym typeface="Poppins Bold"/>
              </a:rPr>
              <a:t>Management Team</a:t>
            </a:r>
          </a:p>
        </p:txBody>
      </p:sp>
      <p:sp>
        <p:nvSpPr>
          <p:cNvPr id="3" name="Freeform 9">
            <a:extLst>
              <a:ext uri="{FF2B5EF4-FFF2-40B4-BE49-F238E27FC236}">
                <a16:creationId xmlns:a16="http://schemas.microsoft.com/office/drawing/2014/main" id="{B79E20B1-C1FC-5C02-4149-F5E27F82B1D1}"/>
              </a:ext>
            </a:extLst>
          </p:cNvPr>
          <p:cNvSpPr/>
          <p:nvPr/>
        </p:nvSpPr>
        <p:spPr>
          <a:xfrm>
            <a:off x="1134243" y="1855483"/>
            <a:ext cx="6420639" cy="6356958"/>
          </a:xfrm>
          <a:custGeom>
            <a:avLst/>
            <a:gdLst/>
            <a:ahLst/>
            <a:cxnLst/>
            <a:rect l="l" t="t" r="r" b="b"/>
            <a:pathLst>
              <a:path w="6420639" h="6356958">
                <a:moveTo>
                  <a:pt x="0" y="0"/>
                </a:moveTo>
                <a:lnTo>
                  <a:pt x="6420638" y="0"/>
                </a:lnTo>
                <a:lnTo>
                  <a:pt x="6420638" y="6356958"/>
                </a:lnTo>
                <a:lnTo>
                  <a:pt x="0" y="6356958"/>
                </a:lnTo>
                <a:lnTo>
                  <a:pt x="0" y="0"/>
                </a:lnTo>
                <a:close/>
              </a:path>
            </a:pathLst>
          </a:custGeom>
          <a:blipFill>
            <a:blip r:embed="rId4"/>
            <a:stretch>
              <a:fillRect l="-33206" r="-42808"/>
            </a:stretch>
          </a:blipFill>
        </p:spPr>
        <p:txBody>
          <a:bodyPr/>
          <a:lstStyle/>
          <a:p>
            <a:endParaRPr lang="zh-CN" altLang="en-US"/>
          </a:p>
        </p:txBody>
      </p:sp>
    </p:spTree>
    <p:extLst>
      <p:ext uri="{BB962C8B-B14F-4D97-AF65-F5344CB8AC3E}">
        <p14:creationId xmlns:p14="http://schemas.microsoft.com/office/powerpoint/2010/main" val="18493300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5665E-43E8-7D10-2655-E78AAFF7546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59B0D03-1FC1-B909-CBD7-FDEEC9FA8261}"/>
              </a:ext>
            </a:extLst>
          </p:cNvPr>
          <p:cNvSpPr>
            <a:spLocks noGrp="1" noRot="1" noMove="1" noResize="1" noEditPoints="1" noAdjustHandles="1" noChangeArrowheads="1" noChangeShapeType="1"/>
          </p:cNvSpPr>
          <p:nvPr/>
        </p:nvSpPr>
        <p:spPr>
          <a:xfrm>
            <a:off x="0" y="0"/>
            <a:ext cx="18288000" cy="1062990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dirty="0"/>
          </a:p>
        </p:txBody>
      </p:sp>
      <p:grpSp>
        <p:nvGrpSpPr>
          <p:cNvPr id="4" name="Group 4">
            <a:extLst>
              <a:ext uri="{FF2B5EF4-FFF2-40B4-BE49-F238E27FC236}">
                <a16:creationId xmlns:a16="http://schemas.microsoft.com/office/drawing/2014/main" id="{64AD2CBB-F4AD-B381-5BD1-F69855CC0EBD}"/>
              </a:ext>
            </a:extLst>
          </p:cNvPr>
          <p:cNvGrpSpPr/>
          <p:nvPr/>
        </p:nvGrpSpPr>
        <p:grpSpPr>
          <a:xfrm rot="5400000">
            <a:off x="-1543050" y="4057749"/>
            <a:ext cx="3086100" cy="2171499"/>
            <a:chOff x="0" y="0"/>
            <a:chExt cx="812800" cy="571917"/>
          </a:xfrm>
        </p:grpSpPr>
        <p:sp>
          <p:nvSpPr>
            <p:cNvPr id="5" name="Freeform 5">
              <a:extLst>
                <a:ext uri="{FF2B5EF4-FFF2-40B4-BE49-F238E27FC236}">
                  <a16:creationId xmlns:a16="http://schemas.microsoft.com/office/drawing/2014/main" id="{168DE647-0E02-8570-EC23-8411484CE89D}"/>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6" name="TextBox 6">
              <a:extLst>
                <a:ext uri="{FF2B5EF4-FFF2-40B4-BE49-F238E27FC236}">
                  <a16:creationId xmlns:a16="http://schemas.microsoft.com/office/drawing/2014/main" id="{984CAEA9-2B09-44E6-D2FE-B02959B399A4}"/>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ABD2E63C-44B7-F1EC-8329-2E602C964FAB}"/>
              </a:ext>
            </a:extLst>
          </p:cNvPr>
          <p:cNvGrpSpPr/>
          <p:nvPr/>
        </p:nvGrpSpPr>
        <p:grpSpPr>
          <a:xfrm rot="16200000">
            <a:off x="16699267" y="4057749"/>
            <a:ext cx="3086100" cy="2171499"/>
            <a:chOff x="0" y="0"/>
            <a:chExt cx="812800" cy="571917"/>
          </a:xfrm>
        </p:grpSpPr>
        <p:sp>
          <p:nvSpPr>
            <p:cNvPr id="10" name="Freeform 10">
              <a:extLst>
                <a:ext uri="{FF2B5EF4-FFF2-40B4-BE49-F238E27FC236}">
                  <a16:creationId xmlns:a16="http://schemas.microsoft.com/office/drawing/2014/main" id="{F7B82B74-8834-C53E-76F3-D56C2826DDBD}"/>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11" name="TextBox 11">
              <a:extLst>
                <a:ext uri="{FF2B5EF4-FFF2-40B4-BE49-F238E27FC236}">
                  <a16:creationId xmlns:a16="http://schemas.microsoft.com/office/drawing/2014/main" id="{221F6E3C-1821-F050-28AA-1AC491C43069}"/>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7" name="TextBox 7">
            <a:extLst>
              <a:ext uri="{FF2B5EF4-FFF2-40B4-BE49-F238E27FC236}">
                <a16:creationId xmlns:a16="http://schemas.microsoft.com/office/drawing/2014/main" id="{E2C6E0C0-1048-4B84-6974-62AFF83DE426}"/>
              </a:ext>
            </a:extLst>
          </p:cNvPr>
          <p:cNvSpPr txBox="1"/>
          <p:nvPr/>
        </p:nvSpPr>
        <p:spPr>
          <a:xfrm>
            <a:off x="-3962400" y="896130"/>
            <a:ext cx="14945093" cy="904094"/>
          </a:xfrm>
          <a:prstGeom prst="rect">
            <a:avLst/>
          </a:prstGeom>
        </p:spPr>
        <p:txBody>
          <a:bodyPr lIns="0" tIns="0" rIns="0" bIns="0" rtlCol="0" anchor="t">
            <a:spAutoFit/>
          </a:bodyPr>
          <a:lstStyle/>
          <a:p>
            <a:pPr algn="ctr">
              <a:lnSpc>
                <a:spcPts val="7424"/>
              </a:lnSpc>
            </a:pPr>
            <a:r>
              <a:rPr lang="en-US" sz="5400" b="1" dirty="0">
                <a:solidFill>
                  <a:srgbClr val="004AAD"/>
                </a:solidFill>
                <a:latin typeface="Roboto Bold"/>
                <a:ea typeface="Roboto Bold"/>
                <a:cs typeface="Roboto Bold"/>
                <a:sym typeface="Roboto Bold"/>
              </a:rPr>
              <a:t>Methodology</a:t>
            </a:r>
          </a:p>
        </p:txBody>
      </p:sp>
      <p:sp>
        <p:nvSpPr>
          <p:cNvPr id="13" name="Freeform 9">
            <a:extLst>
              <a:ext uri="{FF2B5EF4-FFF2-40B4-BE49-F238E27FC236}">
                <a16:creationId xmlns:a16="http://schemas.microsoft.com/office/drawing/2014/main" id="{FEE9043E-5EF9-A84D-BA16-6BE10A22C7D8}"/>
              </a:ext>
            </a:extLst>
          </p:cNvPr>
          <p:cNvSpPr/>
          <p:nvPr/>
        </p:nvSpPr>
        <p:spPr>
          <a:xfrm>
            <a:off x="-6629400" y="2247900"/>
            <a:ext cx="4953398" cy="5740152"/>
          </a:xfrm>
          <a:custGeom>
            <a:avLst/>
            <a:gdLst/>
            <a:ahLst/>
            <a:cxnLst/>
            <a:rect l="l" t="t" r="r" b="b"/>
            <a:pathLst>
              <a:path w="6420639" h="6356958">
                <a:moveTo>
                  <a:pt x="0" y="0"/>
                </a:moveTo>
                <a:lnTo>
                  <a:pt x="6420638" y="0"/>
                </a:lnTo>
                <a:lnTo>
                  <a:pt x="6420638" y="6356958"/>
                </a:lnTo>
                <a:lnTo>
                  <a:pt x="0" y="6356958"/>
                </a:lnTo>
                <a:lnTo>
                  <a:pt x="0" y="0"/>
                </a:lnTo>
                <a:close/>
              </a:path>
            </a:pathLst>
          </a:custGeom>
          <a:blipFill>
            <a:blip/>
            <a:stretch>
              <a:fillRect l="-33206" r="-42808"/>
            </a:stretch>
          </a:blipFill>
        </p:spPr>
        <p:txBody>
          <a:bodyPr/>
          <a:lstStyle/>
          <a:p>
            <a:endParaRPr lang="zh-CN" altLang="en-US"/>
          </a:p>
        </p:txBody>
      </p:sp>
      <p:pic>
        <p:nvPicPr>
          <p:cNvPr id="28674" name="Picture 2" descr="Asset Management Careers: The Best Guide in 2026">
            <a:extLst>
              <a:ext uri="{FF2B5EF4-FFF2-40B4-BE49-F238E27FC236}">
                <a16:creationId xmlns:a16="http://schemas.microsoft.com/office/drawing/2014/main" id="{5D9A7FEF-3BA8-6644-25EC-97571032B501}"/>
              </a:ext>
            </a:extLst>
          </p:cNvPr>
          <p:cNvPicPr>
            <a:picLocks noChangeAspect="1" noChangeArrowheads="1"/>
          </p:cNvPicPr>
          <p:nvPr/>
        </p:nvPicPr>
        <p:blipFill>
          <a:blip r:embed="rId3">
            <a:alphaModFix amt="56000"/>
            <a:extLst>
              <a:ext uri="{28A0092B-C50C-407E-A947-70E740481C1C}">
                <a14:useLocalDpi xmlns:a14="http://schemas.microsoft.com/office/drawing/2010/main" val="0"/>
              </a:ext>
            </a:extLst>
          </a:blip>
          <a:srcRect/>
          <a:stretch>
            <a:fillRect/>
          </a:stretch>
        </p:blipFill>
        <p:spPr bwMode="auto">
          <a:xfrm>
            <a:off x="2676159" y="2207570"/>
            <a:ext cx="12935682" cy="727632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8">
            <a:extLst>
              <a:ext uri="{FF2B5EF4-FFF2-40B4-BE49-F238E27FC236}">
                <a16:creationId xmlns:a16="http://schemas.microsoft.com/office/drawing/2014/main" id="{0C669E65-4A26-3296-3E06-8F0E72436B1D}"/>
              </a:ext>
            </a:extLst>
          </p:cNvPr>
          <p:cNvSpPr txBox="1"/>
          <p:nvPr/>
        </p:nvSpPr>
        <p:spPr>
          <a:xfrm>
            <a:off x="3307044" y="4299288"/>
            <a:ext cx="11673911" cy="2031325"/>
          </a:xfrm>
          <a:prstGeom prst="rect">
            <a:avLst/>
          </a:prstGeom>
        </p:spPr>
        <p:txBody>
          <a:bodyPr wrap="square" lIns="0" tIns="0" rIns="0" bIns="0" rtlCol="0" anchor="t">
            <a:spAutoFit/>
          </a:bodyPr>
          <a:lstStyle/>
          <a:p>
            <a:pPr algn="ctr">
              <a:spcBef>
                <a:spcPct val="0"/>
              </a:spcBef>
            </a:pPr>
            <a:r>
              <a:rPr lang="en-US" sz="6600" b="1" dirty="0">
                <a:solidFill>
                  <a:srgbClr val="004AAD"/>
                </a:solidFill>
                <a:effectLst>
                  <a:glow rad="63500">
                    <a:schemeClr val="bg1">
                      <a:alpha val="40000"/>
                    </a:schemeClr>
                  </a:glow>
                  <a:outerShdw blurRad="50800" dist="38100" dir="2700000" algn="tl" rotWithShape="0">
                    <a:prstClr val="black">
                      <a:alpha val="40000"/>
                    </a:prstClr>
                  </a:outerShdw>
                </a:effectLst>
                <a:latin typeface="Poppins Bold"/>
                <a:ea typeface="Poppins Bold"/>
                <a:cs typeface="Poppins Bold"/>
                <a:sym typeface="Poppins Bold"/>
              </a:rPr>
              <a:t>Real World Asset </a:t>
            </a:r>
          </a:p>
          <a:p>
            <a:pPr algn="ctr">
              <a:spcBef>
                <a:spcPct val="0"/>
              </a:spcBef>
            </a:pPr>
            <a:r>
              <a:rPr lang="en-US" sz="6600" b="1" dirty="0">
                <a:solidFill>
                  <a:srgbClr val="004AAD"/>
                </a:solidFill>
                <a:effectLst>
                  <a:glow rad="63500">
                    <a:schemeClr val="bg1">
                      <a:alpha val="40000"/>
                    </a:schemeClr>
                  </a:glow>
                  <a:outerShdw blurRad="50800" dist="38100" dir="2700000" algn="tl" rotWithShape="0">
                    <a:prstClr val="black">
                      <a:alpha val="40000"/>
                    </a:prstClr>
                  </a:outerShdw>
                </a:effectLst>
                <a:latin typeface="Poppins Bold"/>
                <a:ea typeface="Poppins Bold"/>
                <a:cs typeface="Poppins Bold"/>
                <a:sym typeface="Poppins Bold"/>
              </a:rPr>
              <a:t>Management Team</a:t>
            </a:r>
          </a:p>
        </p:txBody>
      </p:sp>
      <p:sp>
        <p:nvSpPr>
          <p:cNvPr id="8" name="Freeform 12">
            <a:extLst>
              <a:ext uri="{FF2B5EF4-FFF2-40B4-BE49-F238E27FC236}">
                <a16:creationId xmlns:a16="http://schemas.microsoft.com/office/drawing/2014/main" id="{66072A8E-0C9F-A90D-0CA7-FB86BD141B7F}"/>
              </a:ext>
            </a:extLst>
          </p:cNvPr>
          <p:cNvSpPr/>
          <p:nvPr/>
        </p:nvSpPr>
        <p:spPr>
          <a:xfrm>
            <a:off x="0" y="11515184"/>
            <a:ext cx="18288000" cy="4982116"/>
          </a:xfrm>
          <a:custGeom>
            <a:avLst/>
            <a:gdLst/>
            <a:ahLst/>
            <a:cxnLst/>
            <a:rect l="l" t="t" r="r" b="b"/>
            <a:pathLst>
              <a:path w="18229098" h="4982116">
                <a:moveTo>
                  <a:pt x="0" y="0"/>
                </a:moveTo>
                <a:lnTo>
                  <a:pt x="18229098" y="0"/>
                </a:lnTo>
                <a:lnTo>
                  <a:pt x="18229098" y="4982115"/>
                </a:lnTo>
                <a:lnTo>
                  <a:pt x="0" y="4982115"/>
                </a:lnTo>
                <a:lnTo>
                  <a:pt x="0" y="0"/>
                </a:lnTo>
                <a:close/>
              </a:path>
            </a:pathLst>
          </a:custGeom>
          <a:blipFill>
            <a:blip/>
            <a:stretch>
              <a:fillRect l="-3022" t="-11430" b="-10606"/>
            </a:stretch>
          </a:blipFill>
        </p:spPr>
        <p:txBody>
          <a:bodyPr/>
          <a:lstStyle/>
          <a:p>
            <a:endParaRPr lang="zh-CN" altLang="en-US"/>
          </a:p>
        </p:txBody>
      </p:sp>
    </p:spTree>
    <p:extLst>
      <p:ext uri="{BB962C8B-B14F-4D97-AF65-F5344CB8AC3E}">
        <p14:creationId xmlns:p14="http://schemas.microsoft.com/office/powerpoint/2010/main" val="17305992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43255-5410-AF56-ECAE-93EF91761BB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4D53865-C55C-F684-E806-FE9D3612159D}"/>
              </a:ext>
            </a:extLst>
          </p:cNvPr>
          <p:cNvSpPr>
            <a:spLocks noGrp="1" noRot="1" noMove="1" noResize="1" noEditPoints="1" noAdjustHandles="1" noChangeArrowheads="1" noChangeShapeType="1"/>
          </p:cNvSpPr>
          <p:nvPr/>
        </p:nvSpPr>
        <p:spPr>
          <a:xfrm>
            <a:off x="0" y="0"/>
            <a:ext cx="18288000" cy="1062990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grpSp>
        <p:nvGrpSpPr>
          <p:cNvPr id="4" name="Group 4">
            <a:extLst>
              <a:ext uri="{FF2B5EF4-FFF2-40B4-BE49-F238E27FC236}">
                <a16:creationId xmlns:a16="http://schemas.microsoft.com/office/drawing/2014/main" id="{F542A293-A726-90FD-B155-F86E3089D77C}"/>
              </a:ext>
            </a:extLst>
          </p:cNvPr>
          <p:cNvGrpSpPr/>
          <p:nvPr/>
        </p:nvGrpSpPr>
        <p:grpSpPr>
          <a:xfrm rot="5400000">
            <a:off x="-3048100" y="4057749"/>
            <a:ext cx="3086100" cy="2171499"/>
            <a:chOff x="0" y="0"/>
            <a:chExt cx="812800" cy="571917"/>
          </a:xfrm>
        </p:grpSpPr>
        <p:sp>
          <p:nvSpPr>
            <p:cNvPr id="5" name="Freeform 5">
              <a:extLst>
                <a:ext uri="{FF2B5EF4-FFF2-40B4-BE49-F238E27FC236}">
                  <a16:creationId xmlns:a16="http://schemas.microsoft.com/office/drawing/2014/main" id="{B76F5668-81C9-E1D0-E629-3E3EDCA3ACCC}"/>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6" name="TextBox 6">
              <a:extLst>
                <a:ext uri="{FF2B5EF4-FFF2-40B4-BE49-F238E27FC236}">
                  <a16:creationId xmlns:a16="http://schemas.microsoft.com/office/drawing/2014/main" id="{64A444A8-218E-2B54-0E4C-075DC3F66090}"/>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4B7BDC96-5B68-AD61-7EAD-DF3E48D266E4}"/>
              </a:ext>
            </a:extLst>
          </p:cNvPr>
          <p:cNvGrpSpPr/>
          <p:nvPr/>
        </p:nvGrpSpPr>
        <p:grpSpPr>
          <a:xfrm rot="16200000">
            <a:off x="18250000" y="4057749"/>
            <a:ext cx="3086100" cy="2171499"/>
            <a:chOff x="0" y="0"/>
            <a:chExt cx="812800" cy="571917"/>
          </a:xfrm>
        </p:grpSpPr>
        <p:sp>
          <p:nvSpPr>
            <p:cNvPr id="10" name="Freeform 10">
              <a:extLst>
                <a:ext uri="{FF2B5EF4-FFF2-40B4-BE49-F238E27FC236}">
                  <a16:creationId xmlns:a16="http://schemas.microsoft.com/office/drawing/2014/main" id="{85FC314A-6DA9-F399-1223-580872AD855C}"/>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11" name="TextBox 11">
              <a:extLst>
                <a:ext uri="{FF2B5EF4-FFF2-40B4-BE49-F238E27FC236}">
                  <a16:creationId xmlns:a16="http://schemas.microsoft.com/office/drawing/2014/main" id="{E64B0829-098C-7C39-39DE-4B2524F4AD21}"/>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pic>
        <p:nvPicPr>
          <p:cNvPr id="13" name="Picture 2" descr="Asset Management Careers: The Best Guide in 2026">
            <a:extLst>
              <a:ext uri="{FF2B5EF4-FFF2-40B4-BE49-F238E27FC236}">
                <a16:creationId xmlns:a16="http://schemas.microsoft.com/office/drawing/2014/main" id="{A36F2C92-1523-F455-6D35-93F5CA6C3A7A}"/>
              </a:ext>
            </a:extLst>
          </p:cNvPr>
          <p:cNvPicPr>
            <a:picLocks noChangeAspect="1" noChangeArrowheads="1"/>
          </p:cNvPicPr>
          <p:nvPr/>
        </p:nvPicPr>
        <p:blipFill>
          <a:blip r:embed="rId3">
            <a:alphaModFix amt="56000"/>
            <a:extLst>
              <a:ext uri="{28A0092B-C50C-407E-A947-70E740481C1C}">
                <a14:useLocalDpi xmlns:a14="http://schemas.microsoft.com/office/drawing/2010/main" val="0"/>
              </a:ext>
            </a:extLst>
          </a:blip>
          <a:srcRect/>
          <a:stretch>
            <a:fillRect/>
          </a:stretch>
        </p:blipFill>
        <p:spPr bwMode="auto">
          <a:xfrm>
            <a:off x="2676159" y="-8267700"/>
            <a:ext cx="12935682" cy="727632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7">
            <a:extLst>
              <a:ext uri="{FF2B5EF4-FFF2-40B4-BE49-F238E27FC236}">
                <a16:creationId xmlns:a16="http://schemas.microsoft.com/office/drawing/2014/main" id="{F2C95E23-51AB-FDA1-5A65-FE5C93747375}"/>
              </a:ext>
            </a:extLst>
          </p:cNvPr>
          <p:cNvSpPr txBox="1"/>
          <p:nvPr/>
        </p:nvSpPr>
        <p:spPr>
          <a:xfrm>
            <a:off x="-3962400" y="896130"/>
            <a:ext cx="14945093" cy="904094"/>
          </a:xfrm>
          <a:prstGeom prst="rect">
            <a:avLst/>
          </a:prstGeom>
        </p:spPr>
        <p:txBody>
          <a:bodyPr lIns="0" tIns="0" rIns="0" bIns="0" rtlCol="0" anchor="t">
            <a:spAutoFit/>
          </a:bodyPr>
          <a:lstStyle/>
          <a:p>
            <a:pPr algn="ctr">
              <a:lnSpc>
                <a:spcPts val="7424"/>
              </a:lnSpc>
            </a:pPr>
            <a:r>
              <a:rPr lang="en-US" sz="5400" b="1" dirty="0">
                <a:solidFill>
                  <a:srgbClr val="004AAD"/>
                </a:solidFill>
                <a:latin typeface="Roboto Bold"/>
                <a:ea typeface="Roboto Bold"/>
                <a:cs typeface="Roboto Bold"/>
                <a:sym typeface="Roboto Bold"/>
              </a:rPr>
              <a:t>Methodology</a:t>
            </a:r>
          </a:p>
        </p:txBody>
      </p:sp>
      <p:sp>
        <p:nvSpPr>
          <p:cNvPr id="15" name="TextBox 28">
            <a:extLst>
              <a:ext uri="{FF2B5EF4-FFF2-40B4-BE49-F238E27FC236}">
                <a16:creationId xmlns:a16="http://schemas.microsoft.com/office/drawing/2014/main" id="{6A316347-6116-632B-D85E-192157E5797C}"/>
              </a:ext>
            </a:extLst>
          </p:cNvPr>
          <p:cNvSpPr txBox="1"/>
          <p:nvPr/>
        </p:nvSpPr>
        <p:spPr>
          <a:xfrm>
            <a:off x="1447800" y="1943100"/>
            <a:ext cx="14655243" cy="830997"/>
          </a:xfrm>
          <a:prstGeom prst="rect">
            <a:avLst/>
          </a:prstGeom>
        </p:spPr>
        <p:txBody>
          <a:bodyPr wrap="square" lIns="0" tIns="0" rIns="0" bIns="0" rtlCol="0" anchor="t">
            <a:spAutoFit/>
          </a:bodyPr>
          <a:lstStyle/>
          <a:p>
            <a:pPr>
              <a:spcBef>
                <a:spcPct val="0"/>
              </a:spcBef>
            </a:pPr>
            <a:r>
              <a:rPr lang="en-US" sz="5400" b="1" dirty="0">
                <a:solidFill>
                  <a:srgbClr val="004AAD"/>
                </a:solidFill>
                <a:effectLst>
                  <a:glow rad="63500">
                    <a:schemeClr val="bg1">
                      <a:alpha val="40000"/>
                    </a:schemeClr>
                  </a:glow>
                  <a:outerShdw blurRad="50800" dist="38100" dir="2700000" algn="tl" rotWithShape="0">
                    <a:prstClr val="black">
                      <a:alpha val="40000"/>
                    </a:prstClr>
                  </a:outerShdw>
                </a:effectLst>
                <a:latin typeface="Poppins Bold"/>
                <a:ea typeface="Poppins Bold"/>
                <a:cs typeface="Poppins Bold"/>
                <a:sym typeface="Poppins Bold"/>
              </a:rPr>
              <a:t>Multi Agent Asset Management Team</a:t>
            </a:r>
          </a:p>
        </p:txBody>
      </p:sp>
      <p:sp>
        <p:nvSpPr>
          <p:cNvPr id="7" name="Freeform 12">
            <a:extLst>
              <a:ext uri="{FF2B5EF4-FFF2-40B4-BE49-F238E27FC236}">
                <a16:creationId xmlns:a16="http://schemas.microsoft.com/office/drawing/2014/main" id="{DCBCAF34-39C1-32A6-F796-534C2E0839D9}"/>
              </a:ext>
            </a:extLst>
          </p:cNvPr>
          <p:cNvSpPr/>
          <p:nvPr/>
        </p:nvSpPr>
        <p:spPr>
          <a:xfrm>
            <a:off x="0" y="3550156"/>
            <a:ext cx="18288000" cy="4982116"/>
          </a:xfrm>
          <a:custGeom>
            <a:avLst/>
            <a:gdLst/>
            <a:ahLst/>
            <a:cxnLst/>
            <a:rect l="l" t="t" r="r" b="b"/>
            <a:pathLst>
              <a:path w="18229098" h="4982116">
                <a:moveTo>
                  <a:pt x="0" y="0"/>
                </a:moveTo>
                <a:lnTo>
                  <a:pt x="18229098" y="0"/>
                </a:lnTo>
                <a:lnTo>
                  <a:pt x="18229098" y="4982115"/>
                </a:lnTo>
                <a:lnTo>
                  <a:pt x="0" y="4982115"/>
                </a:lnTo>
                <a:lnTo>
                  <a:pt x="0" y="0"/>
                </a:lnTo>
                <a:close/>
              </a:path>
            </a:pathLst>
          </a:custGeom>
          <a:blipFill>
            <a:blip r:embed="rId4"/>
            <a:stretch>
              <a:fillRect l="-3022" t="-11430" b="-10606"/>
            </a:stretch>
          </a:blipFill>
        </p:spPr>
        <p:txBody>
          <a:bodyPr/>
          <a:lstStyle/>
          <a:p>
            <a:endParaRPr lang="zh-CN" altLang="en-US"/>
          </a:p>
        </p:txBody>
      </p:sp>
    </p:spTree>
    <p:extLst>
      <p:ext uri="{BB962C8B-B14F-4D97-AF65-F5344CB8AC3E}">
        <p14:creationId xmlns:p14="http://schemas.microsoft.com/office/powerpoint/2010/main" val="21785282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31164-4EB8-970F-7F28-18E24AE8936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553B1F5-6DEB-F1CF-EAC7-527228325B9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sp>
        <p:nvSpPr>
          <p:cNvPr id="10" name="Freeform 10">
            <a:extLst>
              <a:ext uri="{FF2B5EF4-FFF2-40B4-BE49-F238E27FC236}">
                <a16:creationId xmlns:a16="http://schemas.microsoft.com/office/drawing/2014/main" id="{7FC3D1B8-0E88-00C6-082B-6FBDF5B5FCB6}"/>
              </a:ext>
            </a:extLst>
          </p:cNvPr>
          <p:cNvSpPr/>
          <p:nvPr/>
        </p:nvSpPr>
        <p:spPr>
          <a:xfrm flipV="1">
            <a:off x="-665111" y="-438255"/>
            <a:ext cx="19618218" cy="2973784"/>
          </a:xfrm>
          <a:custGeom>
            <a:avLst/>
            <a:gdLst/>
            <a:ahLst/>
            <a:cxnLst/>
            <a:rect l="l" t="t" r="r" b="b"/>
            <a:pathLst>
              <a:path w="3201675" h="22843">
                <a:moveTo>
                  <a:pt x="11421" y="0"/>
                </a:moveTo>
                <a:lnTo>
                  <a:pt x="3190253" y="0"/>
                </a:lnTo>
                <a:cubicBezTo>
                  <a:pt x="3193282" y="0"/>
                  <a:pt x="3196187" y="1203"/>
                  <a:pt x="3198329" y="3345"/>
                </a:cubicBezTo>
                <a:cubicBezTo>
                  <a:pt x="3200471" y="5487"/>
                  <a:pt x="3201675" y="8392"/>
                  <a:pt x="3201675" y="11421"/>
                </a:cubicBezTo>
                <a:lnTo>
                  <a:pt x="3201675" y="11421"/>
                </a:lnTo>
                <a:cubicBezTo>
                  <a:pt x="3201675" y="17729"/>
                  <a:pt x="3196561" y="22843"/>
                  <a:pt x="3190253" y="22843"/>
                </a:cubicBezTo>
                <a:lnTo>
                  <a:pt x="11421" y="22843"/>
                </a:lnTo>
                <a:cubicBezTo>
                  <a:pt x="5114" y="22843"/>
                  <a:pt x="0" y="17729"/>
                  <a:pt x="0" y="11421"/>
                </a:cubicBezTo>
                <a:lnTo>
                  <a:pt x="0" y="11421"/>
                </a:lnTo>
                <a:cubicBezTo>
                  <a:pt x="0" y="5114"/>
                  <a:pt x="5114" y="0"/>
                  <a:pt x="11421" y="0"/>
                </a:cubicBezTo>
                <a:close/>
              </a:path>
            </a:pathLst>
          </a:custGeom>
          <a:solidFill>
            <a:srgbClr val="004AAD"/>
          </a:solidFill>
        </p:spPr>
        <p:txBody>
          <a:bodyPr/>
          <a:lstStyle/>
          <a:p>
            <a:endParaRPr lang="zh-CN" altLang="en-US" dirty="0">
              <a:solidFill>
                <a:srgbClr val="004AAD"/>
              </a:solidFill>
            </a:endParaRPr>
          </a:p>
        </p:txBody>
      </p:sp>
      <p:sp>
        <p:nvSpPr>
          <p:cNvPr id="11" name="TextBox 11">
            <a:extLst>
              <a:ext uri="{FF2B5EF4-FFF2-40B4-BE49-F238E27FC236}">
                <a16:creationId xmlns:a16="http://schemas.microsoft.com/office/drawing/2014/main" id="{F22F61B5-1CAE-9B92-3780-D0579CAF40D7}"/>
              </a:ext>
            </a:extLst>
          </p:cNvPr>
          <p:cNvSpPr txBox="1"/>
          <p:nvPr/>
        </p:nvSpPr>
        <p:spPr>
          <a:xfrm>
            <a:off x="-665111" y="2354703"/>
            <a:ext cx="19618218" cy="267558"/>
          </a:xfrm>
          <a:prstGeom prst="rect">
            <a:avLst/>
          </a:prstGeom>
        </p:spPr>
        <p:txBody>
          <a:bodyPr lIns="50800" tIns="50800" rIns="50800" bIns="50800" rtlCol="0" anchor="ctr"/>
          <a:lstStyle/>
          <a:p>
            <a:pPr algn="ctr">
              <a:lnSpc>
                <a:spcPts val="2659"/>
              </a:lnSpc>
            </a:pPr>
            <a:endParaRPr/>
          </a:p>
        </p:txBody>
      </p:sp>
      <p:sp>
        <p:nvSpPr>
          <p:cNvPr id="17" name="TextBox 17">
            <a:extLst>
              <a:ext uri="{FF2B5EF4-FFF2-40B4-BE49-F238E27FC236}">
                <a16:creationId xmlns:a16="http://schemas.microsoft.com/office/drawing/2014/main" id="{070A65DF-CE10-F770-8CEF-C377374EA36D}"/>
              </a:ext>
            </a:extLst>
          </p:cNvPr>
          <p:cNvSpPr txBox="1"/>
          <p:nvPr/>
        </p:nvSpPr>
        <p:spPr>
          <a:xfrm>
            <a:off x="709411" y="620519"/>
            <a:ext cx="9903213" cy="815929"/>
          </a:xfrm>
          <a:prstGeom prst="rect">
            <a:avLst/>
          </a:prstGeom>
        </p:spPr>
        <p:txBody>
          <a:bodyPr lIns="0" tIns="0" rIns="0" bIns="0" rtlCol="0" anchor="t">
            <a:spAutoFit/>
          </a:bodyPr>
          <a:lstStyle/>
          <a:p>
            <a:pPr algn="l">
              <a:lnSpc>
                <a:spcPts val="6591"/>
              </a:lnSpc>
            </a:pPr>
            <a:r>
              <a:rPr lang="en-US" sz="4708" dirty="0">
                <a:solidFill>
                  <a:schemeClr val="bg1"/>
                </a:solidFill>
                <a:latin typeface="League Spartan"/>
                <a:ea typeface="League Spartan"/>
                <a:cs typeface="League Spartan"/>
                <a:sym typeface="League Spartan"/>
              </a:rPr>
              <a:t>Methodology</a:t>
            </a:r>
          </a:p>
        </p:txBody>
      </p:sp>
      <p:sp>
        <p:nvSpPr>
          <p:cNvPr id="18" name="TextBox 18">
            <a:extLst>
              <a:ext uri="{FF2B5EF4-FFF2-40B4-BE49-F238E27FC236}">
                <a16:creationId xmlns:a16="http://schemas.microsoft.com/office/drawing/2014/main" id="{4EFA159E-4F0C-6CE9-B89D-F1758EC9F5C3}"/>
              </a:ext>
            </a:extLst>
          </p:cNvPr>
          <p:cNvSpPr txBox="1"/>
          <p:nvPr/>
        </p:nvSpPr>
        <p:spPr>
          <a:xfrm>
            <a:off x="709411" y="1329600"/>
            <a:ext cx="10836898" cy="770217"/>
          </a:xfrm>
          <a:prstGeom prst="rect">
            <a:avLst/>
          </a:prstGeom>
        </p:spPr>
        <p:txBody>
          <a:bodyPr lIns="0" tIns="0" rIns="0" bIns="0" rtlCol="0" anchor="t">
            <a:spAutoFit/>
          </a:bodyPr>
          <a:lstStyle/>
          <a:p>
            <a:pPr algn="l">
              <a:lnSpc>
                <a:spcPts val="6372"/>
              </a:lnSpc>
            </a:pPr>
            <a:r>
              <a:rPr lang="en-US" sz="4551" dirty="0">
                <a:solidFill>
                  <a:schemeClr val="bg1"/>
                </a:solidFill>
                <a:latin typeface="Roboto"/>
                <a:ea typeface="Roboto"/>
                <a:cs typeface="Roboto"/>
                <a:sym typeface="Roboto"/>
              </a:rPr>
              <a:t>Multi Agent Roles</a:t>
            </a:r>
          </a:p>
        </p:txBody>
      </p:sp>
      <p:sp>
        <p:nvSpPr>
          <p:cNvPr id="3" name="Freeform 9">
            <a:extLst>
              <a:ext uri="{FF2B5EF4-FFF2-40B4-BE49-F238E27FC236}">
                <a16:creationId xmlns:a16="http://schemas.microsoft.com/office/drawing/2014/main" id="{F37010B6-1ABB-BC7B-7FE1-AF234A843DEF}"/>
              </a:ext>
            </a:extLst>
          </p:cNvPr>
          <p:cNvSpPr/>
          <p:nvPr/>
        </p:nvSpPr>
        <p:spPr>
          <a:xfrm>
            <a:off x="709411" y="2827115"/>
            <a:ext cx="12286383" cy="6972523"/>
          </a:xfrm>
          <a:custGeom>
            <a:avLst/>
            <a:gdLst/>
            <a:ahLst/>
            <a:cxnLst/>
            <a:rect l="l" t="t" r="r" b="b"/>
            <a:pathLst>
              <a:path w="12286383" h="6972523">
                <a:moveTo>
                  <a:pt x="0" y="0"/>
                </a:moveTo>
                <a:lnTo>
                  <a:pt x="12286383" y="0"/>
                </a:lnTo>
                <a:lnTo>
                  <a:pt x="12286383" y="6972522"/>
                </a:lnTo>
                <a:lnTo>
                  <a:pt x="0" y="6972522"/>
                </a:lnTo>
                <a:lnTo>
                  <a:pt x="0" y="0"/>
                </a:lnTo>
                <a:close/>
              </a:path>
            </a:pathLst>
          </a:custGeom>
          <a:blipFill>
            <a:blip/>
            <a:stretch>
              <a:fillRect/>
            </a:stretch>
          </a:blipFill>
        </p:spPr>
        <p:txBody>
          <a:bodyPr/>
          <a:lstStyle/>
          <a:p>
            <a:endParaRPr lang="zh-CN" altLang="en-US"/>
          </a:p>
        </p:txBody>
      </p:sp>
      <p:grpSp>
        <p:nvGrpSpPr>
          <p:cNvPr id="4" name="Group 13">
            <a:extLst>
              <a:ext uri="{FF2B5EF4-FFF2-40B4-BE49-F238E27FC236}">
                <a16:creationId xmlns:a16="http://schemas.microsoft.com/office/drawing/2014/main" id="{CEB4D0EA-76D2-3207-89D1-036853A86F5A}"/>
              </a:ext>
            </a:extLst>
          </p:cNvPr>
          <p:cNvGrpSpPr/>
          <p:nvPr/>
        </p:nvGrpSpPr>
        <p:grpSpPr>
          <a:xfrm rot="5400000">
            <a:off x="13595438" y="3334046"/>
            <a:ext cx="738926" cy="1599947"/>
            <a:chOff x="0" y="0"/>
            <a:chExt cx="431470" cy="934234"/>
          </a:xfrm>
        </p:grpSpPr>
        <p:sp>
          <p:nvSpPr>
            <p:cNvPr id="5" name="Freeform 14">
              <a:extLst>
                <a:ext uri="{FF2B5EF4-FFF2-40B4-BE49-F238E27FC236}">
                  <a16:creationId xmlns:a16="http://schemas.microsoft.com/office/drawing/2014/main" id="{EE4FAB83-2C23-5311-BF2A-5264E0D93A19}"/>
                </a:ext>
              </a:extLst>
            </p:cNvPr>
            <p:cNvSpPr/>
            <p:nvPr/>
          </p:nvSpPr>
          <p:spPr>
            <a:xfrm>
              <a:off x="0" y="0"/>
              <a:ext cx="431470" cy="934234"/>
            </a:xfrm>
            <a:custGeom>
              <a:avLst/>
              <a:gdLst/>
              <a:ahLst/>
              <a:cxnLst/>
              <a:rect l="l" t="t" r="r" b="b"/>
              <a:pathLst>
                <a:path w="431470" h="934234">
                  <a:moveTo>
                    <a:pt x="215735" y="0"/>
                  </a:moveTo>
                  <a:lnTo>
                    <a:pt x="431470" y="934234"/>
                  </a:lnTo>
                  <a:lnTo>
                    <a:pt x="0" y="934234"/>
                  </a:lnTo>
                  <a:lnTo>
                    <a:pt x="215735" y="0"/>
                  </a:lnTo>
                  <a:close/>
                </a:path>
              </a:pathLst>
            </a:custGeom>
            <a:solidFill>
              <a:srgbClr val="004AAD"/>
            </a:solidFill>
          </p:spPr>
          <p:txBody>
            <a:bodyPr/>
            <a:lstStyle/>
            <a:p>
              <a:endParaRPr lang="zh-CN" altLang="en-US"/>
            </a:p>
          </p:txBody>
        </p:sp>
        <p:sp>
          <p:nvSpPr>
            <p:cNvPr id="9" name="TextBox 15">
              <a:extLst>
                <a:ext uri="{FF2B5EF4-FFF2-40B4-BE49-F238E27FC236}">
                  <a16:creationId xmlns:a16="http://schemas.microsoft.com/office/drawing/2014/main" id="{E2F4FB34-35C2-4FA2-E75F-4220246CD104}"/>
                </a:ext>
              </a:extLst>
            </p:cNvPr>
            <p:cNvSpPr txBox="1"/>
            <p:nvPr/>
          </p:nvSpPr>
          <p:spPr>
            <a:xfrm>
              <a:off x="67417" y="386126"/>
              <a:ext cx="296636" cy="481376"/>
            </a:xfrm>
            <a:prstGeom prst="rect">
              <a:avLst/>
            </a:prstGeom>
          </p:spPr>
          <p:txBody>
            <a:bodyPr lIns="50800" tIns="50800" rIns="50800" bIns="50800" rtlCol="0" anchor="ctr"/>
            <a:lstStyle/>
            <a:p>
              <a:pPr algn="ctr">
                <a:lnSpc>
                  <a:spcPts val="2659"/>
                </a:lnSpc>
              </a:pPr>
              <a:endParaRPr/>
            </a:p>
          </p:txBody>
        </p:sp>
      </p:grpSp>
      <p:grpSp>
        <p:nvGrpSpPr>
          <p:cNvPr id="12" name="Group 16">
            <a:extLst>
              <a:ext uri="{FF2B5EF4-FFF2-40B4-BE49-F238E27FC236}">
                <a16:creationId xmlns:a16="http://schemas.microsoft.com/office/drawing/2014/main" id="{BFB61C4D-8F74-2B6F-B10A-B56A1B402773}"/>
              </a:ext>
            </a:extLst>
          </p:cNvPr>
          <p:cNvGrpSpPr/>
          <p:nvPr/>
        </p:nvGrpSpPr>
        <p:grpSpPr>
          <a:xfrm rot="5400000">
            <a:off x="13578160" y="4909400"/>
            <a:ext cx="773482" cy="1599947"/>
            <a:chOff x="0" y="0"/>
            <a:chExt cx="431470" cy="892496"/>
          </a:xfrm>
        </p:grpSpPr>
        <p:sp>
          <p:nvSpPr>
            <p:cNvPr id="14" name="Freeform 17">
              <a:extLst>
                <a:ext uri="{FF2B5EF4-FFF2-40B4-BE49-F238E27FC236}">
                  <a16:creationId xmlns:a16="http://schemas.microsoft.com/office/drawing/2014/main" id="{93B61DF8-20B6-E38A-5B87-E6331E6557E2}"/>
                </a:ext>
              </a:extLst>
            </p:cNvPr>
            <p:cNvSpPr/>
            <p:nvPr/>
          </p:nvSpPr>
          <p:spPr>
            <a:xfrm>
              <a:off x="0" y="0"/>
              <a:ext cx="431470" cy="892496"/>
            </a:xfrm>
            <a:custGeom>
              <a:avLst/>
              <a:gdLst/>
              <a:ahLst/>
              <a:cxnLst/>
              <a:rect l="l" t="t" r="r" b="b"/>
              <a:pathLst>
                <a:path w="431470" h="892496">
                  <a:moveTo>
                    <a:pt x="215735" y="0"/>
                  </a:moveTo>
                  <a:lnTo>
                    <a:pt x="431470" y="892496"/>
                  </a:lnTo>
                  <a:lnTo>
                    <a:pt x="0" y="892496"/>
                  </a:lnTo>
                  <a:lnTo>
                    <a:pt x="215735" y="0"/>
                  </a:lnTo>
                  <a:close/>
                </a:path>
              </a:pathLst>
            </a:custGeom>
            <a:solidFill>
              <a:srgbClr val="004AAD"/>
            </a:solidFill>
          </p:spPr>
          <p:txBody>
            <a:bodyPr/>
            <a:lstStyle/>
            <a:p>
              <a:endParaRPr lang="zh-CN" altLang="en-US"/>
            </a:p>
          </p:txBody>
        </p:sp>
        <p:sp>
          <p:nvSpPr>
            <p:cNvPr id="15" name="TextBox 18">
              <a:extLst>
                <a:ext uri="{FF2B5EF4-FFF2-40B4-BE49-F238E27FC236}">
                  <a16:creationId xmlns:a16="http://schemas.microsoft.com/office/drawing/2014/main" id="{DBA8292A-692E-59BE-1DCC-5D0A0066B9D2}"/>
                </a:ext>
              </a:extLst>
            </p:cNvPr>
            <p:cNvSpPr txBox="1"/>
            <p:nvPr/>
          </p:nvSpPr>
          <p:spPr>
            <a:xfrm>
              <a:off x="67417" y="366748"/>
              <a:ext cx="296636" cy="461998"/>
            </a:xfrm>
            <a:prstGeom prst="rect">
              <a:avLst/>
            </a:prstGeom>
          </p:spPr>
          <p:txBody>
            <a:bodyPr lIns="50800" tIns="50800" rIns="50800" bIns="50800" rtlCol="0" anchor="ctr"/>
            <a:lstStyle/>
            <a:p>
              <a:pPr algn="ctr">
                <a:lnSpc>
                  <a:spcPts val="2659"/>
                </a:lnSpc>
              </a:pPr>
              <a:endParaRPr/>
            </a:p>
          </p:txBody>
        </p:sp>
      </p:grpSp>
      <p:grpSp>
        <p:nvGrpSpPr>
          <p:cNvPr id="16" name="Group 19">
            <a:extLst>
              <a:ext uri="{FF2B5EF4-FFF2-40B4-BE49-F238E27FC236}">
                <a16:creationId xmlns:a16="http://schemas.microsoft.com/office/drawing/2014/main" id="{DE3B2A98-CEE4-7EC4-9BEE-B55C7DD755A1}"/>
              </a:ext>
            </a:extLst>
          </p:cNvPr>
          <p:cNvGrpSpPr/>
          <p:nvPr/>
        </p:nvGrpSpPr>
        <p:grpSpPr>
          <a:xfrm rot="5400000">
            <a:off x="13615417" y="6067012"/>
            <a:ext cx="774193" cy="1675172"/>
            <a:chOff x="0" y="0"/>
            <a:chExt cx="203903" cy="441198"/>
          </a:xfrm>
        </p:grpSpPr>
        <p:sp>
          <p:nvSpPr>
            <p:cNvPr id="19" name="Freeform 20">
              <a:extLst>
                <a:ext uri="{FF2B5EF4-FFF2-40B4-BE49-F238E27FC236}">
                  <a16:creationId xmlns:a16="http://schemas.microsoft.com/office/drawing/2014/main" id="{6E0D301A-DDFA-FCE4-2E84-603F581B3A42}"/>
                </a:ext>
              </a:extLst>
            </p:cNvPr>
            <p:cNvSpPr/>
            <p:nvPr/>
          </p:nvSpPr>
          <p:spPr>
            <a:xfrm>
              <a:off x="0" y="0"/>
              <a:ext cx="203903" cy="441198"/>
            </a:xfrm>
            <a:custGeom>
              <a:avLst/>
              <a:gdLst/>
              <a:ahLst/>
              <a:cxnLst/>
              <a:rect l="l" t="t" r="r" b="b"/>
              <a:pathLst>
                <a:path w="203903" h="441198">
                  <a:moveTo>
                    <a:pt x="101951" y="0"/>
                  </a:moveTo>
                  <a:lnTo>
                    <a:pt x="203903" y="441198"/>
                  </a:lnTo>
                  <a:lnTo>
                    <a:pt x="0" y="441198"/>
                  </a:lnTo>
                  <a:lnTo>
                    <a:pt x="101951" y="0"/>
                  </a:lnTo>
                  <a:close/>
                </a:path>
              </a:pathLst>
            </a:custGeom>
            <a:solidFill>
              <a:srgbClr val="004AAD"/>
            </a:solidFill>
          </p:spPr>
          <p:txBody>
            <a:bodyPr/>
            <a:lstStyle/>
            <a:p>
              <a:endParaRPr lang="zh-CN" altLang="en-US"/>
            </a:p>
          </p:txBody>
        </p:sp>
        <p:sp>
          <p:nvSpPr>
            <p:cNvPr id="20" name="TextBox 21">
              <a:extLst>
                <a:ext uri="{FF2B5EF4-FFF2-40B4-BE49-F238E27FC236}">
                  <a16:creationId xmlns:a16="http://schemas.microsoft.com/office/drawing/2014/main" id="{4CCBB51C-41EB-8324-6DF9-1B92E4703347}"/>
                </a:ext>
              </a:extLst>
            </p:cNvPr>
            <p:cNvSpPr txBox="1"/>
            <p:nvPr/>
          </p:nvSpPr>
          <p:spPr>
            <a:xfrm>
              <a:off x="31860" y="157217"/>
              <a:ext cx="140183" cy="252467"/>
            </a:xfrm>
            <a:prstGeom prst="rect">
              <a:avLst/>
            </a:prstGeom>
          </p:spPr>
          <p:txBody>
            <a:bodyPr lIns="50800" tIns="50800" rIns="50800" bIns="50800" rtlCol="0" anchor="ctr"/>
            <a:lstStyle/>
            <a:p>
              <a:pPr algn="ctr">
                <a:lnSpc>
                  <a:spcPts val="2659"/>
                </a:lnSpc>
              </a:pPr>
              <a:endParaRPr/>
            </a:p>
          </p:txBody>
        </p:sp>
      </p:grpSp>
      <p:grpSp>
        <p:nvGrpSpPr>
          <p:cNvPr id="21" name="Group 22">
            <a:extLst>
              <a:ext uri="{FF2B5EF4-FFF2-40B4-BE49-F238E27FC236}">
                <a16:creationId xmlns:a16="http://schemas.microsoft.com/office/drawing/2014/main" id="{1D545488-D901-69D3-0534-C7D5405E491B}"/>
              </a:ext>
            </a:extLst>
          </p:cNvPr>
          <p:cNvGrpSpPr/>
          <p:nvPr/>
        </p:nvGrpSpPr>
        <p:grpSpPr>
          <a:xfrm rot="5400000">
            <a:off x="13566670" y="7708884"/>
            <a:ext cx="871688" cy="1675172"/>
            <a:chOff x="0" y="0"/>
            <a:chExt cx="660528" cy="1269374"/>
          </a:xfrm>
        </p:grpSpPr>
        <p:sp>
          <p:nvSpPr>
            <p:cNvPr id="22" name="Freeform 23">
              <a:extLst>
                <a:ext uri="{FF2B5EF4-FFF2-40B4-BE49-F238E27FC236}">
                  <a16:creationId xmlns:a16="http://schemas.microsoft.com/office/drawing/2014/main" id="{DD995657-C904-A167-E8D2-64FA8083D1B9}"/>
                </a:ext>
              </a:extLst>
            </p:cNvPr>
            <p:cNvSpPr/>
            <p:nvPr/>
          </p:nvSpPr>
          <p:spPr>
            <a:xfrm>
              <a:off x="0" y="0"/>
              <a:ext cx="660528" cy="1269374"/>
            </a:xfrm>
            <a:custGeom>
              <a:avLst/>
              <a:gdLst/>
              <a:ahLst/>
              <a:cxnLst/>
              <a:rect l="l" t="t" r="r" b="b"/>
              <a:pathLst>
                <a:path w="660528" h="1269374">
                  <a:moveTo>
                    <a:pt x="330264" y="0"/>
                  </a:moveTo>
                  <a:lnTo>
                    <a:pt x="660528" y="1269374"/>
                  </a:lnTo>
                  <a:lnTo>
                    <a:pt x="0" y="1269374"/>
                  </a:lnTo>
                  <a:lnTo>
                    <a:pt x="330264" y="0"/>
                  </a:lnTo>
                  <a:close/>
                </a:path>
              </a:pathLst>
            </a:custGeom>
            <a:solidFill>
              <a:srgbClr val="004AAD"/>
            </a:solidFill>
          </p:spPr>
          <p:txBody>
            <a:bodyPr/>
            <a:lstStyle/>
            <a:p>
              <a:endParaRPr lang="zh-CN" altLang="en-US"/>
            </a:p>
          </p:txBody>
        </p:sp>
        <p:sp>
          <p:nvSpPr>
            <p:cNvPr id="23" name="TextBox 24">
              <a:extLst>
                <a:ext uri="{FF2B5EF4-FFF2-40B4-BE49-F238E27FC236}">
                  <a16:creationId xmlns:a16="http://schemas.microsoft.com/office/drawing/2014/main" id="{91C8B46E-0BE3-A6A7-5535-1E008CD8E1C1}"/>
                </a:ext>
              </a:extLst>
            </p:cNvPr>
            <p:cNvSpPr txBox="1"/>
            <p:nvPr/>
          </p:nvSpPr>
          <p:spPr>
            <a:xfrm>
              <a:off x="103208" y="541727"/>
              <a:ext cx="454113" cy="636977"/>
            </a:xfrm>
            <a:prstGeom prst="rect">
              <a:avLst/>
            </a:prstGeom>
          </p:spPr>
          <p:txBody>
            <a:bodyPr lIns="50800" tIns="50800" rIns="50800" bIns="50800" rtlCol="0" anchor="ctr"/>
            <a:lstStyle/>
            <a:p>
              <a:pPr algn="ctr">
                <a:lnSpc>
                  <a:spcPts val="2659"/>
                </a:lnSpc>
              </a:pPr>
              <a:endParaRPr/>
            </a:p>
          </p:txBody>
        </p:sp>
      </p:grpSp>
      <p:sp>
        <p:nvSpPr>
          <p:cNvPr id="24" name="TextBox 25">
            <a:extLst>
              <a:ext uri="{FF2B5EF4-FFF2-40B4-BE49-F238E27FC236}">
                <a16:creationId xmlns:a16="http://schemas.microsoft.com/office/drawing/2014/main" id="{9B5E9B2E-C6EB-52BA-3B5A-C94F3C215471}"/>
              </a:ext>
            </a:extLst>
          </p:cNvPr>
          <p:cNvSpPr txBox="1"/>
          <p:nvPr/>
        </p:nvSpPr>
        <p:spPr>
          <a:xfrm>
            <a:off x="15026018" y="3608983"/>
            <a:ext cx="2840697" cy="1002449"/>
          </a:xfrm>
          <a:prstGeom prst="rect">
            <a:avLst/>
          </a:prstGeom>
        </p:spPr>
        <p:txBody>
          <a:bodyPr lIns="0" tIns="0" rIns="0" bIns="0" rtlCol="0" anchor="t">
            <a:spAutoFit/>
          </a:bodyPr>
          <a:lstStyle/>
          <a:p>
            <a:pPr algn="l">
              <a:lnSpc>
                <a:spcPts val="4071"/>
              </a:lnSpc>
            </a:pPr>
            <a:r>
              <a:rPr lang="en-US" sz="2908" b="1" dirty="0">
                <a:solidFill>
                  <a:srgbClr val="3886E1"/>
                </a:solidFill>
                <a:latin typeface="League Spartan"/>
                <a:ea typeface="League Spartan"/>
                <a:cs typeface="League Spartan"/>
                <a:sym typeface="League Spartan"/>
              </a:rPr>
              <a:t>FOUNDATION LAYER</a:t>
            </a:r>
          </a:p>
        </p:txBody>
      </p:sp>
      <p:sp>
        <p:nvSpPr>
          <p:cNvPr id="25" name="TextBox 26">
            <a:extLst>
              <a:ext uri="{FF2B5EF4-FFF2-40B4-BE49-F238E27FC236}">
                <a16:creationId xmlns:a16="http://schemas.microsoft.com/office/drawing/2014/main" id="{EE55356C-CC33-61C3-F3E5-869B916969BA}"/>
              </a:ext>
            </a:extLst>
          </p:cNvPr>
          <p:cNvSpPr txBox="1"/>
          <p:nvPr/>
        </p:nvSpPr>
        <p:spPr>
          <a:xfrm>
            <a:off x="15026018" y="5093666"/>
            <a:ext cx="2840697" cy="1002449"/>
          </a:xfrm>
          <a:prstGeom prst="rect">
            <a:avLst/>
          </a:prstGeom>
        </p:spPr>
        <p:txBody>
          <a:bodyPr lIns="0" tIns="0" rIns="0" bIns="0" rtlCol="0" anchor="t">
            <a:spAutoFit/>
          </a:bodyPr>
          <a:lstStyle/>
          <a:p>
            <a:pPr algn="l">
              <a:lnSpc>
                <a:spcPts val="4071"/>
              </a:lnSpc>
            </a:pPr>
            <a:r>
              <a:rPr lang="en-US" sz="2908" b="1">
                <a:solidFill>
                  <a:srgbClr val="366BC7"/>
                </a:solidFill>
                <a:latin typeface="League Spartan"/>
                <a:ea typeface="League Spartan"/>
                <a:cs typeface="League Spartan"/>
                <a:sym typeface="League Spartan"/>
              </a:rPr>
              <a:t>ADVERSARIALLAYER</a:t>
            </a:r>
          </a:p>
        </p:txBody>
      </p:sp>
      <p:sp>
        <p:nvSpPr>
          <p:cNvPr id="26" name="TextBox 27">
            <a:extLst>
              <a:ext uri="{FF2B5EF4-FFF2-40B4-BE49-F238E27FC236}">
                <a16:creationId xmlns:a16="http://schemas.microsoft.com/office/drawing/2014/main" id="{0BCDCA5B-198E-039D-D9AB-74436EDBC2B3}"/>
              </a:ext>
            </a:extLst>
          </p:cNvPr>
          <p:cNvSpPr txBox="1"/>
          <p:nvPr/>
        </p:nvSpPr>
        <p:spPr>
          <a:xfrm>
            <a:off x="15026018" y="6409829"/>
            <a:ext cx="2840697" cy="1002449"/>
          </a:xfrm>
          <a:prstGeom prst="rect">
            <a:avLst/>
          </a:prstGeom>
        </p:spPr>
        <p:txBody>
          <a:bodyPr lIns="0" tIns="0" rIns="0" bIns="0" rtlCol="0" anchor="t">
            <a:spAutoFit/>
          </a:bodyPr>
          <a:lstStyle/>
          <a:p>
            <a:pPr algn="l">
              <a:lnSpc>
                <a:spcPts val="4071"/>
              </a:lnSpc>
            </a:pPr>
            <a:r>
              <a:rPr lang="en-US" sz="2908" b="1">
                <a:solidFill>
                  <a:srgbClr val="004AAD"/>
                </a:solidFill>
                <a:latin typeface="League Spartan"/>
                <a:ea typeface="League Spartan"/>
                <a:cs typeface="League Spartan"/>
                <a:sym typeface="League Spartan"/>
              </a:rPr>
              <a:t>SYNTHESIS LAYER</a:t>
            </a:r>
          </a:p>
        </p:txBody>
      </p:sp>
      <p:sp>
        <p:nvSpPr>
          <p:cNvPr id="27" name="TextBox 28">
            <a:extLst>
              <a:ext uri="{FF2B5EF4-FFF2-40B4-BE49-F238E27FC236}">
                <a16:creationId xmlns:a16="http://schemas.microsoft.com/office/drawing/2014/main" id="{0B1730D1-256F-DDE2-46C9-0C7D8CFBB814}"/>
              </a:ext>
            </a:extLst>
          </p:cNvPr>
          <p:cNvSpPr txBox="1"/>
          <p:nvPr/>
        </p:nvSpPr>
        <p:spPr>
          <a:xfrm>
            <a:off x="15026018" y="8063001"/>
            <a:ext cx="2840697" cy="1002449"/>
          </a:xfrm>
          <a:prstGeom prst="rect">
            <a:avLst/>
          </a:prstGeom>
        </p:spPr>
        <p:txBody>
          <a:bodyPr lIns="0" tIns="0" rIns="0" bIns="0" rtlCol="0" anchor="t">
            <a:spAutoFit/>
          </a:bodyPr>
          <a:lstStyle/>
          <a:p>
            <a:pPr algn="l">
              <a:lnSpc>
                <a:spcPts val="4071"/>
              </a:lnSpc>
            </a:pPr>
            <a:r>
              <a:rPr lang="en-US" sz="2908" b="1">
                <a:solidFill>
                  <a:srgbClr val="101C80"/>
                </a:solidFill>
                <a:latin typeface="League Spartan"/>
                <a:ea typeface="League Spartan"/>
                <a:cs typeface="League Spartan"/>
                <a:sym typeface="League Spartan"/>
              </a:rPr>
              <a:t>EXECUTION LAYER</a:t>
            </a:r>
          </a:p>
        </p:txBody>
      </p:sp>
      <p:sp>
        <p:nvSpPr>
          <p:cNvPr id="6" name="Freeform 9">
            <a:extLst>
              <a:ext uri="{FF2B5EF4-FFF2-40B4-BE49-F238E27FC236}">
                <a16:creationId xmlns:a16="http://schemas.microsoft.com/office/drawing/2014/main" id="{2B3906E3-D1E7-4ED0-69E9-B272E85C033E}"/>
              </a:ext>
            </a:extLst>
          </p:cNvPr>
          <p:cNvSpPr/>
          <p:nvPr/>
        </p:nvSpPr>
        <p:spPr>
          <a:xfrm>
            <a:off x="709411" y="2827115"/>
            <a:ext cx="12286383" cy="6972523"/>
          </a:xfrm>
          <a:custGeom>
            <a:avLst/>
            <a:gdLst/>
            <a:ahLst/>
            <a:cxnLst/>
            <a:rect l="l" t="t" r="r" b="b"/>
            <a:pathLst>
              <a:path w="12286383" h="6972523">
                <a:moveTo>
                  <a:pt x="0" y="0"/>
                </a:moveTo>
                <a:lnTo>
                  <a:pt x="12286383" y="0"/>
                </a:lnTo>
                <a:lnTo>
                  <a:pt x="12286383" y="6972522"/>
                </a:lnTo>
                <a:lnTo>
                  <a:pt x="0" y="6972522"/>
                </a:lnTo>
                <a:lnTo>
                  <a:pt x="0" y="0"/>
                </a:lnTo>
                <a:close/>
              </a:path>
            </a:pathLst>
          </a:custGeom>
          <a:blipFill>
            <a:blip r:embed="rId3"/>
            <a:stretch>
              <a:fillRect/>
            </a:stretch>
          </a:blipFill>
        </p:spPr>
        <p:txBody>
          <a:bodyPr/>
          <a:lstStyle/>
          <a:p>
            <a:endParaRPr lang="zh-CN" altLang="en-US"/>
          </a:p>
        </p:txBody>
      </p:sp>
    </p:spTree>
    <p:extLst>
      <p:ext uri="{BB962C8B-B14F-4D97-AF65-F5344CB8AC3E}">
        <p14:creationId xmlns:p14="http://schemas.microsoft.com/office/powerpoint/2010/main" val="11611533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sp>
        <p:nvSpPr>
          <p:cNvPr id="7" name="TextBox 7"/>
          <p:cNvSpPr txBox="1"/>
          <p:nvPr/>
        </p:nvSpPr>
        <p:spPr>
          <a:xfrm>
            <a:off x="880039" y="534374"/>
            <a:ext cx="10185681"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RESULT &amp; ANALYSIS</a:t>
            </a:r>
          </a:p>
        </p:txBody>
      </p:sp>
      <p:sp>
        <p:nvSpPr>
          <p:cNvPr id="8" name="TextBox 8"/>
          <p:cNvSpPr txBox="1"/>
          <p:nvPr/>
        </p:nvSpPr>
        <p:spPr>
          <a:xfrm>
            <a:off x="880039" y="1361564"/>
            <a:ext cx="10185681" cy="697192"/>
          </a:xfrm>
          <a:prstGeom prst="rect">
            <a:avLst/>
          </a:prstGeom>
        </p:spPr>
        <p:txBody>
          <a:bodyPr lIns="0" tIns="0" rIns="0" bIns="0" rtlCol="0" anchor="t">
            <a:spAutoFit/>
          </a:bodyPr>
          <a:lstStyle/>
          <a:p>
            <a:pPr algn="l">
              <a:lnSpc>
                <a:spcPts val="5672"/>
              </a:lnSpc>
            </a:pPr>
            <a:r>
              <a:rPr lang="en-US" sz="4051" dirty="0">
                <a:solidFill>
                  <a:srgbClr val="366BC7"/>
                </a:solidFill>
                <a:latin typeface="Roboto"/>
                <a:ea typeface="Roboto"/>
                <a:cs typeface="Roboto"/>
                <a:sym typeface="Roboto"/>
              </a:rPr>
              <a:t>OVERALL PERFORMANCE</a:t>
            </a:r>
          </a:p>
        </p:txBody>
      </p:sp>
      <p:sp>
        <p:nvSpPr>
          <p:cNvPr id="10" name="TextBox 10"/>
          <p:cNvSpPr txBox="1"/>
          <p:nvPr/>
        </p:nvSpPr>
        <p:spPr>
          <a:xfrm>
            <a:off x="880039" y="7516202"/>
            <a:ext cx="15623345" cy="2195153"/>
          </a:xfrm>
          <a:prstGeom prst="rect">
            <a:avLst/>
          </a:prstGeom>
        </p:spPr>
        <p:txBody>
          <a:bodyPr lIns="0" tIns="0" rIns="0" bIns="0" rtlCol="0" anchor="t">
            <a:spAutoFit/>
          </a:bodyPr>
          <a:lstStyle/>
          <a:p>
            <a:pPr algn="l">
              <a:lnSpc>
                <a:spcPts val="4656"/>
              </a:lnSpc>
            </a:pPr>
            <a:r>
              <a:rPr lang="en-US" sz="3325" dirty="0">
                <a:solidFill>
                  <a:srgbClr val="3886E1"/>
                </a:solidFill>
                <a:latin typeface="League Spartan"/>
                <a:ea typeface="League Spartan"/>
                <a:cs typeface="League Spartan"/>
                <a:sym typeface="League Spartan"/>
              </a:rPr>
              <a:t>Core Metrics:</a:t>
            </a:r>
          </a:p>
          <a:p>
            <a:pPr marL="718071" lvl="1" indent="-359035" algn="l">
              <a:lnSpc>
                <a:spcPts val="4656"/>
              </a:lnSpc>
              <a:buFont typeface="Arial"/>
              <a:buChar char="•"/>
            </a:pPr>
            <a:r>
              <a:rPr lang="en-US" sz="3325" dirty="0">
                <a:solidFill>
                  <a:srgbClr val="004AAD"/>
                </a:solidFill>
                <a:latin typeface="Poppins"/>
                <a:ea typeface="Poppins"/>
                <a:cs typeface="Poppins"/>
                <a:sym typeface="Poppins"/>
              </a:rPr>
              <a:t>Total Return: </a:t>
            </a:r>
            <a:r>
              <a:rPr lang="en-US" sz="3325" b="1" dirty="0">
                <a:solidFill>
                  <a:srgbClr val="FF0000"/>
                </a:solidFill>
                <a:latin typeface="Poppins"/>
                <a:ea typeface="Poppins"/>
                <a:cs typeface="Poppins"/>
                <a:sym typeface="Poppins"/>
              </a:rPr>
              <a:t>48.09% (Multi-Agent) </a:t>
            </a:r>
            <a:r>
              <a:rPr lang="en-US" sz="3325" dirty="0">
                <a:solidFill>
                  <a:srgbClr val="004AAD"/>
                </a:solidFill>
                <a:latin typeface="Poppins"/>
                <a:ea typeface="Poppins"/>
                <a:cs typeface="Poppins"/>
                <a:sym typeface="Poppins"/>
              </a:rPr>
              <a:t>vs. Baseline Strategies (Negative).</a:t>
            </a:r>
          </a:p>
          <a:p>
            <a:pPr marL="696482" lvl="1" indent="-348241" algn="l">
              <a:lnSpc>
                <a:spcPts val="4516"/>
              </a:lnSpc>
              <a:buFont typeface="Arial"/>
              <a:buChar char="•"/>
            </a:pPr>
            <a:r>
              <a:rPr lang="en-US" sz="3225" dirty="0">
                <a:solidFill>
                  <a:srgbClr val="004AAD"/>
                </a:solidFill>
                <a:latin typeface="Poppins"/>
                <a:ea typeface="Poppins"/>
                <a:cs typeface="Poppins"/>
                <a:sym typeface="Poppins"/>
              </a:rPr>
              <a:t>Maximum Drawdown: </a:t>
            </a:r>
            <a:r>
              <a:rPr lang="en-US" sz="3225" b="1" dirty="0">
                <a:solidFill>
                  <a:srgbClr val="FF0000"/>
                </a:solidFill>
                <a:latin typeface="Poppins"/>
                <a:ea typeface="Poppins"/>
                <a:cs typeface="Poppins"/>
                <a:sym typeface="Poppins"/>
              </a:rPr>
              <a:t>-20.78% (LLM)</a:t>
            </a:r>
            <a:r>
              <a:rPr lang="en-US" sz="3225" dirty="0">
                <a:solidFill>
                  <a:srgbClr val="004AAD"/>
                </a:solidFill>
                <a:latin typeface="Poppins"/>
                <a:ea typeface="Poppins"/>
                <a:cs typeface="Poppins"/>
                <a:sym typeface="Poppins"/>
              </a:rPr>
              <a:t> vs. -49.94% (B&amp;H) &amp; -36.08% (SMA).</a:t>
            </a:r>
          </a:p>
          <a:p>
            <a:pPr algn="l">
              <a:lnSpc>
                <a:spcPts val="2976"/>
              </a:lnSpc>
              <a:spcBef>
                <a:spcPct val="0"/>
              </a:spcBef>
            </a:pPr>
            <a:endParaRPr lang="en-US" sz="3225" dirty="0">
              <a:solidFill>
                <a:srgbClr val="004AAD"/>
              </a:solidFill>
              <a:latin typeface="Poppins"/>
              <a:ea typeface="Poppins"/>
              <a:cs typeface="Poppins"/>
              <a:sym typeface="Poppins"/>
            </a:endParaRPr>
          </a:p>
        </p:txBody>
      </p:sp>
      <p:pic>
        <p:nvPicPr>
          <p:cNvPr id="14" name="图片 13">
            <a:extLst>
              <a:ext uri="{FF2B5EF4-FFF2-40B4-BE49-F238E27FC236}">
                <a16:creationId xmlns:a16="http://schemas.microsoft.com/office/drawing/2014/main" id="{AA9E006D-86D1-A545-46EC-99669C7D558E}"/>
              </a:ext>
            </a:extLst>
          </p:cNvPr>
          <p:cNvPicPr>
            <a:picLocks noChangeAspect="1"/>
          </p:cNvPicPr>
          <p:nvPr/>
        </p:nvPicPr>
        <p:blipFill>
          <a:blip r:embed="rId3"/>
          <a:srcRect/>
          <a:stretch/>
        </p:blipFill>
        <p:spPr>
          <a:xfrm>
            <a:off x="852260" y="2370552"/>
            <a:ext cx="15681635" cy="4699297"/>
          </a:xfrm>
          <a:prstGeom prst="rect">
            <a:avLst/>
          </a:prstGeom>
        </p:spPr>
      </p:pic>
      <p:pic>
        <p:nvPicPr>
          <p:cNvPr id="9" name="图片 8">
            <a:extLst>
              <a:ext uri="{FF2B5EF4-FFF2-40B4-BE49-F238E27FC236}">
                <a16:creationId xmlns:a16="http://schemas.microsoft.com/office/drawing/2014/main" id="{01813653-222B-A22C-5EE6-858A8DC31983}"/>
              </a:ext>
            </a:extLst>
          </p:cNvPr>
          <p:cNvPicPr>
            <a:picLocks noChangeAspect="1"/>
          </p:cNvPicPr>
          <p:nvPr/>
        </p:nvPicPr>
        <p:blipFill>
          <a:blip>
            <a:extLst>
              <a:ext uri="{28A0092B-C50C-407E-A947-70E740481C1C}">
                <a14:useLocalDpi xmlns:a14="http://schemas.microsoft.com/office/drawing/2010/main" val="0"/>
              </a:ext>
            </a:extLst>
          </a:blip>
          <a:srcRect/>
          <a:stretch/>
        </p:blipFill>
        <p:spPr>
          <a:xfrm>
            <a:off x="880039" y="11379009"/>
            <a:ext cx="16027782" cy="8013891"/>
          </a:xfrm>
          <a:prstGeom prst="rect">
            <a:avLst/>
          </a:prstGeom>
        </p:spPr>
      </p:pic>
      <p:sp>
        <p:nvSpPr>
          <p:cNvPr id="15" name="Freeform 10">
            <a:extLst>
              <a:ext uri="{FF2B5EF4-FFF2-40B4-BE49-F238E27FC236}">
                <a16:creationId xmlns:a16="http://schemas.microsoft.com/office/drawing/2014/main" id="{91EE8A4D-4CA8-A35E-F3E2-9C8F1BADF7B6}"/>
              </a:ext>
            </a:extLst>
          </p:cNvPr>
          <p:cNvSpPr/>
          <p:nvPr/>
        </p:nvSpPr>
        <p:spPr>
          <a:xfrm rot="16200000" flipV="1">
            <a:off x="8849034" y="2645317"/>
            <a:ext cx="19618218" cy="2973784"/>
          </a:xfrm>
          <a:custGeom>
            <a:avLst/>
            <a:gdLst/>
            <a:ahLst/>
            <a:cxnLst/>
            <a:rect l="l" t="t" r="r" b="b"/>
            <a:pathLst>
              <a:path w="3201675" h="22843">
                <a:moveTo>
                  <a:pt x="11421" y="0"/>
                </a:moveTo>
                <a:lnTo>
                  <a:pt x="3190253" y="0"/>
                </a:lnTo>
                <a:cubicBezTo>
                  <a:pt x="3193282" y="0"/>
                  <a:pt x="3196187" y="1203"/>
                  <a:pt x="3198329" y="3345"/>
                </a:cubicBezTo>
                <a:cubicBezTo>
                  <a:pt x="3200471" y="5487"/>
                  <a:pt x="3201675" y="8392"/>
                  <a:pt x="3201675" y="11421"/>
                </a:cubicBezTo>
                <a:lnTo>
                  <a:pt x="3201675" y="11421"/>
                </a:lnTo>
                <a:cubicBezTo>
                  <a:pt x="3201675" y="17729"/>
                  <a:pt x="3196561" y="22843"/>
                  <a:pt x="3190253" y="22843"/>
                </a:cubicBezTo>
                <a:lnTo>
                  <a:pt x="11421" y="22843"/>
                </a:lnTo>
                <a:cubicBezTo>
                  <a:pt x="5114" y="22843"/>
                  <a:pt x="0" y="17729"/>
                  <a:pt x="0" y="11421"/>
                </a:cubicBezTo>
                <a:lnTo>
                  <a:pt x="0" y="11421"/>
                </a:lnTo>
                <a:cubicBezTo>
                  <a:pt x="0" y="5114"/>
                  <a:pt x="5114" y="0"/>
                  <a:pt x="11421" y="0"/>
                </a:cubicBezTo>
                <a:close/>
              </a:path>
            </a:pathLst>
          </a:custGeom>
          <a:solidFill>
            <a:srgbClr val="004AAD"/>
          </a:solidFill>
        </p:spPr>
        <p:txBody>
          <a:bodyPr/>
          <a:lstStyle/>
          <a:p>
            <a:endParaRPr lang="zh-CN" altLang="en-US" dirty="0">
              <a:solidFill>
                <a:srgbClr val="004AAD"/>
              </a:solidFill>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E3899-4AFD-E801-0EF4-F5C14A3990F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210EEBE-60C6-05CF-267E-B50D809E31E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sp>
        <p:nvSpPr>
          <p:cNvPr id="7" name="TextBox 7">
            <a:extLst>
              <a:ext uri="{FF2B5EF4-FFF2-40B4-BE49-F238E27FC236}">
                <a16:creationId xmlns:a16="http://schemas.microsoft.com/office/drawing/2014/main" id="{FDBDF2A8-435D-43FC-0FA7-5489F3A7C969}"/>
              </a:ext>
            </a:extLst>
          </p:cNvPr>
          <p:cNvSpPr txBox="1"/>
          <p:nvPr/>
        </p:nvSpPr>
        <p:spPr>
          <a:xfrm>
            <a:off x="-381000" y="735769"/>
            <a:ext cx="10185681" cy="682879"/>
          </a:xfrm>
          <a:prstGeom prst="rect">
            <a:avLst/>
          </a:prstGeom>
        </p:spPr>
        <p:txBody>
          <a:bodyPr lIns="0" tIns="0" rIns="0" bIns="0" rtlCol="0" anchor="t">
            <a:spAutoFit/>
          </a:bodyPr>
          <a:lstStyle/>
          <a:p>
            <a:pPr marL="359036" lvl="1" algn="ctr">
              <a:lnSpc>
                <a:spcPts val="4656"/>
              </a:lnSpc>
            </a:pPr>
            <a:r>
              <a:rPr lang="en-US" altLang="zh-CN" sz="6000" b="1" dirty="0">
                <a:solidFill>
                  <a:srgbClr val="004AAD"/>
                </a:solidFill>
                <a:latin typeface="Poppins"/>
                <a:ea typeface="Poppins"/>
                <a:cs typeface="Poppins"/>
                <a:sym typeface="Poppins"/>
              </a:rPr>
              <a:t>Total Return: </a:t>
            </a:r>
            <a:r>
              <a:rPr lang="en-US" altLang="zh-CN" sz="6000" b="1" dirty="0">
                <a:solidFill>
                  <a:srgbClr val="FF0000"/>
                </a:solidFill>
                <a:latin typeface="Poppins"/>
                <a:ea typeface="Poppins"/>
                <a:cs typeface="Poppins"/>
                <a:sym typeface="Poppins"/>
              </a:rPr>
              <a:t>48.09% </a:t>
            </a:r>
            <a:endParaRPr lang="en-US" altLang="zh-CN" sz="6000" b="1" dirty="0">
              <a:solidFill>
                <a:srgbClr val="004AAD"/>
              </a:solidFill>
              <a:latin typeface="Poppins"/>
              <a:ea typeface="Poppins"/>
              <a:cs typeface="Poppins"/>
              <a:sym typeface="Poppins"/>
            </a:endParaRPr>
          </a:p>
        </p:txBody>
      </p:sp>
      <p:pic>
        <p:nvPicPr>
          <p:cNvPr id="3" name="图片 2">
            <a:extLst>
              <a:ext uri="{FF2B5EF4-FFF2-40B4-BE49-F238E27FC236}">
                <a16:creationId xmlns:a16="http://schemas.microsoft.com/office/drawing/2014/main" id="{C4723625-18A0-E152-FBFA-8DFBEA0B0D7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08575" y="1485389"/>
            <a:ext cx="14570710" cy="8013891"/>
          </a:xfrm>
          <a:prstGeom prst="rect">
            <a:avLst/>
          </a:prstGeom>
        </p:spPr>
      </p:pic>
      <p:pic>
        <p:nvPicPr>
          <p:cNvPr id="14" name="图片 13">
            <a:extLst>
              <a:ext uri="{FF2B5EF4-FFF2-40B4-BE49-F238E27FC236}">
                <a16:creationId xmlns:a16="http://schemas.microsoft.com/office/drawing/2014/main" id="{0EBF4DAE-6F1C-ED6C-EBBF-A5CDEE95ADD8}"/>
              </a:ext>
            </a:extLst>
          </p:cNvPr>
          <p:cNvPicPr>
            <a:picLocks noChangeAspect="1"/>
          </p:cNvPicPr>
          <p:nvPr/>
        </p:nvPicPr>
        <p:blipFill>
          <a:blip r:embed="rId4"/>
          <a:srcRect/>
          <a:stretch/>
        </p:blipFill>
        <p:spPr>
          <a:xfrm>
            <a:off x="852260" y="-5219700"/>
            <a:ext cx="15681635" cy="4699297"/>
          </a:xfrm>
          <a:prstGeom prst="rect">
            <a:avLst/>
          </a:prstGeom>
        </p:spPr>
      </p:pic>
      <p:pic>
        <p:nvPicPr>
          <p:cNvPr id="4" name="图片 3" descr="图表, 直方图&#10;&#10;AI 生成的内容可能不正确。">
            <a:extLst>
              <a:ext uri="{FF2B5EF4-FFF2-40B4-BE49-F238E27FC236}">
                <a16:creationId xmlns:a16="http://schemas.microsoft.com/office/drawing/2014/main" id="{EF5BAC29-97ED-09CD-401F-0731E31A49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8469" y="10791248"/>
            <a:ext cx="15984104" cy="7992052"/>
          </a:xfrm>
          <a:prstGeom prst="rect">
            <a:avLst/>
          </a:prstGeom>
        </p:spPr>
      </p:pic>
      <p:pic>
        <p:nvPicPr>
          <p:cNvPr id="5" name="图片 4" descr="图表&#10;&#10;AI 生成的内容可能不正确。">
            <a:extLst>
              <a:ext uri="{FF2B5EF4-FFF2-40B4-BE49-F238E27FC236}">
                <a16:creationId xmlns:a16="http://schemas.microsoft.com/office/drawing/2014/main" id="{70E88BBE-A36E-9944-C027-8ED405ACC528}"/>
              </a:ext>
            </a:extLst>
          </p:cNvPr>
          <p:cNvPicPr>
            <a:picLocks noChangeAspect="1"/>
          </p:cNvPicPr>
          <p:nvPr/>
        </p:nvPicPr>
        <p:blipFill>
          <a:blip>
            <a:extLst>
              <a:ext uri="{28A0092B-C50C-407E-A947-70E740481C1C}">
                <a14:useLocalDpi xmlns:a14="http://schemas.microsoft.com/office/drawing/2010/main" val="0"/>
              </a:ext>
            </a:extLst>
          </a:blip>
          <a:srcRect l="-1" r="897"/>
          <a:stretch>
            <a:fillRect/>
          </a:stretch>
        </p:blipFill>
        <p:spPr>
          <a:xfrm>
            <a:off x="-16611600" y="2068281"/>
            <a:ext cx="15944535" cy="7684345"/>
          </a:xfrm>
          <a:prstGeom prst="rect">
            <a:avLst/>
          </a:prstGeom>
        </p:spPr>
      </p:pic>
      <p:sp>
        <p:nvSpPr>
          <p:cNvPr id="9" name="Freeform 10">
            <a:extLst>
              <a:ext uri="{FF2B5EF4-FFF2-40B4-BE49-F238E27FC236}">
                <a16:creationId xmlns:a16="http://schemas.microsoft.com/office/drawing/2014/main" id="{C9AC2B8C-A349-85BF-F972-52A9BB3D50BB}"/>
              </a:ext>
            </a:extLst>
          </p:cNvPr>
          <p:cNvSpPr/>
          <p:nvPr/>
        </p:nvSpPr>
        <p:spPr>
          <a:xfrm rot="16200000" flipV="1">
            <a:off x="8849034" y="2645317"/>
            <a:ext cx="19618218" cy="2973784"/>
          </a:xfrm>
          <a:custGeom>
            <a:avLst/>
            <a:gdLst/>
            <a:ahLst/>
            <a:cxnLst/>
            <a:rect l="l" t="t" r="r" b="b"/>
            <a:pathLst>
              <a:path w="3201675" h="22843">
                <a:moveTo>
                  <a:pt x="11421" y="0"/>
                </a:moveTo>
                <a:lnTo>
                  <a:pt x="3190253" y="0"/>
                </a:lnTo>
                <a:cubicBezTo>
                  <a:pt x="3193282" y="0"/>
                  <a:pt x="3196187" y="1203"/>
                  <a:pt x="3198329" y="3345"/>
                </a:cubicBezTo>
                <a:cubicBezTo>
                  <a:pt x="3200471" y="5487"/>
                  <a:pt x="3201675" y="8392"/>
                  <a:pt x="3201675" y="11421"/>
                </a:cubicBezTo>
                <a:lnTo>
                  <a:pt x="3201675" y="11421"/>
                </a:lnTo>
                <a:cubicBezTo>
                  <a:pt x="3201675" y="17729"/>
                  <a:pt x="3196561" y="22843"/>
                  <a:pt x="3190253" y="22843"/>
                </a:cubicBezTo>
                <a:lnTo>
                  <a:pt x="11421" y="22843"/>
                </a:lnTo>
                <a:cubicBezTo>
                  <a:pt x="5114" y="22843"/>
                  <a:pt x="0" y="17729"/>
                  <a:pt x="0" y="11421"/>
                </a:cubicBezTo>
                <a:lnTo>
                  <a:pt x="0" y="11421"/>
                </a:lnTo>
                <a:cubicBezTo>
                  <a:pt x="0" y="5114"/>
                  <a:pt x="5114" y="0"/>
                  <a:pt x="11421" y="0"/>
                </a:cubicBezTo>
                <a:close/>
              </a:path>
            </a:pathLst>
          </a:custGeom>
          <a:solidFill>
            <a:srgbClr val="004AAD"/>
          </a:solidFill>
        </p:spPr>
        <p:txBody>
          <a:bodyPr/>
          <a:lstStyle/>
          <a:p>
            <a:endParaRPr lang="zh-CN" altLang="en-US" dirty="0">
              <a:solidFill>
                <a:srgbClr val="004AAD"/>
              </a:solidFill>
            </a:endParaRPr>
          </a:p>
        </p:txBody>
      </p:sp>
    </p:spTree>
    <p:extLst>
      <p:ext uri="{BB962C8B-B14F-4D97-AF65-F5344CB8AC3E}">
        <p14:creationId xmlns:p14="http://schemas.microsoft.com/office/powerpoint/2010/main" val="32278585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49033-1414-ADA6-7277-08FA2D9A513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5A47FAB-A11D-EC33-D488-6D61119AA80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sp>
        <p:nvSpPr>
          <p:cNvPr id="7" name="TextBox 7">
            <a:extLst>
              <a:ext uri="{FF2B5EF4-FFF2-40B4-BE49-F238E27FC236}">
                <a16:creationId xmlns:a16="http://schemas.microsoft.com/office/drawing/2014/main" id="{53054F0F-5AAF-B436-D87D-0D3BE831C103}"/>
              </a:ext>
            </a:extLst>
          </p:cNvPr>
          <p:cNvSpPr txBox="1"/>
          <p:nvPr/>
        </p:nvSpPr>
        <p:spPr>
          <a:xfrm>
            <a:off x="-838200" y="734455"/>
            <a:ext cx="15011400" cy="682879"/>
          </a:xfrm>
          <a:prstGeom prst="rect">
            <a:avLst/>
          </a:prstGeom>
        </p:spPr>
        <p:txBody>
          <a:bodyPr wrap="square" lIns="0" tIns="0" rIns="0" bIns="0" rtlCol="0" anchor="t">
            <a:spAutoFit/>
          </a:bodyPr>
          <a:lstStyle/>
          <a:p>
            <a:pPr marL="359036" lvl="1" algn="ctr">
              <a:lnSpc>
                <a:spcPts val="4656"/>
              </a:lnSpc>
            </a:pPr>
            <a:r>
              <a:rPr lang="en-US" altLang="zh-CN" sz="6000" b="1" dirty="0">
                <a:solidFill>
                  <a:srgbClr val="004AAD"/>
                </a:solidFill>
                <a:latin typeface="Poppins"/>
                <a:ea typeface="Poppins"/>
                <a:cs typeface="Poppins"/>
                <a:sym typeface="Poppins"/>
              </a:rPr>
              <a:t>Maximum Drawdown: </a:t>
            </a:r>
            <a:r>
              <a:rPr lang="en-US" altLang="zh-CN" sz="6000" b="1" dirty="0">
                <a:solidFill>
                  <a:srgbClr val="FF0000"/>
                </a:solidFill>
                <a:latin typeface="Poppins"/>
                <a:ea typeface="Poppins"/>
                <a:cs typeface="Poppins"/>
                <a:sym typeface="Poppins"/>
              </a:rPr>
              <a:t>-20.78% </a:t>
            </a:r>
            <a:endParaRPr lang="en-US" altLang="zh-CN" sz="6000" b="1" dirty="0">
              <a:solidFill>
                <a:srgbClr val="004AAD"/>
              </a:solidFill>
              <a:latin typeface="Poppins"/>
              <a:ea typeface="Poppins"/>
              <a:cs typeface="Poppins"/>
              <a:sym typeface="Poppins"/>
            </a:endParaRPr>
          </a:p>
        </p:txBody>
      </p:sp>
      <p:pic>
        <p:nvPicPr>
          <p:cNvPr id="4" name="图片 3" descr="图表, 直方图&#10;&#10;AI 生成的内容可能不正确。">
            <a:extLst>
              <a:ext uri="{FF2B5EF4-FFF2-40B4-BE49-F238E27FC236}">
                <a16:creationId xmlns:a16="http://schemas.microsoft.com/office/drawing/2014/main" id="{3D32E7E1-3092-1B60-D933-3D392C0FE4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469" y="1614891"/>
            <a:ext cx="15984104" cy="7992052"/>
          </a:xfrm>
          <a:prstGeom prst="rect">
            <a:avLst/>
          </a:prstGeom>
        </p:spPr>
      </p:pic>
      <p:pic>
        <p:nvPicPr>
          <p:cNvPr id="5" name="图片 4">
            <a:extLst>
              <a:ext uri="{FF2B5EF4-FFF2-40B4-BE49-F238E27FC236}">
                <a16:creationId xmlns:a16="http://schemas.microsoft.com/office/drawing/2014/main" id="{993AFE3F-BD9D-8BB2-F568-8854908E1C09}"/>
              </a:ext>
            </a:extLst>
          </p:cNvPr>
          <p:cNvPicPr>
            <a:picLocks noChangeAspect="1"/>
          </p:cNvPicPr>
          <p:nvPr/>
        </p:nvPicPr>
        <p:blipFill>
          <a:blip>
            <a:extLst>
              <a:ext uri="{28A0092B-C50C-407E-A947-70E740481C1C}">
                <a14:useLocalDpi xmlns:a14="http://schemas.microsoft.com/office/drawing/2010/main" val="0"/>
              </a:ext>
            </a:extLst>
          </a:blip>
          <a:srcRect/>
          <a:stretch/>
        </p:blipFill>
        <p:spPr>
          <a:xfrm>
            <a:off x="880039" y="-10325100"/>
            <a:ext cx="16027782" cy="8013891"/>
          </a:xfrm>
          <a:prstGeom prst="rect">
            <a:avLst/>
          </a:prstGeom>
        </p:spPr>
      </p:pic>
      <p:pic>
        <p:nvPicPr>
          <p:cNvPr id="9" name="图片 8" descr="图表&#10;&#10;AI 生成的内容可能不正确。">
            <a:extLst>
              <a:ext uri="{FF2B5EF4-FFF2-40B4-BE49-F238E27FC236}">
                <a16:creationId xmlns:a16="http://schemas.microsoft.com/office/drawing/2014/main" id="{EC21B391-D052-6472-A91A-B711DC6CDB22}"/>
              </a:ext>
            </a:extLst>
          </p:cNvPr>
          <p:cNvPicPr>
            <a:picLocks noChangeAspect="1"/>
          </p:cNvPicPr>
          <p:nvPr/>
        </p:nvPicPr>
        <p:blipFill>
          <a:blip>
            <a:extLst>
              <a:ext uri="{28A0092B-C50C-407E-A947-70E740481C1C}">
                <a14:useLocalDpi xmlns:a14="http://schemas.microsoft.com/office/drawing/2010/main" val="0"/>
              </a:ext>
            </a:extLst>
          </a:blip>
          <a:srcRect l="-1" r="897"/>
          <a:stretch>
            <a:fillRect/>
          </a:stretch>
        </p:blipFill>
        <p:spPr>
          <a:xfrm>
            <a:off x="-16611600" y="2068281"/>
            <a:ext cx="15944535" cy="7684345"/>
          </a:xfrm>
          <a:prstGeom prst="rect">
            <a:avLst/>
          </a:prstGeom>
        </p:spPr>
      </p:pic>
      <p:sp>
        <p:nvSpPr>
          <p:cNvPr id="10" name="Freeform 10">
            <a:extLst>
              <a:ext uri="{FF2B5EF4-FFF2-40B4-BE49-F238E27FC236}">
                <a16:creationId xmlns:a16="http://schemas.microsoft.com/office/drawing/2014/main" id="{7F5667CD-1CEE-10C8-5F99-F09B8AC1BB3E}"/>
              </a:ext>
            </a:extLst>
          </p:cNvPr>
          <p:cNvSpPr/>
          <p:nvPr/>
        </p:nvSpPr>
        <p:spPr>
          <a:xfrm rot="16200000" flipV="1">
            <a:off x="8849034" y="2645317"/>
            <a:ext cx="19618218" cy="2973784"/>
          </a:xfrm>
          <a:custGeom>
            <a:avLst/>
            <a:gdLst/>
            <a:ahLst/>
            <a:cxnLst/>
            <a:rect l="l" t="t" r="r" b="b"/>
            <a:pathLst>
              <a:path w="3201675" h="22843">
                <a:moveTo>
                  <a:pt x="11421" y="0"/>
                </a:moveTo>
                <a:lnTo>
                  <a:pt x="3190253" y="0"/>
                </a:lnTo>
                <a:cubicBezTo>
                  <a:pt x="3193282" y="0"/>
                  <a:pt x="3196187" y="1203"/>
                  <a:pt x="3198329" y="3345"/>
                </a:cubicBezTo>
                <a:cubicBezTo>
                  <a:pt x="3200471" y="5487"/>
                  <a:pt x="3201675" y="8392"/>
                  <a:pt x="3201675" y="11421"/>
                </a:cubicBezTo>
                <a:lnTo>
                  <a:pt x="3201675" y="11421"/>
                </a:lnTo>
                <a:cubicBezTo>
                  <a:pt x="3201675" y="17729"/>
                  <a:pt x="3196561" y="22843"/>
                  <a:pt x="3190253" y="22843"/>
                </a:cubicBezTo>
                <a:lnTo>
                  <a:pt x="11421" y="22843"/>
                </a:lnTo>
                <a:cubicBezTo>
                  <a:pt x="5114" y="22843"/>
                  <a:pt x="0" y="17729"/>
                  <a:pt x="0" y="11421"/>
                </a:cubicBezTo>
                <a:lnTo>
                  <a:pt x="0" y="11421"/>
                </a:lnTo>
                <a:cubicBezTo>
                  <a:pt x="0" y="5114"/>
                  <a:pt x="5114" y="0"/>
                  <a:pt x="11421" y="0"/>
                </a:cubicBezTo>
                <a:close/>
              </a:path>
            </a:pathLst>
          </a:custGeom>
          <a:solidFill>
            <a:srgbClr val="004AAD"/>
          </a:solidFill>
        </p:spPr>
        <p:txBody>
          <a:bodyPr/>
          <a:lstStyle/>
          <a:p>
            <a:endParaRPr lang="zh-CN" altLang="en-US" dirty="0">
              <a:solidFill>
                <a:srgbClr val="004AAD"/>
              </a:solidFill>
            </a:endParaRPr>
          </a:p>
        </p:txBody>
      </p:sp>
    </p:spTree>
    <p:extLst>
      <p:ext uri="{BB962C8B-B14F-4D97-AF65-F5344CB8AC3E}">
        <p14:creationId xmlns:p14="http://schemas.microsoft.com/office/powerpoint/2010/main" val="68978016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6">
            <a:extLst>
              <a:ext uri="{FF2B5EF4-FFF2-40B4-BE49-F238E27FC236}">
                <a16:creationId xmlns:a16="http://schemas.microsoft.com/office/drawing/2014/main" id="{6E600ABB-EA72-F097-1512-6F30FADD91F7}"/>
              </a:ext>
            </a:extLst>
          </p:cNvPr>
          <p:cNvSpPr/>
          <p:nvPr/>
        </p:nvSpPr>
        <p:spPr>
          <a:xfrm>
            <a:off x="19168039" y="1900798"/>
            <a:ext cx="13663459" cy="7517221"/>
          </a:xfrm>
          <a:custGeom>
            <a:avLst/>
            <a:gdLst/>
            <a:ahLst/>
            <a:cxnLst/>
            <a:rect l="l" t="t" r="r" b="b"/>
            <a:pathLst>
              <a:path w="11301259" h="5777769">
                <a:moveTo>
                  <a:pt x="0" y="0"/>
                </a:moveTo>
                <a:lnTo>
                  <a:pt x="11301259" y="0"/>
                </a:lnTo>
                <a:lnTo>
                  <a:pt x="11301259" y="5777769"/>
                </a:lnTo>
                <a:lnTo>
                  <a:pt x="0" y="5777769"/>
                </a:lnTo>
                <a:lnTo>
                  <a:pt x="0" y="0"/>
                </a:lnTo>
                <a:close/>
              </a:path>
            </a:pathLst>
          </a:custGeom>
          <a:blipFill>
            <a:blip/>
            <a:stretch>
              <a:fillRect/>
            </a:stretch>
          </a:blipFill>
        </p:spPr>
        <p:txBody>
          <a:bodyPr/>
          <a:lstStyle/>
          <a:p>
            <a:endParaRPr lang="zh-CN" altLang="en-US"/>
          </a:p>
        </p:txBody>
      </p:sp>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sp>
        <p:nvSpPr>
          <p:cNvPr id="8" name="TextBox 8"/>
          <p:cNvSpPr txBox="1"/>
          <p:nvPr/>
        </p:nvSpPr>
        <p:spPr>
          <a:xfrm>
            <a:off x="880039" y="534374"/>
            <a:ext cx="10185681"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RESULT &amp; ANALYSIS</a:t>
            </a:r>
          </a:p>
        </p:txBody>
      </p:sp>
      <p:sp>
        <p:nvSpPr>
          <p:cNvPr id="10" name="TextBox 10"/>
          <p:cNvSpPr txBox="1"/>
          <p:nvPr/>
        </p:nvSpPr>
        <p:spPr>
          <a:xfrm>
            <a:off x="880039" y="1361564"/>
            <a:ext cx="10185681" cy="697192"/>
          </a:xfrm>
          <a:prstGeom prst="rect">
            <a:avLst/>
          </a:prstGeom>
        </p:spPr>
        <p:txBody>
          <a:bodyPr lIns="0" tIns="0" rIns="0" bIns="0" rtlCol="0" anchor="t">
            <a:spAutoFit/>
          </a:bodyPr>
          <a:lstStyle/>
          <a:p>
            <a:pPr algn="l">
              <a:lnSpc>
                <a:spcPts val="5672"/>
              </a:lnSpc>
            </a:pPr>
            <a:r>
              <a:rPr lang="en-US" sz="4051">
                <a:solidFill>
                  <a:srgbClr val="366BC7"/>
                </a:solidFill>
                <a:latin typeface="Roboto"/>
                <a:ea typeface="Roboto"/>
                <a:cs typeface="Roboto"/>
                <a:sym typeface="Roboto"/>
              </a:rPr>
              <a:t>RISK-ADJUSTED QUALITY &amp; ASYMMETRY</a:t>
            </a:r>
          </a:p>
        </p:txBody>
      </p:sp>
      <p:grpSp>
        <p:nvGrpSpPr>
          <p:cNvPr id="27" name="组合 26">
            <a:extLst>
              <a:ext uri="{FF2B5EF4-FFF2-40B4-BE49-F238E27FC236}">
                <a16:creationId xmlns:a16="http://schemas.microsoft.com/office/drawing/2014/main" id="{CDA184BC-7392-6F58-A391-68ED2644C341}"/>
              </a:ext>
            </a:extLst>
          </p:cNvPr>
          <p:cNvGrpSpPr/>
          <p:nvPr/>
        </p:nvGrpSpPr>
        <p:grpSpPr>
          <a:xfrm>
            <a:off x="-6553200" y="2653239"/>
            <a:ext cx="82064598" cy="5614461"/>
            <a:chOff x="-48531322" y="3035262"/>
            <a:chExt cx="82064598" cy="5614461"/>
          </a:xfrm>
        </p:grpSpPr>
        <p:grpSp>
          <p:nvGrpSpPr>
            <p:cNvPr id="21" name="组合 20">
              <a:extLst>
                <a:ext uri="{FF2B5EF4-FFF2-40B4-BE49-F238E27FC236}">
                  <a16:creationId xmlns:a16="http://schemas.microsoft.com/office/drawing/2014/main" id="{23DBB677-2E45-FF7E-5543-C149CB163DCA}"/>
                </a:ext>
              </a:extLst>
            </p:cNvPr>
            <p:cNvGrpSpPr/>
            <p:nvPr/>
          </p:nvGrpSpPr>
          <p:grpSpPr>
            <a:xfrm>
              <a:off x="-7407018" y="3035262"/>
              <a:ext cx="40940294" cy="5602124"/>
              <a:chOff x="-7407018" y="3035262"/>
              <a:chExt cx="40940294" cy="5602124"/>
            </a:xfrm>
          </p:grpSpPr>
          <p:pic>
            <p:nvPicPr>
              <p:cNvPr id="13" name="图片 12">
                <a:extLst>
                  <a:ext uri="{FF2B5EF4-FFF2-40B4-BE49-F238E27FC236}">
                    <a16:creationId xmlns:a16="http://schemas.microsoft.com/office/drawing/2014/main" id="{491E998D-2285-5DE4-EB11-AAE12C5F16F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07018" y="3035262"/>
                <a:ext cx="10185680" cy="5602124"/>
              </a:xfrm>
              <a:prstGeom prst="rect">
                <a:avLst/>
              </a:prstGeom>
            </p:spPr>
          </p:pic>
          <p:pic>
            <p:nvPicPr>
              <p:cNvPr id="7" name="图片 6" descr="图表, 条形图&#10;&#10;AI 生成的内容可能不正确。">
                <a:extLst>
                  <a:ext uri="{FF2B5EF4-FFF2-40B4-BE49-F238E27FC236}">
                    <a16:creationId xmlns:a16="http://schemas.microsoft.com/office/drawing/2014/main" id="{2E8B351C-A832-38F7-0BA9-71ABEB015A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46698" y="3035262"/>
                <a:ext cx="10086578" cy="5547618"/>
              </a:xfrm>
              <a:prstGeom prst="rect">
                <a:avLst/>
              </a:prstGeom>
            </p:spPr>
          </p:pic>
          <p:pic>
            <p:nvPicPr>
              <p:cNvPr id="14" name="图片 13" descr="图表, 瀑布图&#10;&#10;AI 生成的内容可能不正确。">
                <a:extLst>
                  <a:ext uri="{FF2B5EF4-FFF2-40B4-BE49-F238E27FC236}">
                    <a16:creationId xmlns:a16="http://schemas.microsoft.com/office/drawing/2014/main" id="{8271856C-99AC-0C94-4D64-A77DFC8DFF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195160" y="3035262"/>
                <a:ext cx="10086578" cy="5563628"/>
              </a:xfrm>
              <a:prstGeom prst="rect">
                <a:avLst/>
              </a:prstGeom>
            </p:spPr>
          </p:pic>
          <p:pic>
            <p:nvPicPr>
              <p:cNvPr id="20" name="图片 19" descr="图表, 条形图&#10;&#10;AI 生成的内容可能不正确。">
                <a:extLst>
                  <a:ext uri="{FF2B5EF4-FFF2-40B4-BE49-F238E27FC236}">
                    <a16:creationId xmlns:a16="http://schemas.microsoft.com/office/drawing/2014/main" id="{3F06E94F-0762-2ED4-1C89-823382BCE3D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43622" y="3047599"/>
                <a:ext cx="10086578" cy="5547618"/>
              </a:xfrm>
              <a:prstGeom prst="rect">
                <a:avLst/>
              </a:prstGeom>
            </p:spPr>
          </p:pic>
        </p:grpSp>
        <p:grpSp>
          <p:nvGrpSpPr>
            <p:cNvPr id="22" name="组合 21">
              <a:extLst>
                <a:ext uri="{FF2B5EF4-FFF2-40B4-BE49-F238E27FC236}">
                  <a16:creationId xmlns:a16="http://schemas.microsoft.com/office/drawing/2014/main" id="{A029AC68-B784-E9B6-792E-C77A8DF8EE1A}"/>
                </a:ext>
              </a:extLst>
            </p:cNvPr>
            <p:cNvGrpSpPr/>
            <p:nvPr/>
          </p:nvGrpSpPr>
          <p:grpSpPr>
            <a:xfrm>
              <a:off x="-48531322" y="3047599"/>
              <a:ext cx="40940294" cy="5602124"/>
              <a:chOff x="-7407018" y="3035262"/>
              <a:chExt cx="40940294" cy="5602124"/>
            </a:xfrm>
          </p:grpSpPr>
          <p:pic>
            <p:nvPicPr>
              <p:cNvPr id="23" name="图片 22">
                <a:extLst>
                  <a:ext uri="{FF2B5EF4-FFF2-40B4-BE49-F238E27FC236}">
                    <a16:creationId xmlns:a16="http://schemas.microsoft.com/office/drawing/2014/main" id="{8AEB4276-2E71-FCD8-C4D7-41B7BB3D182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07018" y="3035262"/>
                <a:ext cx="10185680" cy="5602124"/>
              </a:xfrm>
              <a:prstGeom prst="rect">
                <a:avLst/>
              </a:prstGeom>
            </p:spPr>
          </p:pic>
          <p:pic>
            <p:nvPicPr>
              <p:cNvPr id="24" name="图片 23" descr="图表, 条形图&#10;&#10;AI 生成的内容可能不正确。">
                <a:extLst>
                  <a:ext uri="{FF2B5EF4-FFF2-40B4-BE49-F238E27FC236}">
                    <a16:creationId xmlns:a16="http://schemas.microsoft.com/office/drawing/2014/main" id="{72A1A82E-17F5-58DE-7762-933C73623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46698" y="3035262"/>
                <a:ext cx="10086578" cy="5547618"/>
              </a:xfrm>
              <a:prstGeom prst="rect">
                <a:avLst/>
              </a:prstGeom>
            </p:spPr>
          </p:pic>
          <p:pic>
            <p:nvPicPr>
              <p:cNvPr id="25" name="图片 24" descr="图表, 瀑布图&#10;&#10;AI 生成的内容可能不正确。">
                <a:extLst>
                  <a:ext uri="{FF2B5EF4-FFF2-40B4-BE49-F238E27FC236}">
                    <a16:creationId xmlns:a16="http://schemas.microsoft.com/office/drawing/2014/main" id="{F0ACEFC0-F066-EF8E-AD55-1887272700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195160" y="3035262"/>
                <a:ext cx="10086578" cy="5563628"/>
              </a:xfrm>
              <a:prstGeom prst="rect">
                <a:avLst/>
              </a:prstGeom>
            </p:spPr>
          </p:pic>
          <p:pic>
            <p:nvPicPr>
              <p:cNvPr id="26" name="图片 25" descr="图表, 条形图&#10;&#10;AI 生成的内容可能不正确。">
                <a:extLst>
                  <a:ext uri="{FF2B5EF4-FFF2-40B4-BE49-F238E27FC236}">
                    <a16:creationId xmlns:a16="http://schemas.microsoft.com/office/drawing/2014/main" id="{4DF8CCC5-59A8-3D9D-2904-93C1C09E59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43622" y="3047599"/>
                <a:ext cx="10086578" cy="5547618"/>
              </a:xfrm>
              <a:prstGeom prst="rect">
                <a:avLst/>
              </a:prstGeom>
            </p:spPr>
          </p:pic>
        </p:grpSp>
      </p:grpSp>
      <p:grpSp>
        <p:nvGrpSpPr>
          <p:cNvPr id="28" name="Group 4">
            <a:extLst>
              <a:ext uri="{FF2B5EF4-FFF2-40B4-BE49-F238E27FC236}">
                <a16:creationId xmlns:a16="http://schemas.microsoft.com/office/drawing/2014/main" id="{CE925501-47EF-C413-8EB3-DD62AC754D97}"/>
              </a:ext>
            </a:extLst>
          </p:cNvPr>
          <p:cNvGrpSpPr/>
          <p:nvPr/>
        </p:nvGrpSpPr>
        <p:grpSpPr>
          <a:xfrm rot="5400000">
            <a:off x="-1543050" y="4057749"/>
            <a:ext cx="3086100" cy="2171499"/>
            <a:chOff x="0" y="0"/>
            <a:chExt cx="812800" cy="571917"/>
          </a:xfrm>
        </p:grpSpPr>
        <p:sp>
          <p:nvSpPr>
            <p:cNvPr id="29" name="Freeform 5">
              <a:extLst>
                <a:ext uri="{FF2B5EF4-FFF2-40B4-BE49-F238E27FC236}">
                  <a16:creationId xmlns:a16="http://schemas.microsoft.com/office/drawing/2014/main" id="{4EFB38D9-1A00-2197-C5C0-EEFFFAFE59F5}"/>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30" name="TextBox 6">
              <a:extLst>
                <a:ext uri="{FF2B5EF4-FFF2-40B4-BE49-F238E27FC236}">
                  <a16:creationId xmlns:a16="http://schemas.microsoft.com/office/drawing/2014/main" id="{1E959C6B-3F75-510F-7F80-B12A76B077F5}"/>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31" name="Group 9">
            <a:extLst>
              <a:ext uri="{FF2B5EF4-FFF2-40B4-BE49-F238E27FC236}">
                <a16:creationId xmlns:a16="http://schemas.microsoft.com/office/drawing/2014/main" id="{7740ADBB-9C27-1447-65C9-BCC74A1B1551}"/>
              </a:ext>
            </a:extLst>
          </p:cNvPr>
          <p:cNvGrpSpPr/>
          <p:nvPr/>
        </p:nvGrpSpPr>
        <p:grpSpPr>
          <a:xfrm rot="16200000">
            <a:off x="16699267" y="4057749"/>
            <a:ext cx="3086100" cy="2171499"/>
            <a:chOff x="0" y="0"/>
            <a:chExt cx="812800" cy="571917"/>
          </a:xfrm>
        </p:grpSpPr>
        <p:sp>
          <p:nvSpPr>
            <p:cNvPr id="32" name="Freeform 10">
              <a:extLst>
                <a:ext uri="{FF2B5EF4-FFF2-40B4-BE49-F238E27FC236}">
                  <a16:creationId xmlns:a16="http://schemas.microsoft.com/office/drawing/2014/main" id="{C6B3E380-3A30-F849-8768-64103D808EC7}"/>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33" name="TextBox 11">
              <a:extLst>
                <a:ext uri="{FF2B5EF4-FFF2-40B4-BE49-F238E27FC236}">
                  <a16:creationId xmlns:a16="http://schemas.microsoft.com/office/drawing/2014/main" id="{D6CECEE6-119D-DE51-A81B-83CE0650DC96}"/>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34" name="TextBox 28">
            <a:extLst>
              <a:ext uri="{FF2B5EF4-FFF2-40B4-BE49-F238E27FC236}">
                <a16:creationId xmlns:a16="http://schemas.microsoft.com/office/drawing/2014/main" id="{05D0593B-CF15-EE31-0F9C-D5F6E84D99FF}"/>
              </a:ext>
            </a:extLst>
          </p:cNvPr>
          <p:cNvSpPr txBox="1"/>
          <p:nvPr/>
        </p:nvSpPr>
        <p:spPr>
          <a:xfrm>
            <a:off x="3330482" y="8267700"/>
            <a:ext cx="11673911" cy="830997"/>
          </a:xfrm>
          <a:prstGeom prst="rect">
            <a:avLst/>
          </a:prstGeom>
        </p:spPr>
        <p:txBody>
          <a:bodyPr wrap="square" lIns="0" tIns="0" rIns="0" bIns="0" rtlCol="0" anchor="t">
            <a:spAutoFit/>
          </a:bodyPr>
          <a:lstStyle/>
          <a:p>
            <a:pPr algn="ctr">
              <a:spcBef>
                <a:spcPct val="0"/>
              </a:spcBef>
            </a:pPr>
            <a:r>
              <a:rPr lang="en-US" sz="5400" b="1" dirty="0">
                <a:solidFill>
                  <a:srgbClr val="004AAD"/>
                </a:solidFill>
                <a:latin typeface="Poppins Bold"/>
                <a:ea typeface="Poppins Bold"/>
                <a:cs typeface="Poppins Bold"/>
                <a:sym typeface="Poppins Bold"/>
              </a:rPr>
              <a:t>Profit Factor: </a:t>
            </a:r>
            <a:r>
              <a:rPr lang="en-US" sz="5400" b="1" dirty="0">
                <a:solidFill>
                  <a:srgbClr val="FF0000"/>
                </a:solidFill>
                <a:latin typeface="Poppins Bold"/>
                <a:ea typeface="Poppins Bold"/>
                <a:cs typeface="Poppins Bold"/>
                <a:sym typeface="Poppins Bold"/>
              </a:rPr>
              <a:t>1.309</a:t>
            </a:r>
          </a:p>
        </p:txBody>
      </p:sp>
      <p:sp>
        <p:nvSpPr>
          <p:cNvPr id="35" name="TextBox 28">
            <a:extLst>
              <a:ext uri="{FF2B5EF4-FFF2-40B4-BE49-F238E27FC236}">
                <a16:creationId xmlns:a16="http://schemas.microsoft.com/office/drawing/2014/main" id="{4FFA1B67-8FC9-D13B-6AE5-9ADDC2C990D4}"/>
              </a:ext>
            </a:extLst>
          </p:cNvPr>
          <p:cNvSpPr txBox="1"/>
          <p:nvPr/>
        </p:nvSpPr>
        <p:spPr>
          <a:xfrm>
            <a:off x="18653689" y="8427303"/>
            <a:ext cx="11673911" cy="830997"/>
          </a:xfrm>
          <a:prstGeom prst="rect">
            <a:avLst/>
          </a:prstGeom>
        </p:spPr>
        <p:txBody>
          <a:bodyPr wrap="square" lIns="0" tIns="0" rIns="0" bIns="0" rtlCol="0" anchor="t">
            <a:spAutoFit/>
          </a:bodyPr>
          <a:lstStyle/>
          <a:p>
            <a:pPr algn="ctr">
              <a:spcBef>
                <a:spcPct val="0"/>
              </a:spcBef>
            </a:pPr>
            <a:r>
              <a:rPr lang="en-US" sz="5400" b="1" dirty="0">
                <a:solidFill>
                  <a:srgbClr val="004AAD"/>
                </a:solidFill>
                <a:latin typeface="Poppins Bold"/>
                <a:ea typeface="Poppins Bold"/>
                <a:cs typeface="Poppins Bold"/>
                <a:sym typeface="Poppins Bold"/>
              </a:rPr>
              <a:t>Avg Winning Day Return: </a:t>
            </a:r>
            <a:r>
              <a:rPr lang="en-US" sz="5400" b="1" dirty="0">
                <a:solidFill>
                  <a:srgbClr val="FF0000"/>
                </a:solidFill>
                <a:latin typeface="Poppins Bold"/>
                <a:ea typeface="Poppins Bold"/>
                <a:cs typeface="Poppins Bold"/>
                <a:sym typeface="Poppins Bold"/>
              </a:rPr>
              <a:t>1.21%</a:t>
            </a:r>
          </a:p>
        </p:txBody>
      </p:sp>
      <p:grpSp>
        <p:nvGrpSpPr>
          <p:cNvPr id="36" name="Group 4">
            <a:extLst>
              <a:ext uri="{FF2B5EF4-FFF2-40B4-BE49-F238E27FC236}">
                <a16:creationId xmlns:a16="http://schemas.microsoft.com/office/drawing/2014/main" id="{75007553-EA99-0294-BD21-8610370E662C}"/>
              </a:ext>
            </a:extLst>
          </p:cNvPr>
          <p:cNvGrpSpPr/>
          <p:nvPr/>
        </p:nvGrpSpPr>
        <p:grpSpPr>
          <a:xfrm>
            <a:off x="2335245" y="8190586"/>
            <a:ext cx="13617510" cy="55894"/>
            <a:chOff x="0" y="0"/>
            <a:chExt cx="812800" cy="571917"/>
          </a:xfrm>
        </p:grpSpPr>
        <p:sp>
          <p:nvSpPr>
            <p:cNvPr id="37" name="TextBox 6">
              <a:extLst>
                <a:ext uri="{FF2B5EF4-FFF2-40B4-BE49-F238E27FC236}">
                  <a16:creationId xmlns:a16="http://schemas.microsoft.com/office/drawing/2014/main" id="{ADE1B38E-6B99-6F10-F6C3-F3668A34D6F0}"/>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38" name="Freeform 5">
              <a:extLst>
                <a:ext uri="{FF2B5EF4-FFF2-40B4-BE49-F238E27FC236}">
                  <a16:creationId xmlns:a16="http://schemas.microsoft.com/office/drawing/2014/main" id="{06F6E0EE-76C6-B7BA-6B73-8F063440E9E0}"/>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39" name="Group 4">
            <a:extLst>
              <a:ext uri="{FF2B5EF4-FFF2-40B4-BE49-F238E27FC236}">
                <a16:creationId xmlns:a16="http://schemas.microsoft.com/office/drawing/2014/main" id="{9BB00260-C770-66EE-6974-1DA3C28223F4}"/>
              </a:ext>
            </a:extLst>
          </p:cNvPr>
          <p:cNvGrpSpPr/>
          <p:nvPr/>
        </p:nvGrpSpPr>
        <p:grpSpPr>
          <a:xfrm>
            <a:off x="2487645" y="2573006"/>
            <a:ext cx="13617510" cy="55894"/>
            <a:chOff x="0" y="0"/>
            <a:chExt cx="812800" cy="571917"/>
          </a:xfrm>
        </p:grpSpPr>
        <p:sp>
          <p:nvSpPr>
            <p:cNvPr id="40" name="TextBox 6">
              <a:extLst>
                <a:ext uri="{FF2B5EF4-FFF2-40B4-BE49-F238E27FC236}">
                  <a16:creationId xmlns:a16="http://schemas.microsoft.com/office/drawing/2014/main" id="{BF65358D-9303-6541-17FD-FCD18062C371}"/>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41" name="Freeform 5">
              <a:extLst>
                <a:ext uri="{FF2B5EF4-FFF2-40B4-BE49-F238E27FC236}">
                  <a16:creationId xmlns:a16="http://schemas.microsoft.com/office/drawing/2014/main" id="{20CEAEF4-ED99-282F-AB76-EA0ACCCC263F}"/>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E5809-38FF-7446-0E1B-D9FD4D7193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4C2D06D-EC10-9E27-4883-40EBB102249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sp>
        <p:nvSpPr>
          <p:cNvPr id="8" name="TextBox 8">
            <a:extLst>
              <a:ext uri="{FF2B5EF4-FFF2-40B4-BE49-F238E27FC236}">
                <a16:creationId xmlns:a16="http://schemas.microsoft.com/office/drawing/2014/main" id="{CE4B47FA-0B58-5C06-7B24-24EAB8780155}"/>
              </a:ext>
            </a:extLst>
          </p:cNvPr>
          <p:cNvSpPr txBox="1"/>
          <p:nvPr/>
        </p:nvSpPr>
        <p:spPr>
          <a:xfrm>
            <a:off x="880039" y="534374"/>
            <a:ext cx="10185681"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RESULT &amp; ANALYSIS</a:t>
            </a:r>
          </a:p>
        </p:txBody>
      </p:sp>
      <p:sp>
        <p:nvSpPr>
          <p:cNvPr id="10" name="TextBox 10">
            <a:extLst>
              <a:ext uri="{FF2B5EF4-FFF2-40B4-BE49-F238E27FC236}">
                <a16:creationId xmlns:a16="http://schemas.microsoft.com/office/drawing/2014/main" id="{B036E95B-36DC-499D-92BF-080C3EBB2034}"/>
              </a:ext>
            </a:extLst>
          </p:cNvPr>
          <p:cNvSpPr txBox="1"/>
          <p:nvPr/>
        </p:nvSpPr>
        <p:spPr>
          <a:xfrm>
            <a:off x="880039" y="1361564"/>
            <a:ext cx="10185681" cy="697192"/>
          </a:xfrm>
          <a:prstGeom prst="rect">
            <a:avLst/>
          </a:prstGeom>
        </p:spPr>
        <p:txBody>
          <a:bodyPr lIns="0" tIns="0" rIns="0" bIns="0" rtlCol="0" anchor="t">
            <a:spAutoFit/>
          </a:bodyPr>
          <a:lstStyle/>
          <a:p>
            <a:pPr algn="l">
              <a:lnSpc>
                <a:spcPts val="5672"/>
              </a:lnSpc>
            </a:pPr>
            <a:r>
              <a:rPr lang="en-US" sz="4051">
                <a:solidFill>
                  <a:srgbClr val="366BC7"/>
                </a:solidFill>
                <a:latin typeface="Roboto"/>
                <a:ea typeface="Roboto"/>
                <a:cs typeface="Roboto"/>
                <a:sym typeface="Roboto"/>
              </a:rPr>
              <a:t>RISK-ADJUSTED QUALITY &amp; ASYMMETRY</a:t>
            </a:r>
          </a:p>
        </p:txBody>
      </p:sp>
      <p:sp>
        <p:nvSpPr>
          <p:cNvPr id="15" name="Freeform 6">
            <a:extLst>
              <a:ext uri="{FF2B5EF4-FFF2-40B4-BE49-F238E27FC236}">
                <a16:creationId xmlns:a16="http://schemas.microsoft.com/office/drawing/2014/main" id="{F8562A89-3D90-6BB3-072D-F88D4B3E3A23}"/>
              </a:ext>
            </a:extLst>
          </p:cNvPr>
          <p:cNvSpPr/>
          <p:nvPr/>
        </p:nvSpPr>
        <p:spPr>
          <a:xfrm>
            <a:off x="19168039" y="1900798"/>
            <a:ext cx="13663459" cy="7517221"/>
          </a:xfrm>
          <a:custGeom>
            <a:avLst/>
            <a:gdLst/>
            <a:ahLst/>
            <a:cxnLst/>
            <a:rect l="l" t="t" r="r" b="b"/>
            <a:pathLst>
              <a:path w="11301259" h="5777769">
                <a:moveTo>
                  <a:pt x="0" y="0"/>
                </a:moveTo>
                <a:lnTo>
                  <a:pt x="11301259" y="0"/>
                </a:lnTo>
                <a:lnTo>
                  <a:pt x="11301259" y="5777769"/>
                </a:lnTo>
                <a:lnTo>
                  <a:pt x="0" y="5777769"/>
                </a:lnTo>
                <a:lnTo>
                  <a:pt x="0" y="0"/>
                </a:lnTo>
                <a:close/>
              </a:path>
            </a:pathLst>
          </a:custGeom>
          <a:blipFill>
            <a:blip/>
            <a:stretch>
              <a:fillRect/>
            </a:stretch>
          </a:blipFill>
        </p:spPr>
        <p:txBody>
          <a:bodyPr/>
          <a:lstStyle/>
          <a:p>
            <a:endParaRPr lang="zh-CN" altLang="en-US"/>
          </a:p>
        </p:txBody>
      </p:sp>
      <p:grpSp>
        <p:nvGrpSpPr>
          <p:cNvPr id="27" name="组合 26">
            <a:extLst>
              <a:ext uri="{FF2B5EF4-FFF2-40B4-BE49-F238E27FC236}">
                <a16:creationId xmlns:a16="http://schemas.microsoft.com/office/drawing/2014/main" id="{807B7C5A-B78A-7BAE-F097-A4193DA124E3}"/>
              </a:ext>
            </a:extLst>
          </p:cNvPr>
          <p:cNvGrpSpPr/>
          <p:nvPr/>
        </p:nvGrpSpPr>
        <p:grpSpPr>
          <a:xfrm>
            <a:off x="-16611600" y="2628900"/>
            <a:ext cx="82064598" cy="5614461"/>
            <a:chOff x="-48531322" y="3035262"/>
            <a:chExt cx="82064598" cy="5614461"/>
          </a:xfrm>
        </p:grpSpPr>
        <p:grpSp>
          <p:nvGrpSpPr>
            <p:cNvPr id="21" name="组合 20">
              <a:extLst>
                <a:ext uri="{FF2B5EF4-FFF2-40B4-BE49-F238E27FC236}">
                  <a16:creationId xmlns:a16="http://schemas.microsoft.com/office/drawing/2014/main" id="{B2E5FE7C-5FC1-0CA0-4D06-19FA4BD46A6C}"/>
                </a:ext>
              </a:extLst>
            </p:cNvPr>
            <p:cNvGrpSpPr/>
            <p:nvPr/>
          </p:nvGrpSpPr>
          <p:grpSpPr>
            <a:xfrm>
              <a:off x="-7407018" y="3035262"/>
              <a:ext cx="40940294" cy="5602124"/>
              <a:chOff x="-7407018" y="3035262"/>
              <a:chExt cx="40940294" cy="5602124"/>
            </a:xfrm>
          </p:grpSpPr>
          <p:pic>
            <p:nvPicPr>
              <p:cNvPr id="13" name="图片 12">
                <a:extLst>
                  <a:ext uri="{FF2B5EF4-FFF2-40B4-BE49-F238E27FC236}">
                    <a16:creationId xmlns:a16="http://schemas.microsoft.com/office/drawing/2014/main" id="{6BB3FA7B-A9D9-2A57-C2FA-C0B39E9A243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07018" y="3035262"/>
                <a:ext cx="10185680" cy="5602124"/>
              </a:xfrm>
              <a:prstGeom prst="rect">
                <a:avLst/>
              </a:prstGeom>
            </p:spPr>
          </p:pic>
          <p:pic>
            <p:nvPicPr>
              <p:cNvPr id="7" name="图片 6" descr="图表, 条形图&#10;&#10;AI 生成的内容可能不正确。">
                <a:extLst>
                  <a:ext uri="{FF2B5EF4-FFF2-40B4-BE49-F238E27FC236}">
                    <a16:creationId xmlns:a16="http://schemas.microsoft.com/office/drawing/2014/main" id="{A7CBAEA1-A882-6A68-1A56-2EAEC11885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46698" y="3035262"/>
                <a:ext cx="10086578" cy="5547618"/>
              </a:xfrm>
              <a:prstGeom prst="rect">
                <a:avLst/>
              </a:prstGeom>
            </p:spPr>
          </p:pic>
          <p:pic>
            <p:nvPicPr>
              <p:cNvPr id="14" name="图片 13" descr="图表, 瀑布图&#10;&#10;AI 生成的内容可能不正确。">
                <a:extLst>
                  <a:ext uri="{FF2B5EF4-FFF2-40B4-BE49-F238E27FC236}">
                    <a16:creationId xmlns:a16="http://schemas.microsoft.com/office/drawing/2014/main" id="{ACBE8B27-F07B-79A1-65C7-CB142F8B85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195160" y="3035262"/>
                <a:ext cx="10086578" cy="5563628"/>
              </a:xfrm>
              <a:prstGeom prst="rect">
                <a:avLst/>
              </a:prstGeom>
            </p:spPr>
          </p:pic>
          <p:pic>
            <p:nvPicPr>
              <p:cNvPr id="20" name="图片 19" descr="图表, 条形图&#10;&#10;AI 生成的内容可能不正确。">
                <a:extLst>
                  <a:ext uri="{FF2B5EF4-FFF2-40B4-BE49-F238E27FC236}">
                    <a16:creationId xmlns:a16="http://schemas.microsoft.com/office/drawing/2014/main" id="{053A0B2E-BD44-51FE-6FCB-6F302AAEB6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43622" y="3047599"/>
                <a:ext cx="10086578" cy="5547618"/>
              </a:xfrm>
              <a:prstGeom prst="rect">
                <a:avLst/>
              </a:prstGeom>
            </p:spPr>
          </p:pic>
        </p:grpSp>
        <p:grpSp>
          <p:nvGrpSpPr>
            <p:cNvPr id="22" name="组合 21">
              <a:extLst>
                <a:ext uri="{FF2B5EF4-FFF2-40B4-BE49-F238E27FC236}">
                  <a16:creationId xmlns:a16="http://schemas.microsoft.com/office/drawing/2014/main" id="{094C3E57-432F-2CF2-CA4F-F8C9A4047AE5}"/>
                </a:ext>
              </a:extLst>
            </p:cNvPr>
            <p:cNvGrpSpPr/>
            <p:nvPr/>
          </p:nvGrpSpPr>
          <p:grpSpPr>
            <a:xfrm>
              <a:off x="-48531322" y="3047599"/>
              <a:ext cx="40940294" cy="5602124"/>
              <a:chOff x="-7407018" y="3035262"/>
              <a:chExt cx="40940294" cy="5602124"/>
            </a:xfrm>
          </p:grpSpPr>
          <p:pic>
            <p:nvPicPr>
              <p:cNvPr id="23" name="图片 22">
                <a:extLst>
                  <a:ext uri="{FF2B5EF4-FFF2-40B4-BE49-F238E27FC236}">
                    <a16:creationId xmlns:a16="http://schemas.microsoft.com/office/drawing/2014/main" id="{0D952015-D7DC-BC54-759A-D06A9F56157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07018" y="3035262"/>
                <a:ext cx="10185680" cy="5602124"/>
              </a:xfrm>
              <a:prstGeom prst="rect">
                <a:avLst/>
              </a:prstGeom>
            </p:spPr>
          </p:pic>
          <p:pic>
            <p:nvPicPr>
              <p:cNvPr id="24" name="图片 23" descr="图表, 条形图&#10;&#10;AI 生成的内容可能不正确。">
                <a:extLst>
                  <a:ext uri="{FF2B5EF4-FFF2-40B4-BE49-F238E27FC236}">
                    <a16:creationId xmlns:a16="http://schemas.microsoft.com/office/drawing/2014/main" id="{1DDB2B20-54B9-CE6A-80FC-B88B3DF0F8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46698" y="3035262"/>
                <a:ext cx="10086578" cy="5547618"/>
              </a:xfrm>
              <a:prstGeom prst="rect">
                <a:avLst/>
              </a:prstGeom>
            </p:spPr>
          </p:pic>
          <p:pic>
            <p:nvPicPr>
              <p:cNvPr id="25" name="图片 24" descr="图表, 瀑布图&#10;&#10;AI 生成的内容可能不正确。">
                <a:extLst>
                  <a:ext uri="{FF2B5EF4-FFF2-40B4-BE49-F238E27FC236}">
                    <a16:creationId xmlns:a16="http://schemas.microsoft.com/office/drawing/2014/main" id="{9C59BF87-054A-589F-1921-623A2FA19B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195160" y="3035262"/>
                <a:ext cx="10086578" cy="5563628"/>
              </a:xfrm>
              <a:prstGeom prst="rect">
                <a:avLst/>
              </a:prstGeom>
            </p:spPr>
          </p:pic>
          <p:pic>
            <p:nvPicPr>
              <p:cNvPr id="26" name="图片 25" descr="图表, 条形图&#10;&#10;AI 生成的内容可能不正确。">
                <a:extLst>
                  <a:ext uri="{FF2B5EF4-FFF2-40B4-BE49-F238E27FC236}">
                    <a16:creationId xmlns:a16="http://schemas.microsoft.com/office/drawing/2014/main" id="{B1A31BFE-23E2-910C-25A4-9A381111BE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43622" y="3047599"/>
                <a:ext cx="10086578" cy="5547618"/>
              </a:xfrm>
              <a:prstGeom prst="rect">
                <a:avLst/>
              </a:prstGeom>
            </p:spPr>
          </p:pic>
        </p:grpSp>
      </p:grpSp>
      <p:grpSp>
        <p:nvGrpSpPr>
          <p:cNvPr id="28" name="Group 4">
            <a:extLst>
              <a:ext uri="{FF2B5EF4-FFF2-40B4-BE49-F238E27FC236}">
                <a16:creationId xmlns:a16="http://schemas.microsoft.com/office/drawing/2014/main" id="{243CCD91-9E5F-EEFD-B7C1-CD0E270118E6}"/>
              </a:ext>
            </a:extLst>
          </p:cNvPr>
          <p:cNvGrpSpPr/>
          <p:nvPr/>
        </p:nvGrpSpPr>
        <p:grpSpPr>
          <a:xfrm rot="5400000">
            <a:off x="-1543050" y="4057749"/>
            <a:ext cx="3086100" cy="2171499"/>
            <a:chOff x="0" y="0"/>
            <a:chExt cx="812800" cy="571917"/>
          </a:xfrm>
        </p:grpSpPr>
        <p:sp>
          <p:nvSpPr>
            <p:cNvPr id="29" name="Freeform 5">
              <a:extLst>
                <a:ext uri="{FF2B5EF4-FFF2-40B4-BE49-F238E27FC236}">
                  <a16:creationId xmlns:a16="http://schemas.microsoft.com/office/drawing/2014/main" id="{3E1E0DBF-1D3F-E3A1-35B0-905E8ABC4EBF}"/>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30" name="TextBox 6">
              <a:extLst>
                <a:ext uri="{FF2B5EF4-FFF2-40B4-BE49-F238E27FC236}">
                  <a16:creationId xmlns:a16="http://schemas.microsoft.com/office/drawing/2014/main" id="{C3F998EB-C55D-C986-6C9F-B958EB5C5AF8}"/>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31" name="Group 9">
            <a:extLst>
              <a:ext uri="{FF2B5EF4-FFF2-40B4-BE49-F238E27FC236}">
                <a16:creationId xmlns:a16="http://schemas.microsoft.com/office/drawing/2014/main" id="{ADA6DBE2-8394-167B-4929-B18DD49B77A4}"/>
              </a:ext>
            </a:extLst>
          </p:cNvPr>
          <p:cNvGrpSpPr/>
          <p:nvPr/>
        </p:nvGrpSpPr>
        <p:grpSpPr>
          <a:xfrm rot="16200000">
            <a:off x="16699267" y="4057749"/>
            <a:ext cx="3086100" cy="2171499"/>
            <a:chOff x="0" y="0"/>
            <a:chExt cx="812800" cy="571917"/>
          </a:xfrm>
        </p:grpSpPr>
        <p:sp>
          <p:nvSpPr>
            <p:cNvPr id="32" name="Freeform 10">
              <a:extLst>
                <a:ext uri="{FF2B5EF4-FFF2-40B4-BE49-F238E27FC236}">
                  <a16:creationId xmlns:a16="http://schemas.microsoft.com/office/drawing/2014/main" id="{CCD40103-D274-B49D-8161-4FD2DA7D58B6}"/>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33" name="TextBox 11">
              <a:extLst>
                <a:ext uri="{FF2B5EF4-FFF2-40B4-BE49-F238E27FC236}">
                  <a16:creationId xmlns:a16="http://schemas.microsoft.com/office/drawing/2014/main" id="{A17EA8E5-0DA5-BD15-D66E-59BAB4F64753}"/>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3" name="TextBox 28">
            <a:extLst>
              <a:ext uri="{FF2B5EF4-FFF2-40B4-BE49-F238E27FC236}">
                <a16:creationId xmlns:a16="http://schemas.microsoft.com/office/drawing/2014/main" id="{A11054A9-C17B-7C81-8238-271EBD97C3DA}"/>
              </a:ext>
            </a:extLst>
          </p:cNvPr>
          <p:cNvSpPr txBox="1"/>
          <p:nvPr/>
        </p:nvSpPr>
        <p:spPr>
          <a:xfrm>
            <a:off x="3330482" y="8274903"/>
            <a:ext cx="11673911" cy="830997"/>
          </a:xfrm>
          <a:prstGeom prst="rect">
            <a:avLst/>
          </a:prstGeom>
        </p:spPr>
        <p:txBody>
          <a:bodyPr wrap="square" lIns="0" tIns="0" rIns="0" bIns="0" rtlCol="0" anchor="t">
            <a:spAutoFit/>
          </a:bodyPr>
          <a:lstStyle/>
          <a:p>
            <a:pPr algn="ctr">
              <a:spcBef>
                <a:spcPct val="0"/>
              </a:spcBef>
            </a:pPr>
            <a:r>
              <a:rPr lang="en-US" sz="5400" b="1" dirty="0">
                <a:solidFill>
                  <a:srgbClr val="004AAD"/>
                </a:solidFill>
                <a:latin typeface="Poppins Bold"/>
                <a:ea typeface="Poppins Bold"/>
                <a:cs typeface="Poppins Bold"/>
                <a:sym typeface="Poppins Bold"/>
              </a:rPr>
              <a:t>Avg Winning Day Return: </a:t>
            </a:r>
            <a:r>
              <a:rPr lang="en-US" sz="5400" b="1" dirty="0">
                <a:solidFill>
                  <a:srgbClr val="FF0000"/>
                </a:solidFill>
                <a:latin typeface="Poppins Bold"/>
                <a:ea typeface="Poppins Bold"/>
                <a:cs typeface="Poppins Bold"/>
                <a:sym typeface="Poppins Bold"/>
              </a:rPr>
              <a:t>1.21%</a:t>
            </a:r>
          </a:p>
        </p:txBody>
      </p:sp>
      <p:sp>
        <p:nvSpPr>
          <p:cNvPr id="4" name="TextBox 28">
            <a:extLst>
              <a:ext uri="{FF2B5EF4-FFF2-40B4-BE49-F238E27FC236}">
                <a16:creationId xmlns:a16="http://schemas.microsoft.com/office/drawing/2014/main" id="{786BC072-884C-2D41-CBDF-DCD576517702}"/>
              </a:ext>
            </a:extLst>
          </p:cNvPr>
          <p:cNvSpPr txBox="1"/>
          <p:nvPr/>
        </p:nvSpPr>
        <p:spPr>
          <a:xfrm>
            <a:off x="-9601200" y="8427303"/>
            <a:ext cx="11673911" cy="830997"/>
          </a:xfrm>
          <a:prstGeom prst="rect">
            <a:avLst/>
          </a:prstGeom>
        </p:spPr>
        <p:txBody>
          <a:bodyPr wrap="square" lIns="0" tIns="0" rIns="0" bIns="0" rtlCol="0" anchor="t">
            <a:spAutoFit/>
          </a:bodyPr>
          <a:lstStyle/>
          <a:p>
            <a:pPr algn="ctr">
              <a:spcBef>
                <a:spcPct val="0"/>
              </a:spcBef>
            </a:pPr>
            <a:r>
              <a:rPr lang="en-US" sz="5400" b="1" dirty="0">
                <a:solidFill>
                  <a:srgbClr val="004AAD"/>
                </a:solidFill>
                <a:latin typeface="Poppins Bold"/>
                <a:ea typeface="Poppins Bold"/>
                <a:cs typeface="Poppins Bold"/>
                <a:sym typeface="Poppins Bold"/>
              </a:rPr>
              <a:t>Profit Factor: </a:t>
            </a:r>
            <a:r>
              <a:rPr lang="en-US" sz="5400" b="1" dirty="0">
                <a:solidFill>
                  <a:srgbClr val="FF0000"/>
                </a:solidFill>
                <a:latin typeface="Poppins Bold"/>
                <a:ea typeface="Poppins Bold"/>
                <a:cs typeface="Poppins Bold"/>
                <a:sym typeface="Poppins Bold"/>
              </a:rPr>
              <a:t>1.309</a:t>
            </a:r>
          </a:p>
        </p:txBody>
      </p:sp>
      <p:sp>
        <p:nvSpPr>
          <p:cNvPr id="5" name="TextBox 28">
            <a:extLst>
              <a:ext uri="{FF2B5EF4-FFF2-40B4-BE49-F238E27FC236}">
                <a16:creationId xmlns:a16="http://schemas.microsoft.com/office/drawing/2014/main" id="{74409A90-45FC-F88F-39AE-6CD0F8393E47}"/>
              </a:ext>
            </a:extLst>
          </p:cNvPr>
          <p:cNvSpPr txBox="1"/>
          <p:nvPr/>
        </p:nvSpPr>
        <p:spPr>
          <a:xfrm>
            <a:off x="18348889" y="8427303"/>
            <a:ext cx="11673911" cy="830997"/>
          </a:xfrm>
          <a:prstGeom prst="rect">
            <a:avLst/>
          </a:prstGeom>
        </p:spPr>
        <p:txBody>
          <a:bodyPr wrap="square" lIns="0" tIns="0" rIns="0" bIns="0" rtlCol="0" anchor="t">
            <a:spAutoFit/>
          </a:bodyPr>
          <a:lstStyle/>
          <a:p>
            <a:pPr algn="ctr">
              <a:spcBef>
                <a:spcPct val="0"/>
              </a:spcBef>
            </a:pPr>
            <a:r>
              <a:rPr lang="en-US" sz="5400" b="1" dirty="0">
                <a:solidFill>
                  <a:srgbClr val="004AAD"/>
                </a:solidFill>
                <a:latin typeface="Poppins Bold"/>
                <a:ea typeface="Poppins Bold"/>
                <a:cs typeface="Poppins Bold"/>
                <a:sym typeface="Poppins Bold"/>
              </a:rPr>
              <a:t>Daily Win Rate: </a:t>
            </a:r>
            <a:r>
              <a:rPr lang="en-US" sz="5400" b="1" dirty="0">
                <a:solidFill>
                  <a:srgbClr val="FF0000"/>
                </a:solidFill>
                <a:latin typeface="Poppins Bold"/>
                <a:ea typeface="Poppins Bold"/>
                <a:cs typeface="Poppins Bold"/>
                <a:sym typeface="Poppins Bold"/>
              </a:rPr>
              <a:t>48.36%</a:t>
            </a:r>
          </a:p>
        </p:txBody>
      </p:sp>
      <p:grpSp>
        <p:nvGrpSpPr>
          <p:cNvPr id="6" name="Group 4">
            <a:extLst>
              <a:ext uri="{FF2B5EF4-FFF2-40B4-BE49-F238E27FC236}">
                <a16:creationId xmlns:a16="http://schemas.microsoft.com/office/drawing/2014/main" id="{6DB64B2F-8852-D097-C975-DDC662422DEB}"/>
              </a:ext>
            </a:extLst>
          </p:cNvPr>
          <p:cNvGrpSpPr/>
          <p:nvPr/>
        </p:nvGrpSpPr>
        <p:grpSpPr>
          <a:xfrm>
            <a:off x="2335245" y="8190586"/>
            <a:ext cx="13617510" cy="55894"/>
            <a:chOff x="0" y="0"/>
            <a:chExt cx="812800" cy="571917"/>
          </a:xfrm>
        </p:grpSpPr>
        <p:sp>
          <p:nvSpPr>
            <p:cNvPr id="9" name="TextBox 6">
              <a:extLst>
                <a:ext uri="{FF2B5EF4-FFF2-40B4-BE49-F238E27FC236}">
                  <a16:creationId xmlns:a16="http://schemas.microsoft.com/office/drawing/2014/main" id="{BB0C4E17-67B2-53B4-1B4D-B79E4170D19B}"/>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1" name="Freeform 5">
              <a:extLst>
                <a:ext uri="{FF2B5EF4-FFF2-40B4-BE49-F238E27FC236}">
                  <a16:creationId xmlns:a16="http://schemas.microsoft.com/office/drawing/2014/main" id="{AFB0E8DF-9995-AC8C-483E-EFEF501D1FF4}"/>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12" name="Group 4">
            <a:extLst>
              <a:ext uri="{FF2B5EF4-FFF2-40B4-BE49-F238E27FC236}">
                <a16:creationId xmlns:a16="http://schemas.microsoft.com/office/drawing/2014/main" id="{FC145371-E92D-2EA9-F5CA-C7572032FA22}"/>
              </a:ext>
            </a:extLst>
          </p:cNvPr>
          <p:cNvGrpSpPr/>
          <p:nvPr/>
        </p:nvGrpSpPr>
        <p:grpSpPr>
          <a:xfrm>
            <a:off x="2487645" y="2573006"/>
            <a:ext cx="13617510" cy="55894"/>
            <a:chOff x="0" y="0"/>
            <a:chExt cx="812800" cy="571917"/>
          </a:xfrm>
        </p:grpSpPr>
        <p:sp>
          <p:nvSpPr>
            <p:cNvPr id="16" name="TextBox 6">
              <a:extLst>
                <a:ext uri="{FF2B5EF4-FFF2-40B4-BE49-F238E27FC236}">
                  <a16:creationId xmlns:a16="http://schemas.microsoft.com/office/drawing/2014/main" id="{501D7346-4EB0-98A2-B10B-675F0D14EDEB}"/>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8" name="Freeform 5">
              <a:extLst>
                <a:ext uri="{FF2B5EF4-FFF2-40B4-BE49-F238E27FC236}">
                  <a16:creationId xmlns:a16="http://schemas.microsoft.com/office/drawing/2014/main" id="{440B0358-6487-187E-F7B4-5613AE0D4916}"/>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spTree>
    <p:extLst>
      <p:ext uri="{BB962C8B-B14F-4D97-AF65-F5344CB8AC3E}">
        <p14:creationId xmlns:p14="http://schemas.microsoft.com/office/powerpoint/2010/main" val="18819895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78D48-83B0-3F80-6BFD-0837245966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8E9D4A2-CB6D-CD82-9B04-866D73EFE23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sp>
        <p:nvSpPr>
          <p:cNvPr id="8" name="TextBox 8">
            <a:extLst>
              <a:ext uri="{FF2B5EF4-FFF2-40B4-BE49-F238E27FC236}">
                <a16:creationId xmlns:a16="http://schemas.microsoft.com/office/drawing/2014/main" id="{F25E1C8A-6689-C834-47ED-18903BABCF61}"/>
              </a:ext>
            </a:extLst>
          </p:cNvPr>
          <p:cNvSpPr txBox="1"/>
          <p:nvPr/>
        </p:nvSpPr>
        <p:spPr>
          <a:xfrm>
            <a:off x="880039" y="534374"/>
            <a:ext cx="10185681"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RESULT &amp; ANALYSIS</a:t>
            </a:r>
          </a:p>
        </p:txBody>
      </p:sp>
      <p:sp>
        <p:nvSpPr>
          <p:cNvPr id="10" name="TextBox 10">
            <a:extLst>
              <a:ext uri="{FF2B5EF4-FFF2-40B4-BE49-F238E27FC236}">
                <a16:creationId xmlns:a16="http://schemas.microsoft.com/office/drawing/2014/main" id="{795B3222-AE6B-BBB6-7146-E049BCA6FB8A}"/>
              </a:ext>
            </a:extLst>
          </p:cNvPr>
          <p:cNvSpPr txBox="1"/>
          <p:nvPr/>
        </p:nvSpPr>
        <p:spPr>
          <a:xfrm>
            <a:off x="880039" y="1361564"/>
            <a:ext cx="10185681" cy="697192"/>
          </a:xfrm>
          <a:prstGeom prst="rect">
            <a:avLst/>
          </a:prstGeom>
        </p:spPr>
        <p:txBody>
          <a:bodyPr lIns="0" tIns="0" rIns="0" bIns="0" rtlCol="0" anchor="t">
            <a:spAutoFit/>
          </a:bodyPr>
          <a:lstStyle/>
          <a:p>
            <a:pPr algn="l">
              <a:lnSpc>
                <a:spcPts val="5672"/>
              </a:lnSpc>
            </a:pPr>
            <a:r>
              <a:rPr lang="en-US" sz="4051">
                <a:solidFill>
                  <a:srgbClr val="366BC7"/>
                </a:solidFill>
                <a:latin typeface="Roboto"/>
                <a:ea typeface="Roboto"/>
                <a:cs typeface="Roboto"/>
                <a:sym typeface="Roboto"/>
              </a:rPr>
              <a:t>RISK-ADJUSTED QUALITY &amp; ASYMMETRY</a:t>
            </a:r>
          </a:p>
        </p:txBody>
      </p:sp>
      <p:sp>
        <p:nvSpPr>
          <p:cNvPr id="15" name="Freeform 6">
            <a:extLst>
              <a:ext uri="{FF2B5EF4-FFF2-40B4-BE49-F238E27FC236}">
                <a16:creationId xmlns:a16="http://schemas.microsoft.com/office/drawing/2014/main" id="{EA5FE5BD-694F-C465-DEF0-8BF57CD9672B}"/>
              </a:ext>
            </a:extLst>
          </p:cNvPr>
          <p:cNvSpPr/>
          <p:nvPr/>
        </p:nvSpPr>
        <p:spPr>
          <a:xfrm>
            <a:off x="19168039" y="1900798"/>
            <a:ext cx="13663459" cy="7517221"/>
          </a:xfrm>
          <a:custGeom>
            <a:avLst/>
            <a:gdLst/>
            <a:ahLst/>
            <a:cxnLst/>
            <a:rect l="l" t="t" r="r" b="b"/>
            <a:pathLst>
              <a:path w="11301259" h="5777769">
                <a:moveTo>
                  <a:pt x="0" y="0"/>
                </a:moveTo>
                <a:lnTo>
                  <a:pt x="11301259" y="0"/>
                </a:lnTo>
                <a:lnTo>
                  <a:pt x="11301259" y="5777769"/>
                </a:lnTo>
                <a:lnTo>
                  <a:pt x="0" y="5777769"/>
                </a:lnTo>
                <a:lnTo>
                  <a:pt x="0" y="0"/>
                </a:lnTo>
                <a:close/>
              </a:path>
            </a:pathLst>
          </a:custGeom>
          <a:blipFill>
            <a:blip/>
            <a:stretch>
              <a:fillRect/>
            </a:stretch>
          </a:blipFill>
        </p:spPr>
        <p:txBody>
          <a:bodyPr/>
          <a:lstStyle/>
          <a:p>
            <a:endParaRPr lang="zh-CN" altLang="en-US"/>
          </a:p>
        </p:txBody>
      </p:sp>
      <p:grpSp>
        <p:nvGrpSpPr>
          <p:cNvPr id="27" name="组合 26">
            <a:extLst>
              <a:ext uri="{FF2B5EF4-FFF2-40B4-BE49-F238E27FC236}">
                <a16:creationId xmlns:a16="http://schemas.microsoft.com/office/drawing/2014/main" id="{0345D3D4-6B66-A2CC-12EE-36E25A4ADAC9}"/>
              </a:ext>
            </a:extLst>
          </p:cNvPr>
          <p:cNvGrpSpPr/>
          <p:nvPr/>
        </p:nvGrpSpPr>
        <p:grpSpPr>
          <a:xfrm>
            <a:off x="-26027906" y="2682538"/>
            <a:ext cx="82064598" cy="5614461"/>
            <a:chOff x="-48531322" y="3035262"/>
            <a:chExt cx="82064598" cy="5614461"/>
          </a:xfrm>
        </p:grpSpPr>
        <p:grpSp>
          <p:nvGrpSpPr>
            <p:cNvPr id="21" name="组合 20">
              <a:extLst>
                <a:ext uri="{FF2B5EF4-FFF2-40B4-BE49-F238E27FC236}">
                  <a16:creationId xmlns:a16="http://schemas.microsoft.com/office/drawing/2014/main" id="{8C0BF937-DFBF-1541-8BAD-C0CAC7B4AF31}"/>
                </a:ext>
              </a:extLst>
            </p:cNvPr>
            <p:cNvGrpSpPr/>
            <p:nvPr/>
          </p:nvGrpSpPr>
          <p:grpSpPr>
            <a:xfrm>
              <a:off x="-7407018" y="3035262"/>
              <a:ext cx="40940294" cy="5602124"/>
              <a:chOff x="-7407018" y="3035262"/>
              <a:chExt cx="40940294" cy="5602124"/>
            </a:xfrm>
          </p:grpSpPr>
          <p:pic>
            <p:nvPicPr>
              <p:cNvPr id="13" name="图片 12">
                <a:extLst>
                  <a:ext uri="{FF2B5EF4-FFF2-40B4-BE49-F238E27FC236}">
                    <a16:creationId xmlns:a16="http://schemas.microsoft.com/office/drawing/2014/main" id="{00C42F6E-648B-A4B1-3D38-E07D8717B3B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07018" y="3035262"/>
                <a:ext cx="10185680" cy="5602124"/>
              </a:xfrm>
              <a:prstGeom prst="rect">
                <a:avLst/>
              </a:prstGeom>
            </p:spPr>
          </p:pic>
          <p:pic>
            <p:nvPicPr>
              <p:cNvPr id="7" name="图片 6" descr="图表, 条形图&#10;&#10;AI 生成的内容可能不正确。">
                <a:extLst>
                  <a:ext uri="{FF2B5EF4-FFF2-40B4-BE49-F238E27FC236}">
                    <a16:creationId xmlns:a16="http://schemas.microsoft.com/office/drawing/2014/main" id="{A415B36D-DBB3-B228-A4FD-88C8538525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46698" y="3035262"/>
                <a:ext cx="10086578" cy="5547618"/>
              </a:xfrm>
              <a:prstGeom prst="rect">
                <a:avLst/>
              </a:prstGeom>
            </p:spPr>
          </p:pic>
          <p:pic>
            <p:nvPicPr>
              <p:cNvPr id="14" name="图片 13" descr="图表, 瀑布图&#10;&#10;AI 生成的内容可能不正确。">
                <a:extLst>
                  <a:ext uri="{FF2B5EF4-FFF2-40B4-BE49-F238E27FC236}">
                    <a16:creationId xmlns:a16="http://schemas.microsoft.com/office/drawing/2014/main" id="{2C0D5C8E-E0B8-5D5D-86F0-E2CD09A4CC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195160" y="3035262"/>
                <a:ext cx="10086578" cy="5563628"/>
              </a:xfrm>
              <a:prstGeom prst="rect">
                <a:avLst/>
              </a:prstGeom>
            </p:spPr>
          </p:pic>
          <p:pic>
            <p:nvPicPr>
              <p:cNvPr id="20" name="图片 19" descr="图表, 条形图&#10;&#10;AI 生成的内容可能不正确。">
                <a:extLst>
                  <a:ext uri="{FF2B5EF4-FFF2-40B4-BE49-F238E27FC236}">
                    <a16:creationId xmlns:a16="http://schemas.microsoft.com/office/drawing/2014/main" id="{1426783C-D7E8-9B74-F9AB-7BCDC792371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43622" y="3047599"/>
                <a:ext cx="10086578" cy="5547618"/>
              </a:xfrm>
              <a:prstGeom prst="rect">
                <a:avLst/>
              </a:prstGeom>
            </p:spPr>
          </p:pic>
        </p:grpSp>
        <p:grpSp>
          <p:nvGrpSpPr>
            <p:cNvPr id="22" name="组合 21">
              <a:extLst>
                <a:ext uri="{FF2B5EF4-FFF2-40B4-BE49-F238E27FC236}">
                  <a16:creationId xmlns:a16="http://schemas.microsoft.com/office/drawing/2014/main" id="{0693A759-2556-ECE6-99CF-B87D670942AC}"/>
                </a:ext>
              </a:extLst>
            </p:cNvPr>
            <p:cNvGrpSpPr/>
            <p:nvPr/>
          </p:nvGrpSpPr>
          <p:grpSpPr>
            <a:xfrm>
              <a:off x="-48531322" y="3047599"/>
              <a:ext cx="40940294" cy="5602124"/>
              <a:chOff x="-7407018" y="3035262"/>
              <a:chExt cx="40940294" cy="5602124"/>
            </a:xfrm>
          </p:grpSpPr>
          <p:pic>
            <p:nvPicPr>
              <p:cNvPr id="23" name="图片 22">
                <a:extLst>
                  <a:ext uri="{FF2B5EF4-FFF2-40B4-BE49-F238E27FC236}">
                    <a16:creationId xmlns:a16="http://schemas.microsoft.com/office/drawing/2014/main" id="{49F82F03-7CCF-9202-3A43-497FA266C54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07018" y="3035262"/>
                <a:ext cx="10185680" cy="5602124"/>
              </a:xfrm>
              <a:prstGeom prst="rect">
                <a:avLst/>
              </a:prstGeom>
            </p:spPr>
          </p:pic>
          <p:pic>
            <p:nvPicPr>
              <p:cNvPr id="24" name="图片 23" descr="图表, 条形图&#10;&#10;AI 生成的内容可能不正确。">
                <a:extLst>
                  <a:ext uri="{FF2B5EF4-FFF2-40B4-BE49-F238E27FC236}">
                    <a16:creationId xmlns:a16="http://schemas.microsoft.com/office/drawing/2014/main" id="{E704361A-79B5-41B1-F1CF-8322F3E099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46698" y="3035262"/>
                <a:ext cx="10086578" cy="5547618"/>
              </a:xfrm>
              <a:prstGeom prst="rect">
                <a:avLst/>
              </a:prstGeom>
            </p:spPr>
          </p:pic>
          <p:pic>
            <p:nvPicPr>
              <p:cNvPr id="25" name="图片 24" descr="图表, 瀑布图&#10;&#10;AI 生成的内容可能不正确。">
                <a:extLst>
                  <a:ext uri="{FF2B5EF4-FFF2-40B4-BE49-F238E27FC236}">
                    <a16:creationId xmlns:a16="http://schemas.microsoft.com/office/drawing/2014/main" id="{6F908118-B43E-A72A-09D4-47A45A169C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195160" y="3035262"/>
                <a:ext cx="10086578" cy="5563628"/>
              </a:xfrm>
              <a:prstGeom prst="rect">
                <a:avLst/>
              </a:prstGeom>
            </p:spPr>
          </p:pic>
          <p:pic>
            <p:nvPicPr>
              <p:cNvPr id="26" name="图片 25" descr="图表, 条形图&#10;&#10;AI 生成的内容可能不正确。">
                <a:extLst>
                  <a:ext uri="{FF2B5EF4-FFF2-40B4-BE49-F238E27FC236}">
                    <a16:creationId xmlns:a16="http://schemas.microsoft.com/office/drawing/2014/main" id="{EB2C9284-C48D-CCBD-00F1-840C268B30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43622" y="3047599"/>
                <a:ext cx="10086578" cy="5547618"/>
              </a:xfrm>
              <a:prstGeom prst="rect">
                <a:avLst/>
              </a:prstGeom>
            </p:spPr>
          </p:pic>
        </p:grpSp>
      </p:grpSp>
      <p:grpSp>
        <p:nvGrpSpPr>
          <p:cNvPr id="28" name="Group 4">
            <a:extLst>
              <a:ext uri="{FF2B5EF4-FFF2-40B4-BE49-F238E27FC236}">
                <a16:creationId xmlns:a16="http://schemas.microsoft.com/office/drawing/2014/main" id="{3357695D-6D01-3156-E162-C8471CE99070}"/>
              </a:ext>
            </a:extLst>
          </p:cNvPr>
          <p:cNvGrpSpPr/>
          <p:nvPr/>
        </p:nvGrpSpPr>
        <p:grpSpPr>
          <a:xfrm rot="5400000">
            <a:off x="-1543050" y="4057749"/>
            <a:ext cx="3086100" cy="2171499"/>
            <a:chOff x="0" y="0"/>
            <a:chExt cx="812800" cy="571917"/>
          </a:xfrm>
        </p:grpSpPr>
        <p:sp>
          <p:nvSpPr>
            <p:cNvPr id="29" name="Freeform 5">
              <a:extLst>
                <a:ext uri="{FF2B5EF4-FFF2-40B4-BE49-F238E27FC236}">
                  <a16:creationId xmlns:a16="http://schemas.microsoft.com/office/drawing/2014/main" id="{BE6B8629-CA4B-8E99-B6C6-64AA551586B9}"/>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30" name="TextBox 6">
              <a:extLst>
                <a:ext uri="{FF2B5EF4-FFF2-40B4-BE49-F238E27FC236}">
                  <a16:creationId xmlns:a16="http://schemas.microsoft.com/office/drawing/2014/main" id="{02EFE9B7-E95C-80B1-9E26-BF6643126209}"/>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31" name="Group 9">
            <a:extLst>
              <a:ext uri="{FF2B5EF4-FFF2-40B4-BE49-F238E27FC236}">
                <a16:creationId xmlns:a16="http://schemas.microsoft.com/office/drawing/2014/main" id="{84E16B69-7C73-42D2-A829-3F455E0E4AF9}"/>
              </a:ext>
            </a:extLst>
          </p:cNvPr>
          <p:cNvGrpSpPr/>
          <p:nvPr/>
        </p:nvGrpSpPr>
        <p:grpSpPr>
          <a:xfrm rot="16200000">
            <a:off x="16699267" y="4057749"/>
            <a:ext cx="3086100" cy="2171499"/>
            <a:chOff x="0" y="0"/>
            <a:chExt cx="812800" cy="571917"/>
          </a:xfrm>
        </p:grpSpPr>
        <p:sp>
          <p:nvSpPr>
            <p:cNvPr id="32" name="Freeform 10">
              <a:extLst>
                <a:ext uri="{FF2B5EF4-FFF2-40B4-BE49-F238E27FC236}">
                  <a16:creationId xmlns:a16="http://schemas.microsoft.com/office/drawing/2014/main" id="{868EFE9D-6BA3-51AF-2F5A-B541E7C67A52}"/>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33" name="TextBox 11">
              <a:extLst>
                <a:ext uri="{FF2B5EF4-FFF2-40B4-BE49-F238E27FC236}">
                  <a16:creationId xmlns:a16="http://schemas.microsoft.com/office/drawing/2014/main" id="{F79BA540-CD27-C439-92D4-FF1FBE192124}"/>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3" name="TextBox 28">
            <a:extLst>
              <a:ext uri="{FF2B5EF4-FFF2-40B4-BE49-F238E27FC236}">
                <a16:creationId xmlns:a16="http://schemas.microsoft.com/office/drawing/2014/main" id="{A7FA2BC2-B81D-BDE3-EBB6-CE6D3B317095}"/>
              </a:ext>
            </a:extLst>
          </p:cNvPr>
          <p:cNvSpPr txBox="1"/>
          <p:nvPr/>
        </p:nvSpPr>
        <p:spPr>
          <a:xfrm>
            <a:off x="3330482" y="8274903"/>
            <a:ext cx="11673911" cy="830997"/>
          </a:xfrm>
          <a:prstGeom prst="rect">
            <a:avLst/>
          </a:prstGeom>
        </p:spPr>
        <p:txBody>
          <a:bodyPr wrap="square" lIns="0" tIns="0" rIns="0" bIns="0" rtlCol="0" anchor="t">
            <a:spAutoFit/>
          </a:bodyPr>
          <a:lstStyle/>
          <a:p>
            <a:pPr algn="ctr">
              <a:spcBef>
                <a:spcPct val="0"/>
              </a:spcBef>
            </a:pPr>
            <a:r>
              <a:rPr lang="en-US" sz="5400" b="1" dirty="0">
                <a:solidFill>
                  <a:srgbClr val="004AAD"/>
                </a:solidFill>
                <a:latin typeface="Poppins Bold"/>
                <a:ea typeface="Poppins Bold"/>
                <a:cs typeface="Poppins Bold"/>
                <a:sym typeface="Poppins Bold"/>
              </a:rPr>
              <a:t>Daily Win Rate: </a:t>
            </a:r>
            <a:r>
              <a:rPr lang="en-US" sz="5400" b="1" dirty="0">
                <a:solidFill>
                  <a:srgbClr val="FF0000"/>
                </a:solidFill>
                <a:latin typeface="Poppins Bold"/>
                <a:ea typeface="Poppins Bold"/>
                <a:cs typeface="Poppins Bold"/>
                <a:sym typeface="Poppins Bold"/>
              </a:rPr>
              <a:t>48.36%</a:t>
            </a:r>
          </a:p>
        </p:txBody>
      </p:sp>
      <p:sp>
        <p:nvSpPr>
          <p:cNvPr id="4" name="TextBox 28">
            <a:extLst>
              <a:ext uri="{FF2B5EF4-FFF2-40B4-BE49-F238E27FC236}">
                <a16:creationId xmlns:a16="http://schemas.microsoft.com/office/drawing/2014/main" id="{AA50596E-D80B-CF27-1B88-B755B77F43D5}"/>
              </a:ext>
            </a:extLst>
          </p:cNvPr>
          <p:cNvSpPr txBox="1"/>
          <p:nvPr/>
        </p:nvSpPr>
        <p:spPr>
          <a:xfrm>
            <a:off x="-11658600" y="8427303"/>
            <a:ext cx="11673911" cy="830997"/>
          </a:xfrm>
          <a:prstGeom prst="rect">
            <a:avLst/>
          </a:prstGeom>
        </p:spPr>
        <p:txBody>
          <a:bodyPr wrap="square" lIns="0" tIns="0" rIns="0" bIns="0" rtlCol="0" anchor="t">
            <a:spAutoFit/>
          </a:bodyPr>
          <a:lstStyle/>
          <a:p>
            <a:pPr algn="ctr">
              <a:spcBef>
                <a:spcPct val="0"/>
              </a:spcBef>
            </a:pPr>
            <a:r>
              <a:rPr lang="en-US" sz="5400" b="1" dirty="0">
                <a:solidFill>
                  <a:srgbClr val="004AAD"/>
                </a:solidFill>
                <a:latin typeface="Poppins Bold"/>
                <a:ea typeface="Poppins Bold"/>
                <a:cs typeface="Poppins Bold"/>
                <a:sym typeface="Poppins Bold"/>
              </a:rPr>
              <a:t>Avg Winning Day Return: </a:t>
            </a:r>
            <a:r>
              <a:rPr lang="en-US" sz="5400" b="1" dirty="0">
                <a:solidFill>
                  <a:srgbClr val="FF0000"/>
                </a:solidFill>
                <a:latin typeface="Poppins Bold"/>
                <a:ea typeface="Poppins Bold"/>
                <a:cs typeface="Poppins Bold"/>
                <a:sym typeface="Poppins Bold"/>
              </a:rPr>
              <a:t>1.21%</a:t>
            </a:r>
          </a:p>
        </p:txBody>
      </p:sp>
      <p:sp>
        <p:nvSpPr>
          <p:cNvPr id="5" name="TextBox 28">
            <a:extLst>
              <a:ext uri="{FF2B5EF4-FFF2-40B4-BE49-F238E27FC236}">
                <a16:creationId xmlns:a16="http://schemas.microsoft.com/office/drawing/2014/main" id="{468357D4-EE95-7134-B95C-9930E4BE1BDE}"/>
              </a:ext>
            </a:extLst>
          </p:cNvPr>
          <p:cNvSpPr txBox="1"/>
          <p:nvPr/>
        </p:nvSpPr>
        <p:spPr>
          <a:xfrm>
            <a:off x="16215289" y="8427303"/>
            <a:ext cx="11673911" cy="830997"/>
          </a:xfrm>
          <a:prstGeom prst="rect">
            <a:avLst/>
          </a:prstGeom>
        </p:spPr>
        <p:txBody>
          <a:bodyPr wrap="square" lIns="0" tIns="0" rIns="0" bIns="0" rtlCol="0" anchor="t">
            <a:spAutoFit/>
          </a:bodyPr>
          <a:lstStyle/>
          <a:p>
            <a:pPr algn="ctr">
              <a:spcBef>
                <a:spcPct val="0"/>
              </a:spcBef>
            </a:pPr>
            <a:r>
              <a:rPr lang="en-US" sz="5400" b="1" dirty="0">
                <a:solidFill>
                  <a:srgbClr val="004AAD"/>
                </a:solidFill>
                <a:latin typeface="Poppins Bold"/>
                <a:ea typeface="Poppins Bold"/>
                <a:cs typeface="Poppins Bold"/>
                <a:sym typeface="Poppins Bold"/>
              </a:rPr>
              <a:t>Sharpe Ratio: </a:t>
            </a:r>
            <a:r>
              <a:rPr lang="en-US" sz="5400" b="1" dirty="0">
                <a:solidFill>
                  <a:srgbClr val="FF0000"/>
                </a:solidFill>
                <a:latin typeface="Poppins Bold"/>
                <a:ea typeface="Poppins Bold"/>
                <a:cs typeface="Poppins Bold"/>
                <a:sym typeface="Poppins Bold"/>
              </a:rPr>
              <a:t>1.341</a:t>
            </a:r>
          </a:p>
        </p:txBody>
      </p:sp>
      <p:grpSp>
        <p:nvGrpSpPr>
          <p:cNvPr id="6" name="Group 4">
            <a:extLst>
              <a:ext uri="{FF2B5EF4-FFF2-40B4-BE49-F238E27FC236}">
                <a16:creationId xmlns:a16="http://schemas.microsoft.com/office/drawing/2014/main" id="{7A03588E-3480-4737-F1E4-418094395425}"/>
              </a:ext>
            </a:extLst>
          </p:cNvPr>
          <p:cNvGrpSpPr/>
          <p:nvPr/>
        </p:nvGrpSpPr>
        <p:grpSpPr>
          <a:xfrm>
            <a:off x="2335245" y="8190586"/>
            <a:ext cx="13617510" cy="55894"/>
            <a:chOff x="0" y="0"/>
            <a:chExt cx="812800" cy="571917"/>
          </a:xfrm>
        </p:grpSpPr>
        <p:sp>
          <p:nvSpPr>
            <p:cNvPr id="9" name="TextBox 6">
              <a:extLst>
                <a:ext uri="{FF2B5EF4-FFF2-40B4-BE49-F238E27FC236}">
                  <a16:creationId xmlns:a16="http://schemas.microsoft.com/office/drawing/2014/main" id="{978C47F7-5897-3C40-0275-6D6F3BA787A1}"/>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1" name="Freeform 5">
              <a:extLst>
                <a:ext uri="{FF2B5EF4-FFF2-40B4-BE49-F238E27FC236}">
                  <a16:creationId xmlns:a16="http://schemas.microsoft.com/office/drawing/2014/main" id="{99C7E9B2-9FDB-3EB3-3165-3C53CE406A67}"/>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12" name="Group 4">
            <a:extLst>
              <a:ext uri="{FF2B5EF4-FFF2-40B4-BE49-F238E27FC236}">
                <a16:creationId xmlns:a16="http://schemas.microsoft.com/office/drawing/2014/main" id="{5F09094F-8B82-59A5-C869-D1F4D115C4A0}"/>
              </a:ext>
            </a:extLst>
          </p:cNvPr>
          <p:cNvGrpSpPr/>
          <p:nvPr/>
        </p:nvGrpSpPr>
        <p:grpSpPr>
          <a:xfrm>
            <a:off x="2487645" y="2573006"/>
            <a:ext cx="13617510" cy="55894"/>
            <a:chOff x="0" y="0"/>
            <a:chExt cx="812800" cy="571917"/>
          </a:xfrm>
        </p:grpSpPr>
        <p:sp>
          <p:nvSpPr>
            <p:cNvPr id="16" name="TextBox 6">
              <a:extLst>
                <a:ext uri="{FF2B5EF4-FFF2-40B4-BE49-F238E27FC236}">
                  <a16:creationId xmlns:a16="http://schemas.microsoft.com/office/drawing/2014/main" id="{676C416E-B9CD-3741-EA59-6F832086C64A}"/>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8" name="Freeform 5">
              <a:extLst>
                <a:ext uri="{FF2B5EF4-FFF2-40B4-BE49-F238E27FC236}">
                  <a16:creationId xmlns:a16="http://schemas.microsoft.com/office/drawing/2014/main" id="{9B45592C-AAA4-AAE5-F914-9599721160EA}"/>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spTree>
    <p:extLst>
      <p:ext uri="{BB962C8B-B14F-4D97-AF65-F5344CB8AC3E}">
        <p14:creationId xmlns:p14="http://schemas.microsoft.com/office/powerpoint/2010/main" val="32780400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A7959-AD8F-DA7B-1F90-F438C0D794D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AEBCBC0-FFE2-7FCA-EA99-E28CA96465F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sp>
        <p:nvSpPr>
          <p:cNvPr id="8" name="TextBox 8">
            <a:extLst>
              <a:ext uri="{FF2B5EF4-FFF2-40B4-BE49-F238E27FC236}">
                <a16:creationId xmlns:a16="http://schemas.microsoft.com/office/drawing/2014/main" id="{6DE68278-33DE-E361-F0A7-47F859A7007D}"/>
              </a:ext>
            </a:extLst>
          </p:cNvPr>
          <p:cNvSpPr txBox="1"/>
          <p:nvPr/>
        </p:nvSpPr>
        <p:spPr>
          <a:xfrm>
            <a:off x="880039" y="534374"/>
            <a:ext cx="10185681"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RESULT &amp; ANALYSIS</a:t>
            </a:r>
          </a:p>
        </p:txBody>
      </p:sp>
      <p:sp>
        <p:nvSpPr>
          <p:cNvPr id="10" name="TextBox 10">
            <a:extLst>
              <a:ext uri="{FF2B5EF4-FFF2-40B4-BE49-F238E27FC236}">
                <a16:creationId xmlns:a16="http://schemas.microsoft.com/office/drawing/2014/main" id="{3C84FF99-081E-8551-AD12-D2706021EC4F}"/>
              </a:ext>
            </a:extLst>
          </p:cNvPr>
          <p:cNvSpPr txBox="1"/>
          <p:nvPr/>
        </p:nvSpPr>
        <p:spPr>
          <a:xfrm>
            <a:off x="880039" y="1361564"/>
            <a:ext cx="10185681" cy="697192"/>
          </a:xfrm>
          <a:prstGeom prst="rect">
            <a:avLst/>
          </a:prstGeom>
        </p:spPr>
        <p:txBody>
          <a:bodyPr lIns="0" tIns="0" rIns="0" bIns="0" rtlCol="0" anchor="t">
            <a:spAutoFit/>
          </a:bodyPr>
          <a:lstStyle/>
          <a:p>
            <a:pPr algn="l">
              <a:lnSpc>
                <a:spcPts val="5672"/>
              </a:lnSpc>
            </a:pPr>
            <a:r>
              <a:rPr lang="en-US" sz="4051">
                <a:solidFill>
                  <a:srgbClr val="366BC7"/>
                </a:solidFill>
                <a:latin typeface="Roboto"/>
                <a:ea typeface="Roboto"/>
                <a:cs typeface="Roboto"/>
                <a:sym typeface="Roboto"/>
              </a:rPr>
              <a:t>RISK-ADJUSTED QUALITY &amp; ASYMMETRY</a:t>
            </a:r>
          </a:p>
        </p:txBody>
      </p:sp>
      <p:sp>
        <p:nvSpPr>
          <p:cNvPr id="15" name="Freeform 6">
            <a:extLst>
              <a:ext uri="{FF2B5EF4-FFF2-40B4-BE49-F238E27FC236}">
                <a16:creationId xmlns:a16="http://schemas.microsoft.com/office/drawing/2014/main" id="{DAFB5FCE-A041-B5E8-9547-65A9776418C7}"/>
              </a:ext>
            </a:extLst>
          </p:cNvPr>
          <p:cNvSpPr/>
          <p:nvPr/>
        </p:nvSpPr>
        <p:spPr>
          <a:xfrm>
            <a:off x="19168039" y="1900798"/>
            <a:ext cx="13663459" cy="7517221"/>
          </a:xfrm>
          <a:custGeom>
            <a:avLst/>
            <a:gdLst/>
            <a:ahLst/>
            <a:cxnLst/>
            <a:rect l="l" t="t" r="r" b="b"/>
            <a:pathLst>
              <a:path w="11301259" h="5777769">
                <a:moveTo>
                  <a:pt x="0" y="0"/>
                </a:moveTo>
                <a:lnTo>
                  <a:pt x="11301259" y="0"/>
                </a:lnTo>
                <a:lnTo>
                  <a:pt x="11301259" y="5777769"/>
                </a:lnTo>
                <a:lnTo>
                  <a:pt x="0" y="5777769"/>
                </a:lnTo>
                <a:lnTo>
                  <a:pt x="0" y="0"/>
                </a:lnTo>
                <a:close/>
              </a:path>
            </a:pathLst>
          </a:custGeom>
          <a:blipFill>
            <a:blip/>
            <a:stretch>
              <a:fillRect/>
            </a:stretch>
          </a:blipFill>
        </p:spPr>
        <p:txBody>
          <a:bodyPr/>
          <a:lstStyle/>
          <a:p>
            <a:endParaRPr lang="zh-CN" altLang="en-US"/>
          </a:p>
        </p:txBody>
      </p:sp>
      <p:grpSp>
        <p:nvGrpSpPr>
          <p:cNvPr id="27" name="组合 26">
            <a:extLst>
              <a:ext uri="{FF2B5EF4-FFF2-40B4-BE49-F238E27FC236}">
                <a16:creationId xmlns:a16="http://schemas.microsoft.com/office/drawing/2014/main" id="{20DBDE5F-1709-6FE2-8570-23DF3ABC0481}"/>
              </a:ext>
            </a:extLst>
          </p:cNvPr>
          <p:cNvGrpSpPr/>
          <p:nvPr/>
        </p:nvGrpSpPr>
        <p:grpSpPr>
          <a:xfrm>
            <a:off x="-37639998" y="2628900"/>
            <a:ext cx="82064598" cy="5614461"/>
            <a:chOff x="-48531322" y="3035262"/>
            <a:chExt cx="82064598" cy="5614461"/>
          </a:xfrm>
        </p:grpSpPr>
        <p:grpSp>
          <p:nvGrpSpPr>
            <p:cNvPr id="21" name="组合 20">
              <a:extLst>
                <a:ext uri="{FF2B5EF4-FFF2-40B4-BE49-F238E27FC236}">
                  <a16:creationId xmlns:a16="http://schemas.microsoft.com/office/drawing/2014/main" id="{2000E6F7-6D8E-E95F-60F7-B65E1A4D027D}"/>
                </a:ext>
              </a:extLst>
            </p:cNvPr>
            <p:cNvGrpSpPr/>
            <p:nvPr/>
          </p:nvGrpSpPr>
          <p:grpSpPr>
            <a:xfrm>
              <a:off x="-7407018" y="3035262"/>
              <a:ext cx="40940294" cy="5602124"/>
              <a:chOff x="-7407018" y="3035262"/>
              <a:chExt cx="40940294" cy="5602124"/>
            </a:xfrm>
          </p:grpSpPr>
          <p:pic>
            <p:nvPicPr>
              <p:cNvPr id="13" name="图片 12">
                <a:extLst>
                  <a:ext uri="{FF2B5EF4-FFF2-40B4-BE49-F238E27FC236}">
                    <a16:creationId xmlns:a16="http://schemas.microsoft.com/office/drawing/2014/main" id="{9EF07FA9-3B40-F1D0-6273-3E8F223A3D9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07018" y="3035262"/>
                <a:ext cx="10185680" cy="5602124"/>
              </a:xfrm>
              <a:prstGeom prst="rect">
                <a:avLst/>
              </a:prstGeom>
            </p:spPr>
          </p:pic>
          <p:pic>
            <p:nvPicPr>
              <p:cNvPr id="7" name="图片 6" descr="图表, 条形图&#10;&#10;AI 生成的内容可能不正确。">
                <a:extLst>
                  <a:ext uri="{FF2B5EF4-FFF2-40B4-BE49-F238E27FC236}">
                    <a16:creationId xmlns:a16="http://schemas.microsoft.com/office/drawing/2014/main" id="{BB4C1600-A424-4423-90AF-35D269A8DA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46698" y="3035262"/>
                <a:ext cx="10086578" cy="5547618"/>
              </a:xfrm>
              <a:prstGeom prst="rect">
                <a:avLst/>
              </a:prstGeom>
            </p:spPr>
          </p:pic>
          <p:pic>
            <p:nvPicPr>
              <p:cNvPr id="14" name="图片 13" descr="图表, 瀑布图&#10;&#10;AI 生成的内容可能不正确。">
                <a:extLst>
                  <a:ext uri="{FF2B5EF4-FFF2-40B4-BE49-F238E27FC236}">
                    <a16:creationId xmlns:a16="http://schemas.microsoft.com/office/drawing/2014/main" id="{4FCFB4A4-C702-EF36-86F6-1C5CC9E844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195160" y="3035262"/>
                <a:ext cx="10086578" cy="5563628"/>
              </a:xfrm>
              <a:prstGeom prst="rect">
                <a:avLst/>
              </a:prstGeom>
            </p:spPr>
          </p:pic>
          <p:pic>
            <p:nvPicPr>
              <p:cNvPr id="20" name="图片 19" descr="图表, 条形图&#10;&#10;AI 生成的内容可能不正确。">
                <a:extLst>
                  <a:ext uri="{FF2B5EF4-FFF2-40B4-BE49-F238E27FC236}">
                    <a16:creationId xmlns:a16="http://schemas.microsoft.com/office/drawing/2014/main" id="{32312A64-66E6-6435-D2D5-159A672A6B7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43622" y="3047599"/>
                <a:ext cx="10086578" cy="5547618"/>
              </a:xfrm>
              <a:prstGeom prst="rect">
                <a:avLst/>
              </a:prstGeom>
            </p:spPr>
          </p:pic>
        </p:grpSp>
        <p:grpSp>
          <p:nvGrpSpPr>
            <p:cNvPr id="22" name="组合 21">
              <a:extLst>
                <a:ext uri="{FF2B5EF4-FFF2-40B4-BE49-F238E27FC236}">
                  <a16:creationId xmlns:a16="http://schemas.microsoft.com/office/drawing/2014/main" id="{57F05FD1-476B-D9EE-32AF-F0E01AEB62FD}"/>
                </a:ext>
              </a:extLst>
            </p:cNvPr>
            <p:cNvGrpSpPr/>
            <p:nvPr/>
          </p:nvGrpSpPr>
          <p:grpSpPr>
            <a:xfrm>
              <a:off x="-48531322" y="3047599"/>
              <a:ext cx="40940294" cy="5602124"/>
              <a:chOff x="-7407018" y="3035262"/>
              <a:chExt cx="40940294" cy="5602124"/>
            </a:xfrm>
          </p:grpSpPr>
          <p:pic>
            <p:nvPicPr>
              <p:cNvPr id="23" name="图片 22" descr="图表&#10;&#10;AI 生成的内容可能不正确。">
                <a:extLst>
                  <a:ext uri="{FF2B5EF4-FFF2-40B4-BE49-F238E27FC236}">
                    <a16:creationId xmlns:a16="http://schemas.microsoft.com/office/drawing/2014/main" id="{E954631C-C447-A556-AC35-7B9EEECA99A3}"/>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7407018" y="3035262"/>
                <a:ext cx="10185680" cy="5602124"/>
              </a:xfrm>
              <a:prstGeom prst="rect">
                <a:avLst/>
              </a:prstGeom>
            </p:spPr>
          </p:pic>
          <p:pic>
            <p:nvPicPr>
              <p:cNvPr id="24" name="图片 23" descr="图表, 条形图&#10;&#10;AI 生成的内容可能不正确。">
                <a:extLst>
                  <a:ext uri="{FF2B5EF4-FFF2-40B4-BE49-F238E27FC236}">
                    <a16:creationId xmlns:a16="http://schemas.microsoft.com/office/drawing/2014/main" id="{B608353C-18E2-1492-770F-95C6A79A76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46698" y="3035262"/>
                <a:ext cx="10086578" cy="5547618"/>
              </a:xfrm>
              <a:prstGeom prst="rect">
                <a:avLst/>
              </a:prstGeom>
            </p:spPr>
          </p:pic>
          <p:pic>
            <p:nvPicPr>
              <p:cNvPr id="25" name="图片 24" descr="图表, 瀑布图&#10;&#10;AI 生成的内容可能不正确。">
                <a:extLst>
                  <a:ext uri="{FF2B5EF4-FFF2-40B4-BE49-F238E27FC236}">
                    <a16:creationId xmlns:a16="http://schemas.microsoft.com/office/drawing/2014/main" id="{0687CED5-9FA1-D6F0-3769-270BBF0D94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195160" y="3035262"/>
                <a:ext cx="10086578" cy="5563628"/>
              </a:xfrm>
              <a:prstGeom prst="rect">
                <a:avLst/>
              </a:prstGeom>
            </p:spPr>
          </p:pic>
          <p:pic>
            <p:nvPicPr>
              <p:cNvPr id="26" name="图片 25" descr="图表, 条形图&#10;&#10;AI 生成的内容可能不正确。">
                <a:extLst>
                  <a:ext uri="{FF2B5EF4-FFF2-40B4-BE49-F238E27FC236}">
                    <a16:creationId xmlns:a16="http://schemas.microsoft.com/office/drawing/2014/main" id="{AF0EF9F0-79BA-5F77-00F9-AC12B73727E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43622" y="3047599"/>
                <a:ext cx="10086578" cy="5547618"/>
              </a:xfrm>
              <a:prstGeom prst="rect">
                <a:avLst/>
              </a:prstGeom>
            </p:spPr>
          </p:pic>
        </p:grpSp>
      </p:grpSp>
      <p:grpSp>
        <p:nvGrpSpPr>
          <p:cNvPr id="28" name="Group 4">
            <a:extLst>
              <a:ext uri="{FF2B5EF4-FFF2-40B4-BE49-F238E27FC236}">
                <a16:creationId xmlns:a16="http://schemas.microsoft.com/office/drawing/2014/main" id="{6913E3A7-6522-2EA0-2C9D-6C1E86EE491F}"/>
              </a:ext>
            </a:extLst>
          </p:cNvPr>
          <p:cNvGrpSpPr/>
          <p:nvPr/>
        </p:nvGrpSpPr>
        <p:grpSpPr>
          <a:xfrm rot="5400000">
            <a:off x="-1543050" y="4057749"/>
            <a:ext cx="3086100" cy="2171499"/>
            <a:chOff x="0" y="0"/>
            <a:chExt cx="812800" cy="571917"/>
          </a:xfrm>
        </p:grpSpPr>
        <p:sp>
          <p:nvSpPr>
            <p:cNvPr id="29" name="Freeform 5">
              <a:extLst>
                <a:ext uri="{FF2B5EF4-FFF2-40B4-BE49-F238E27FC236}">
                  <a16:creationId xmlns:a16="http://schemas.microsoft.com/office/drawing/2014/main" id="{7488567C-2160-68B6-8942-55F17A89B47C}"/>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30" name="TextBox 6">
              <a:extLst>
                <a:ext uri="{FF2B5EF4-FFF2-40B4-BE49-F238E27FC236}">
                  <a16:creationId xmlns:a16="http://schemas.microsoft.com/office/drawing/2014/main" id="{F001B02C-9E5C-4B28-6E3F-B41ABB17794F}"/>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31" name="Group 9">
            <a:extLst>
              <a:ext uri="{FF2B5EF4-FFF2-40B4-BE49-F238E27FC236}">
                <a16:creationId xmlns:a16="http://schemas.microsoft.com/office/drawing/2014/main" id="{757EFB12-5696-F6CB-A18C-FF787E0C81DA}"/>
              </a:ext>
            </a:extLst>
          </p:cNvPr>
          <p:cNvGrpSpPr/>
          <p:nvPr/>
        </p:nvGrpSpPr>
        <p:grpSpPr>
          <a:xfrm rot="16200000">
            <a:off x="16699267" y="4057749"/>
            <a:ext cx="3086100" cy="2171499"/>
            <a:chOff x="0" y="0"/>
            <a:chExt cx="812800" cy="571917"/>
          </a:xfrm>
        </p:grpSpPr>
        <p:sp>
          <p:nvSpPr>
            <p:cNvPr id="32" name="Freeform 10">
              <a:extLst>
                <a:ext uri="{FF2B5EF4-FFF2-40B4-BE49-F238E27FC236}">
                  <a16:creationId xmlns:a16="http://schemas.microsoft.com/office/drawing/2014/main" id="{A2F80FED-F971-20D5-E026-0C493E80F8AC}"/>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33" name="TextBox 11">
              <a:extLst>
                <a:ext uri="{FF2B5EF4-FFF2-40B4-BE49-F238E27FC236}">
                  <a16:creationId xmlns:a16="http://schemas.microsoft.com/office/drawing/2014/main" id="{97E9713F-5C58-E9A7-9520-458E47408A71}"/>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3" name="TextBox 28">
            <a:extLst>
              <a:ext uri="{FF2B5EF4-FFF2-40B4-BE49-F238E27FC236}">
                <a16:creationId xmlns:a16="http://schemas.microsoft.com/office/drawing/2014/main" id="{6BAA6E37-EFB9-F492-FB64-72ECE152A63C}"/>
              </a:ext>
            </a:extLst>
          </p:cNvPr>
          <p:cNvSpPr txBox="1"/>
          <p:nvPr/>
        </p:nvSpPr>
        <p:spPr>
          <a:xfrm>
            <a:off x="3330482" y="8274903"/>
            <a:ext cx="11673911" cy="830997"/>
          </a:xfrm>
          <a:prstGeom prst="rect">
            <a:avLst/>
          </a:prstGeom>
        </p:spPr>
        <p:txBody>
          <a:bodyPr wrap="square" lIns="0" tIns="0" rIns="0" bIns="0" rtlCol="0" anchor="t">
            <a:spAutoFit/>
          </a:bodyPr>
          <a:lstStyle/>
          <a:p>
            <a:pPr algn="ctr">
              <a:spcBef>
                <a:spcPct val="0"/>
              </a:spcBef>
            </a:pPr>
            <a:r>
              <a:rPr lang="en-US" sz="5400" b="1" dirty="0">
                <a:solidFill>
                  <a:srgbClr val="004AAD"/>
                </a:solidFill>
                <a:latin typeface="Poppins Bold"/>
                <a:ea typeface="Poppins Bold"/>
                <a:cs typeface="Poppins Bold"/>
                <a:sym typeface="Poppins Bold"/>
              </a:rPr>
              <a:t>Sharpe Ratio: </a:t>
            </a:r>
            <a:r>
              <a:rPr lang="en-US" sz="5400" b="1" dirty="0">
                <a:solidFill>
                  <a:srgbClr val="FF0000"/>
                </a:solidFill>
                <a:latin typeface="Poppins Bold"/>
                <a:ea typeface="Poppins Bold"/>
                <a:cs typeface="Poppins Bold"/>
                <a:sym typeface="Poppins Bold"/>
              </a:rPr>
              <a:t>1.341</a:t>
            </a:r>
          </a:p>
        </p:txBody>
      </p:sp>
      <p:sp>
        <p:nvSpPr>
          <p:cNvPr id="4" name="TextBox 28">
            <a:extLst>
              <a:ext uri="{FF2B5EF4-FFF2-40B4-BE49-F238E27FC236}">
                <a16:creationId xmlns:a16="http://schemas.microsoft.com/office/drawing/2014/main" id="{048B8E40-ED6C-E923-9A1F-4EE739EE3774}"/>
              </a:ext>
            </a:extLst>
          </p:cNvPr>
          <p:cNvSpPr txBox="1"/>
          <p:nvPr/>
        </p:nvSpPr>
        <p:spPr>
          <a:xfrm>
            <a:off x="-10668000" y="8427303"/>
            <a:ext cx="11673911" cy="830997"/>
          </a:xfrm>
          <a:prstGeom prst="rect">
            <a:avLst/>
          </a:prstGeom>
        </p:spPr>
        <p:txBody>
          <a:bodyPr wrap="square" lIns="0" tIns="0" rIns="0" bIns="0" rtlCol="0" anchor="t">
            <a:spAutoFit/>
          </a:bodyPr>
          <a:lstStyle/>
          <a:p>
            <a:pPr algn="ctr">
              <a:spcBef>
                <a:spcPct val="0"/>
              </a:spcBef>
            </a:pPr>
            <a:r>
              <a:rPr lang="en-US" sz="5400" b="1" dirty="0">
                <a:solidFill>
                  <a:srgbClr val="004AAD"/>
                </a:solidFill>
                <a:latin typeface="Poppins Bold"/>
                <a:ea typeface="Poppins Bold"/>
                <a:cs typeface="Poppins Bold"/>
                <a:sym typeface="Poppins Bold"/>
              </a:rPr>
              <a:t>Daily Win Rate: </a:t>
            </a:r>
            <a:r>
              <a:rPr lang="en-US" sz="5400" b="1" dirty="0">
                <a:solidFill>
                  <a:srgbClr val="FF0000"/>
                </a:solidFill>
                <a:latin typeface="Poppins Bold"/>
                <a:ea typeface="Poppins Bold"/>
                <a:cs typeface="Poppins Bold"/>
                <a:sym typeface="Poppins Bold"/>
              </a:rPr>
              <a:t>48.36%</a:t>
            </a:r>
          </a:p>
        </p:txBody>
      </p:sp>
      <p:grpSp>
        <p:nvGrpSpPr>
          <p:cNvPr id="5" name="Group 4">
            <a:extLst>
              <a:ext uri="{FF2B5EF4-FFF2-40B4-BE49-F238E27FC236}">
                <a16:creationId xmlns:a16="http://schemas.microsoft.com/office/drawing/2014/main" id="{EC5C9A07-FE24-692E-FF64-B7F861888D6A}"/>
              </a:ext>
            </a:extLst>
          </p:cNvPr>
          <p:cNvGrpSpPr/>
          <p:nvPr/>
        </p:nvGrpSpPr>
        <p:grpSpPr>
          <a:xfrm>
            <a:off x="2335245" y="8190586"/>
            <a:ext cx="13617510" cy="55894"/>
            <a:chOff x="0" y="0"/>
            <a:chExt cx="812800" cy="571917"/>
          </a:xfrm>
        </p:grpSpPr>
        <p:sp>
          <p:nvSpPr>
            <p:cNvPr id="6" name="TextBox 6">
              <a:extLst>
                <a:ext uri="{FF2B5EF4-FFF2-40B4-BE49-F238E27FC236}">
                  <a16:creationId xmlns:a16="http://schemas.microsoft.com/office/drawing/2014/main" id="{67865389-FEEA-891B-81A5-6010BC3D79D6}"/>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9" name="Freeform 5">
              <a:extLst>
                <a:ext uri="{FF2B5EF4-FFF2-40B4-BE49-F238E27FC236}">
                  <a16:creationId xmlns:a16="http://schemas.microsoft.com/office/drawing/2014/main" id="{2346C073-285D-99EB-822D-E30E38DA0B61}"/>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11" name="Group 4">
            <a:extLst>
              <a:ext uri="{FF2B5EF4-FFF2-40B4-BE49-F238E27FC236}">
                <a16:creationId xmlns:a16="http://schemas.microsoft.com/office/drawing/2014/main" id="{B2989A4B-D9E6-99A5-A751-B0C1DB4F8615}"/>
              </a:ext>
            </a:extLst>
          </p:cNvPr>
          <p:cNvGrpSpPr/>
          <p:nvPr/>
        </p:nvGrpSpPr>
        <p:grpSpPr>
          <a:xfrm>
            <a:off x="2487645" y="2573006"/>
            <a:ext cx="13617510" cy="55894"/>
            <a:chOff x="0" y="0"/>
            <a:chExt cx="812800" cy="571917"/>
          </a:xfrm>
        </p:grpSpPr>
        <p:sp>
          <p:nvSpPr>
            <p:cNvPr id="12" name="TextBox 6">
              <a:extLst>
                <a:ext uri="{FF2B5EF4-FFF2-40B4-BE49-F238E27FC236}">
                  <a16:creationId xmlns:a16="http://schemas.microsoft.com/office/drawing/2014/main" id="{0FF6880C-08E2-4BD1-0518-3E39FCF30D9F}"/>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16" name="Freeform 5">
              <a:extLst>
                <a:ext uri="{FF2B5EF4-FFF2-40B4-BE49-F238E27FC236}">
                  <a16:creationId xmlns:a16="http://schemas.microsoft.com/office/drawing/2014/main" id="{F08B80AF-E7D7-11F9-B7CE-100BCA49CCD7}"/>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spTree>
    <p:extLst>
      <p:ext uri="{BB962C8B-B14F-4D97-AF65-F5344CB8AC3E}">
        <p14:creationId xmlns:p14="http://schemas.microsoft.com/office/powerpoint/2010/main" val="8948645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grpSp>
        <p:nvGrpSpPr>
          <p:cNvPr id="3" name="Group 3"/>
          <p:cNvGrpSpPr/>
          <p:nvPr/>
        </p:nvGrpSpPr>
        <p:grpSpPr>
          <a:xfrm>
            <a:off x="763833" y="9471696"/>
            <a:ext cx="2514600" cy="260350"/>
            <a:chOff x="0" y="0"/>
            <a:chExt cx="662281" cy="68570"/>
          </a:xfrm>
        </p:grpSpPr>
        <p:sp>
          <p:nvSpPr>
            <p:cNvPr id="4" name="Freeform 4"/>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zh-CN" altLang="en-US"/>
            </a:p>
          </p:txBody>
        </p:sp>
        <p:sp>
          <p:nvSpPr>
            <p:cNvPr id="5" name="TextBox 5"/>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763833" y="913997"/>
            <a:ext cx="10914816"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FUTURE DIRECTION</a:t>
            </a:r>
          </a:p>
        </p:txBody>
      </p:sp>
      <p:sp>
        <p:nvSpPr>
          <p:cNvPr id="16" name="TextBox 16"/>
          <p:cNvSpPr txBox="1"/>
          <p:nvPr/>
        </p:nvSpPr>
        <p:spPr>
          <a:xfrm>
            <a:off x="3612390" y="7931940"/>
            <a:ext cx="10914816" cy="640560"/>
          </a:xfrm>
          <a:prstGeom prst="rect">
            <a:avLst/>
          </a:prstGeom>
        </p:spPr>
        <p:txBody>
          <a:bodyPr lIns="0" tIns="0" rIns="0" bIns="0" rtlCol="0" anchor="t">
            <a:spAutoFit/>
          </a:bodyPr>
          <a:lstStyle/>
          <a:p>
            <a:pPr algn="ctr">
              <a:lnSpc>
                <a:spcPts val="4516"/>
              </a:lnSpc>
            </a:pPr>
            <a:r>
              <a:rPr lang="en-US" sz="5400" dirty="0">
                <a:solidFill>
                  <a:srgbClr val="004AAD"/>
                </a:solidFill>
                <a:latin typeface="League Spartan"/>
                <a:ea typeface="League Spartan"/>
                <a:cs typeface="League Spartan"/>
                <a:sym typeface="League Spartan"/>
              </a:rPr>
              <a:t>SaaS &amp; User Experience</a:t>
            </a:r>
          </a:p>
        </p:txBody>
      </p:sp>
      <p:sp>
        <p:nvSpPr>
          <p:cNvPr id="17" name="TextBox 17"/>
          <p:cNvSpPr txBox="1"/>
          <p:nvPr/>
        </p:nvSpPr>
        <p:spPr>
          <a:xfrm>
            <a:off x="20040270" y="7931940"/>
            <a:ext cx="10914816" cy="640560"/>
          </a:xfrm>
          <a:prstGeom prst="rect">
            <a:avLst/>
          </a:prstGeom>
        </p:spPr>
        <p:txBody>
          <a:bodyPr lIns="0" tIns="0" rIns="0" bIns="0" rtlCol="0" anchor="t">
            <a:spAutoFit/>
          </a:bodyPr>
          <a:lstStyle/>
          <a:p>
            <a:pPr algn="l">
              <a:lnSpc>
                <a:spcPts val="4516"/>
              </a:lnSpc>
            </a:pPr>
            <a:r>
              <a:rPr lang="en-US" sz="5400" dirty="0">
                <a:solidFill>
                  <a:srgbClr val="366BC7"/>
                </a:solidFill>
                <a:latin typeface="League Spartan"/>
                <a:ea typeface="League Spartan"/>
                <a:cs typeface="League Spartan"/>
                <a:sym typeface="League Spartan"/>
              </a:rPr>
              <a:t>Self-Reflection Mechanism</a:t>
            </a:r>
          </a:p>
        </p:txBody>
      </p:sp>
      <p:sp>
        <p:nvSpPr>
          <p:cNvPr id="18" name="TextBox 18"/>
          <p:cNvSpPr txBox="1"/>
          <p:nvPr/>
        </p:nvSpPr>
        <p:spPr>
          <a:xfrm>
            <a:off x="36347400" y="7931940"/>
            <a:ext cx="10914816" cy="640560"/>
          </a:xfrm>
          <a:prstGeom prst="rect">
            <a:avLst/>
          </a:prstGeom>
        </p:spPr>
        <p:txBody>
          <a:bodyPr lIns="0" tIns="0" rIns="0" bIns="0" rtlCol="0" anchor="t">
            <a:spAutoFit/>
          </a:bodyPr>
          <a:lstStyle/>
          <a:p>
            <a:pPr algn="l">
              <a:lnSpc>
                <a:spcPts val="4516"/>
              </a:lnSpc>
            </a:pPr>
            <a:r>
              <a:rPr lang="en-US" sz="5400" dirty="0">
                <a:solidFill>
                  <a:srgbClr val="3886E1"/>
                </a:solidFill>
                <a:latin typeface="League Spartan"/>
                <a:ea typeface="League Spartan"/>
                <a:cs typeface="League Spartan"/>
                <a:sym typeface="League Spartan"/>
              </a:rPr>
              <a:t>Black Swan Prediction Module</a:t>
            </a:r>
          </a:p>
        </p:txBody>
      </p:sp>
      <p:grpSp>
        <p:nvGrpSpPr>
          <p:cNvPr id="52" name="组合 51">
            <a:extLst>
              <a:ext uri="{FF2B5EF4-FFF2-40B4-BE49-F238E27FC236}">
                <a16:creationId xmlns:a16="http://schemas.microsoft.com/office/drawing/2014/main" id="{10F63324-6AAC-0801-0B20-AB7A34A0B852}"/>
              </a:ext>
            </a:extLst>
          </p:cNvPr>
          <p:cNvGrpSpPr/>
          <p:nvPr/>
        </p:nvGrpSpPr>
        <p:grpSpPr>
          <a:xfrm>
            <a:off x="-22402800" y="2857572"/>
            <a:ext cx="79927173" cy="4571852"/>
            <a:chOff x="-3657600" y="15082946"/>
            <a:chExt cx="79927173" cy="4571852"/>
          </a:xfrm>
        </p:grpSpPr>
        <p:grpSp>
          <p:nvGrpSpPr>
            <p:cNvPr id="43" name="组合 42">
              <a:extLst>
                <a:ext uri="{FF2B5EF4-FFF2-40B4-BE49-F238E27FC236}">
                  <a16:creationId xmlns:a16="http://schemas.microsoft.com/office/drawing/2014/main" id="{06D69503-8FD3-D942-A7CF-16980452D828}"/>
                </a:ext>
              </a:extLst>
            </p:cNvPr>
            <p:cNvGrpSpPr/>
            <p:nvPr/>
          </p:nvGrpSpPr>
          <p:grpSpPr>
            <a:xfrm>
              <a:off x="-3657600" y="15082946"/>
              <a:ext cx="26575908" cy="4571852"/>
              <a:chOff x="-3505200" y="3057497"/>
              <a:chExt cx="26575908" cy="4571852"/>
            </a:xfrm>
          </p:grpSpPr>
          <p:sp>
            <p:nvSpPr>
              <p:cNvPr id="9" name="Freeform 12">
                <a:extLst>
                  <a:ext uri="{FF2B5EF4-FFF2-40B4-BE49-F238E27FC236}">
                    <a16:creationId xmlns:a16="http://schemas.microsoft.com/office/drawing/2014/main" id="{307C9626-8416-FE9F-686A-92F723121414}"/>
                  </a:ext>
                </a:extLst>
              </p:cNvPr>
              <p:cNvSpPr/>
              <p:nvPr/>
            </p:nvSpPr>
            <p:spPr>
              <a:xfrm>
                <a:off x="-3505200" y="3057497"/>
                <a:ext cx="8733842" cy="4571852"/>
              </a:xfrm>
              <a:custGeom>
                <a:avLst/>
                <a:gdLst/>
                <a:ahLst/>
                <a:cxnLst/>
                <a:rect l="l" t="t" r="r" b="b"/>
                <a:pathLst>
                  <a:path w="5315784" h="2739093">
                    <a:moveTo>
                      <a:pt x="0" y="0"/>
                    </a:moveTo>
                    <a:lnTo>
                      <a:pt x="5315784" y="0"/>
                    </a:lnTo>
                    <a:lnTo>
                      <a:pt x="5315784" y="2739094"/>
                    </a:lnTo>
                    <a:lnTo>
                      <a:pt x="0" y="2739094"/>
                    </a:lnTo>
                    <a:lnTo>
                      <a:pt x="0" y="0"/>
                    </a:lnTo>
                    <a:close/>
                  </a:path>
                </a:pathLst>
              </a:custGeom>
              <a:blipFill>
                <a:blip r:embed="rId3"/>
                <a:stretch>
                  <a:fillRect l="-4615" b="-35268"/>
                </a:stretch>
              </a:blipFill>
            </p:spPr>
            <p:txBody>
              <a:bodyPr/>
              <a:lstStyle/>
              <a:p>
                <a:endParaRPr lang="zh-CN" altLang="en-US"/>
              </a:p>
            </p:txBody>
          </p:sp>
          <p:sp>
            <p:nvSpPr>
              <p:cNvPr id="10" name="Freeform 13">
                <a:extLst>
                  <a:ext uri="{FF2B5EF4-FFF2-40B4-BE49-F238E27FC236}">
                    <a16:creationId xmlns:a16="http://schemas.microsoft.com/office/drawing/2014/main" id="{4AC270BF-1B96-FB6D-A79D-EF68247586DB}"/>
                  </a:ext>
                </a:extLst>
              </p:cNvPr>
              <p:cNvSpPr/>
              <p:nvPr/>
            </p:nvSpPr>
            <p:spPr>
              <a:xfrm>
                <a:off x="5286955" y="3057497"/>
                <a:ext cx="8991599" cy="4571852"/>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4"/>
                <a:stretch>
                  <a:fillRect t="-45028" b="-51171"/>
                </a:stretch>
              </a:blipFill>
            </p:spPr>
            <p:txBody>
              <a:bodyPr/>
              <a:lstStyle/>
              <a:p>
                <a:endParaRPr lang="zh-CN" altLang="en-US"/>
              </a:p>
            </p:txBody>
          </p:sp>
          <p:sp>
            <p:nvSpPr>
              <p:cNvPr id="11" name="Freeform 14">
                <a:extLst>
                  <a:ext uri="{FF2B5EF4-FFF2-40B4-BE49-F238E27FC236}">
                    <a16:creationId xmlns:a16="http://schemas.microsoft.com/office/drawing/2014/main" id="{696D1FDF-6998-9D4F-146E-98F08B7634BA}"/>
                  </a:ext>
                </a:extLst>
              </p:cNvPr>
              <p:cNvSpPr/>
              <p:nvPr/>
            </p:nvSpPr>
            <p:spPr>
              <a:xfrm>
                <a:off x="14336865" y="3057497"/>
                <a:ext cx="8733843" cy="4571851"/>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5"/>
                <a:stretch>
                  <a:fillRect l="-636" t="-6243" r="-504" b="-25966"/>
                </a:stretch>
              </a:blipFill>
            </p:spPr>
            <p:txBody>
              <a:bodyPr/>
              <a:lstStyle/>
              <a:p>
                <a:endParaRPr lang="zh-CN" altLang="en-US"/>
              </a:p>
            </p:txBody>
          </p:sp>
        </p:grpSp>
        <p:grpSp>
          <p:nvGrpSpPr>
            <p:cNvPr id="44" name="组合 43">
              <a:extLst>
                <a:ext uri="{FF2B5EF4-FFF2-40B4-BE49-F238E27FC236}">
                  <a16:creationId xmlns:a16="http://schemas.microsoft.com/office/drawing/2014/main" id="{34530A5E-B47E-925C-9DA2-B455E1C36AF9}"/>
                </a:ext>
              </a:extLst>
            </p:cNvPr>
            <p:cNvGrpSpPr/>
            <p:nvPr/>
          </p:nvGrpSpPr>
          <p:grpSpPr>
            <a:xfrm>
              <a:off x="23059446" y="15082946"/>
              <a:ext cx="26575908" cy="4571852"/>
              <a:chOff x="-3505200" y="3057497"/>
              <a:chExt cx="26575908" cy="4571852"/>
            </a:xfrm>
          </p:grpSpPr>
          <p:sp>
            <p:nvSpPr>
              <p:cNvPr id="45" name="Freeform 12">
                <a:extLst>
                  <a:ext uri="{FF2B5EF4-FFF2-40B4-BE49-F238E27FC236}">
                    <a16:creationId xmlns:a16="http://schemas.microsoft.com/office/drawing/2014/main" id="{9492C08A-9BAA-C96A-1397-275B76D00173}"/>
                  </a:ext>
                </a:extLst>
              </p:cNvPr>
              <p:cNvSpPr/>
              <p:nvPr/>
            </p:nvSpPr>
            <p:spPr>
              <a:xfrm>
                <a:off x="-3505200" y="3057497"/>
                <a:ext cx="8733842" cy="4571852"/>
              </a:xfrm>
              <a:custGeom>
                <a:avLst/>
                <a:gdLst/>
                <a:ahLst/>
                <a:cxnLst/>
                <a:rect l="l" t="t" r="r" b="b"/>
                <a:pathLst>
                  <a:path w="5315784" h="2739093">
                    <a:moveTo>
                      <a:pt x="0" y="0"/>
                    </a:moveTo>
                    <a:lnTo>
                      <a:pt x="5315784" y="0"/>
                    </a:lnTo>
                    <a:lnTo>
                      <a:pt x="5315784" y="2739094"/>
                    </a:lnTo>
                    <a:lnTo>
                      <a:pt x="0" y="2739094"/>
                    </a:lnTo>
                    <a:lnTo>
                      <a:pt x="0" y="0"/>
                    </a:lnTo>
                    <a:close/>
                  </a:path>
                </a:pathLst>
              </a:custGeom>
              <a:blipFill>
                <a:blip r:embed="rId3"/>
                <a:stretch>
                  <a:fillRect l="-4615" b="-35268"/>
                </a:stretch>
              </a:blipFill>
            </p:spPr>
            <p:txBody>
              <a:bodyPr/>
              <a:lstStyle/>
              <a:p>
                <a:endParaRPr lang="zh-CN" altLang="en-US"/>
              </a:p>
            </p:txBody>
          </p:sp>
          <p:sp>
            <p:nvSpPr>
              <p:cNvPr id="46" name="Freeform 13">
                <a:extLst>
                  <a:ext uri="{FF2B5EF4-FFF2-40B4-BE49-F238E27FC236}">
                    <a16:creationId xmlns:a16="http://schemas.microsoft.com/office/drawing/2014/main" id="{7909E2F0-7A8C-4CA9-75B2-1C3BA1C414ED}"/>
                  </a:ext>
                </a:extLst>
              </p:cNvPr>
              <p:cNvSpPr/>
              <p:nvPr/>
            </p:nvSpPr>
            <p:spPr>
              <a:xfrm>
                <a:off x="5286955" y="3057497"/>
                <a:ext cx="8991599" cy="4571852"/>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4"/>
                <a:stretch>
                  <a:fillRect t="-45028" b="-51171"/>
                </a:stretch>
              </a:blipFill>
            </p:spPr>
            <p:txBody>
              <a:bodyPr/>
              <a:lstStyle/>
              <a:p>
                <a:endParaRPr lang="zh-CN" altLang="en-US"/>
              </a:p>
            </p:txBody>
          </p:sp>
          <p:sp>
            <p:nvSpPr>
              <p:cNvPr id="47" name="Freeform 14">
                <a:extLst>
                  <a:ext uri="{FF2B5EF4-FFF2-40B4-BE49-F238E27FC236}">
                    <a16:creationId xmlns:a16="http://schemas.microsoft.com/office/drawing/2014/main" id="{F067C1F8-A73E-E0DC-E9D3-BD3995C14637}"/>
                  </a:ext>
                </a:extLst>
              </p:cNvPr>
              <p:cNvSpPr/>
              <p:nvPr/>
            </p:nvSpPr>
            <p:spPr>
              <a:xfrm>
                <a:off x="14336865" y="3057497"/>
                <a:ext cx="8733843" cy="4571851"/>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5"/>
                <a:stretch>
                  <a:fillRect l="-636" t="-6243" r="-504" b="-25966"/>
                </a:stretch>
              </a:blipFill>
            </p:spPr>
            <p:txBody>
              <a:bodyPr/>
              <a:lstStyle/>
              <a:p>
                <a:endParaRPr lang="zh-CN" altLang="en-US"/>
              </a:p>
            </p:txBody>
          </p:sp>
        </p:grpSp>
        <p:grpSp>
          <p:nvGrpSpPr>
            <p:cNvPr id="48" name="组合 47">
              <a:extLst>
                <a:ext uri="{FF2B5EF4-FFF2-40B4-BE49-F238E27FC236}">
                  <a16:creationId xmlns:a16="http://schemas.microsoft.com/office/drawing/2014/main" id="{4511362A-B9FC-BF41-159B-34CEEB82B50B}"/>
                </a:ext>
              </a:extLst>
            </p:cNvPr>
            <p:cNvGrpSpPr/>
            <p:nvPr/>
          </p:nvGrpSpPr>
          <p:grpSpPr>
            <a:xfrm>
              <a:off x="49693665" y="15082946"/>
              <a:ext cx="26575908" cy="4571852"/>
              <a:chOff x="-3505200" y="3057497"/>
              <a:chExt cx="26575908" cy="4571852"/>
            </a:xfrm>
          </p:grpSpPr>
          <p:sp>
            <p:nvSpPr>
              <p:cNvPr id="49" name="Freeform 12">
                <a:extLst>
                  <a:ext uri="{FF2B5EF4-FFF2-40B4-BE49-F238E27FC236}">
                    <a16:creationId xmlns:a16="http://schemas.microsoft.com/office/drawing/2014/main" id="{B7143425-1088-D295-B744-DEF18B035825}"/>
                  </a:ext>
                </a:extLst>
              </p:cNvPr>
              <p:cNvSpPr/>
              <p:nvPr/>
            </p:nvSpPr>
            <p:spPr>
              <a:xfrm>
                <a:off x="-3505200" y="3057497"/>
                <a:ext cx="8733842" cy="4571852"/>
              </a:xfrm>
              <a:custGeom>
                <a:avLst/>
                <a:gdLst/>
                <a:ahLst/>
                <a:cxnLst/>
                <a:rect l="l" t="t" r="r" b="b"/>
                <a:pathLst>
                  <a:path w="5315784" h="2739093">
                    <a:moveTo>
                      <a:pt x="0" y="0"/>
                    </a:moveTo>
                    <a:lnTo>
                      <a:pt x="5315784" y="0"/>
                    </a:lnTo>
                    <a:lnTo>
                      <a:pt x="5315784" y="2739094"/>
                    </a:lnTo>
                    <a:lnTo>
                      <a:pt x="0" y="2739094"/>
                    </a:lnTo>
                    <a:lnTo>
                      <a:pt x="0" y="0"/>
                    </a:lnTo>
                    <a:close/>
                  </a:path>
                </a:pathLst>
              </a:custGeom>
              <a:blipFill>
                <a:blip r:embed="rId3"/>
                <a:stretch>
                  <a:fillRect l="-4615" b="-35268"/>
                </a:stretch>
              </a:blipFill>
            </p:spPr>
            <p:txBody>
              <a:bodyPr/>
              <a:lstStyle/>
              <a:p>
                <a:endParaRPr lang="zh-CN" altLang="en-US"/>
              </a:p>
            </p:txBody>
          </p:sp>
          <p:sp>
            <p:nvSpPr>
              <p:cNvPr id="50" name="Freeform 13">
                <a:extLst>
                  <a:ext uri="{FF2B5EF4-FFF2-40B4-BE49-F238E27FC236}">
                    <a16:creationId xmlns:a16="http://schemas.microsoft.com/office/drawing/2014/main" id="{213A5B01-A19D-8A6E-AFCC-68E37FF91BAD}"/>
                  </a:ext>
                </a:extLst>
              </p:cNvPr>
              <p:cNvSpPr/>
              <p:nvPr/>
            </p:nvSpPr>
            <p:spPr>
              <a:xfrm>
                <a:off x="5286955" y="3057497"/>
                <a:ext cx="8991599" cy="4571852"/>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4"/>
                <a:stretch>
                  <a:fillRect t="-45028" b="-51171"/>
                </a:stretch>
              </a:blipFill>
            </p:spPr>
            <p:txBody>
              <a:bodyPr/>
              <a:lstStyle/>
              <a:p>
                <a:endParaRPr lang="zh-CN" altLang="en-US"/>
              </a:p>
            </p:txBody>
          </p:sp>
          <p:sp>
            <p:nvSpPr>
              <p:cNvPr id="51" name="Freeform 14">
                <a:extLst>
                  <a:ext uri="{FF2B5EF4-FFF2-40B4-BE49-F238E27FC236}">
                    <a16:creationId xmlns:a16="http://schemas.microsoft.com/office/drawing/2014/main" id="{F620C1A1-0D3D-EB32-FB87-DD25DA930097}"/>
                  </a:ext>
                </a:extLst>
              </p:cNvPr>
              <p:cNvSpPr/>
              <p:nvPr/>
            </p:nvSpPr>
            <p:spPr>
              <a:xfrm>
                <a:off x="14336865" y="3057497"/>
                <a:ext cx="8733843" cy="4571851"/>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5"/>
                <a:stretch>
                  <a:fillRect l="-636" t="-6243" r="-504" b="-25966"/>
                </a:stretch>
              </a:blipFill>
            </p:spPr>
            <p:txBody>
              <a:bodyPr/>
              <a:lstStyle/>
              <a:p>
                <a:endParaRPr lang="zh-CN" altLang="en-US"/>
              </a:p>
            </p:txBody>
          </p:sp>
        </p:grpSp>
      </p:grpSp>
      <p:grpSp>
        <p:nvGrpSpPr>
          <p:cNvPr id="26" name="Group 4">
            <a:extLst>
              <a:ext uri="{FF2B5EF4-FFF2-40B4-BE49-F238E27FC236}">
                <a16:creationId xmlns:a16="http://schemas.microsoft.com/office/drawing/2014/main" id="{2D1B1D24-00DA-2D3C-A7C7-1A6DF18FB42A}"/>
              </a:ext>
            </a:extLst>
          </p:cNvPr>
          <p:cNvGrpSpPr/>
          <p:nvPr/>
        </p:nvGrpSpPr>
        <p:grpSpPr>
          <a:xfrm rot="5400000">
            <a:off x="-1543050" y="4057749"/>
            <a:ext cx="3086100" cy="2171499"/>
            <a:chOff x="0" y="0"/>
            <a:chExt cx="812800" cy="571917"/>
          </a:xfrm>
        </p:grpSpPr>
        <p:sp>
          <p:nvSpPr>
            <p:cNvPr id="27" name="Freeform 5">
              <a:extLst>
                <a:ext uri="{FF2B5EF4-FFF2-40B4-BE49-F238E27FC236}">
                  <a16:creationId xmlns:a16="http://schemas.microsoft.com/office/drawing/2014/main" id="{2DBDB4EF-DE46-824D-6A7B-93BBF898D23D}"/>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28" name="TextBox 6">
              <a:extLst>
                <a:ext uri="{FF2B5EF4-FFF2-40B4-BE49-F238E27FC236}">
                  <a16:creationId xmlns:a16="http://schemas.microsoft.com/office/drawing/2014/main" id="{167424C5-07CD-24CB-8747-E8136A1E9B7A}"/>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29" name="Group 9">
            <a:extLst>
              <a:ext uri="{FF2B5EF4-FFF2-40B4-BE49-F238E27FC236}">
                <a16:creationId xmlns:a16="http://schemas.microsoft.com/office/drawing/2014/main" id="{2EC9A4C5-CF2C-2812-6787-DD6DFDE5F338}"/>
              </a:ext>
            </a:extLst>
          </p:cNvPr>
          <p:cNvGrpSpPr/>
          <p:nvPr/>
        </p:nvGrpSpPr>
        <p:grpSpPr>
          <a:xfrm rot="16200000">
            <a:off x="16699267" y="4057749"/>
            <a:ext cx="3086100" cy="2171499"/>
            <a:chOff x="0" y="0"/>
            <a:chExt cx="812800" cy="571917"/>
          </a:xfrm>
        </p:grpSpPr>
        <p:sp>
          <p:nvSpPr>
            <p:cNvPr id="30" name="Freeform 10">
              <a:extLst>
                <a:ext uri="{FF2B5EF4-FFF2-40B4-BE49-F238E27FC236}">
                  <a16:creationId xmlns:a16="http://schemas.microsoft.com/office/drawing/2014/main" id="{DFDF27D7-4D43-FFEC-7776-40B268EA7B46}"/>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31" name="TextBox 11">
              <a:extLst>
                <a:ext uri="{FF2B5EF4-FFF2-40B4-BE49-F238E27FC236}">
                  <a16:creationId xmlns:a16="http://schemas.microsoft.com/office/drawing/2014/main" id="{EAFFD0E5-E929-C478-00DC-7AAB43B3D576}"/>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32" name="Group 4">
            <a:extLst>
              <a:ext uri="{FF2B5EF4-FFF2-40B4-BE49-F238E27FC236}">
                <a16:creationId xmlns:a16="http://schemas.microsoft.com/office/drawing/2014/main" id="{2E893D95-77F3-A46E-586A-FB90A5892338}"/>
              </a:ext>
            </a:extLst>
          </p:cNvPr>
          <p:cNvGrpSpPr/>
          <p:nvPr/>
        </p:nvGrpSpPr>
        <p:grpSpPr>
          <a:xfrm>
            <a:off x="2335245" y="7561594"/>
            <a:ext cx="13617510" cy="55894"/>
            <a:chOff x="0" y="0"/>
            <a:chExt cx="812800" cy="571917"/>
          </a:xfrm>
        </p:grpSpPr>
        <p:sp>
          <p:nvSpPr>
            <p:cNvPr id="33" name="TextBox 6">
              <a:extLst>
                <a:ext uri="{FF2B5EF4-FFF2-40B4-BE49-F238E27FC236}">
                  <a16:creationId xmlns:a16="http://schemas.microsoft.com/office/drawing/2014/main" id="{1CE25895-0E5D-BDC7-8303-A4FA28F3F5D7}"/>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34" name="Freeform 5">
              <a:extLst>
                <a:ext uri="{FF2B5EF4-FFF2-40B4-BE49-F238E27FC236}">
                  <a16:creationId xmlns:a16="http://schemas.microsoft.com/office/drawing/2014/main" id="{6745D3F0-8E3B-7D1A-DD2B-6DCC7005353B}"/>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35" name="Group 4">
            <a:extLst>
              <a:ext uri="{FF2B5EF4-FFF2-40B4-BE49-F238E27FC236}">
                <a16:creationId xmlns:a16="http://schemas.microsoft.com/office/drawing/2014/main" id="{E4773BB2-9D7F-148A-AA09-0AD79E6684C3}"/>
              </a:ext>
            </a:extLst>
          </p:cNvPr>
          <p:cNvGrpSpPr/>
          <p:nvPr/>
        </p:nvGrpSpPr>
        <p:grpSpPr>
          <a:xfrm>
            <a:off x="2487645" y="2705100"/>
            <a:ext cx="13617510" cy="55894"/>
            <a:chOff x="0" y="0"/>
            <a:chExt cx="812800" cy="571917"/>
          </a:xfrm>
        </p:grpSpPr>
        <p:sp>
          <p:nvSpPr>
            <p:cNvPr id="36" name="TextBox 6">
              <a:extLst>
                <a:ext uri="{FF2B5EF4-FFF2-40B4-BE49-F238E27FC236}">
                  <a16:creationId xmlns:a16="http://schemas.microsoft.com/office/drawing/2014/main" id="{A2EB75C7-BCE2-78C6-EE1B-031DABB31DBE}"/>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37" name="Freeform 5">
              <a:extLst>
                <a:ext uri="{FF2B5EF4-FFF2-40B4-BE49-F238E27FC236}">
                  <a16:creationId xmlns:a16="http://schemas.microsoft.com/office/drawing/2014/main" id="{402CBB83-996F-5F90-92D7-A558518C6C15}"/>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2C0D3-917B-4BA7-4014-2F981ACE339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A4204BB-A897-411A-9B22-EA1F6D402445}"/>
              </a:ext>
            </a:extLst>
          </p:cNvPr>
          <p:cNvSpPr>
            <a:spLocks noGrp="1" noRot="1" noMove="1" noResize="1" noEditPoints="1" noAdjustHandles="1" noChangeArrowheads="1" noChangeShapeType="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grpSp>
        <p:nvGrpSpPr>
          <p:cNvPr id="3" name="Group 3">
            <a:extLst>
              <a:ext uri="{FF2B5EF4-FFF2-40B4-BE49-F238E27FC236}">
                <a16:creationId xmlns:a16="http://schemas.microsoft.com/office/drawing/2014/main" id="{C7E5C680-7D48-D7D4-E457-AFE90C61A33E}"/>
              </a:ext>
            </a:extLst>
          </p:cNvPr>
          <p:cNvGrpSpPr/>
          <p:nvPr/>
        </p:nvGrpSpPr>
        <p:grpSpPr>
          <a:xfrm>
            <a:off x="763833" y="9471696"/>
            <a:ext cx="2514600" cy="260350"/>
            <a:chOff x="0" y="0"/>
            <a:chExt cx="662281" cy="68570"/>
          </a:xfrm>
        </p:grpSpPr>
        <p:sp>
          <p:nvSpPr>
            <p:cNvPr id="4" name="Freeform 4">
              <a:extLst>
                <a:ext uri="{FF2B5EF4-FFF2-40B4-BE49-F238E27FC236}">
                  <a16:creationId xmlns:a16="http://schemas.microsoft.com/office/drawing/2014/main" id="{AB2AAEA1-69E6-ADC9-E835-9063994A9303}"/>
                </a:ext>
              </a:extLst>
            </p:cNvPr>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zh-CN" altLang="en-US"/>
            </a:p>
          </p:txBody>
        </p:sp>
        <p:sp>
          <p:nvSpPr>
            <p:cNvPr id="5" name="TextBox 5">
              <a:extLst>
                <a:ext uri="{FF2B5EF4-FFF2-40B4-BE49-F238E27FC236}">
                  <a16:creationId xmlns:a16="http://schemas.microsoft.com/office/drawing/2014/main" id="{37DC459A-FCED-B8F4-5DA2-51041F804043}"/>
                </a:ext>
              </a:extLst>
            </p:cNvPr>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sp>
        <p:nvSpPr>
          <p:cNvPr id="15" name="TextBox 15">
            <a:extLst>
              <a:ext uri="{FF2B5EF4-FFF2-40B4-BE49-F238E27FC236}">
                <a16:creationId xmlns:a16="http://schemas.microsoft.com/office/drawing/2014/main" id="{3686953D-3858-126C-1127-E52FF6D822AB}"/>
              </a:ext>
            </a:extLst>
          </p:cNvPr>
          <p:cNvSpPr txBox="1"/>
          <p:nvPr/>
        </p:nvSpPr>
        <p:spPr>
          <a:xfrm>
            <a:off x="763833" y="913997"/>
            <a:ext cx="10914816"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FUTURE DIRECTION</a:t>
            </a:r>
          </a:p>
        </p:txBody>
      </p:sp>
      <p:sp>
        <p:nvSpPr>
          <p:cNvPr id="16" name="TextBox 16">
            <a:extLst>
              <a:ext uri="{FF2B5EF4-FFF2-40B4-BE49-F238E27FC236}">
                <a16:creationId xmlns:a16="http://schemas.microsoft.com/office/drawing/2014/main" id="{80E056E9-3AAC-871B-FDDF-C1994330D194}"/>
              </a:ext>
            </a:extLst>
          </p:cNvPr>
          <p:cNvSpPr txBox="1"/>
          <p:nvPr/>
        </p:nvSpPr>
        <p:spPr>
          <a:xfrm>
            <a:off x="-12788826" y="7931940"/>
            <a:ext cx="10914816" cy="640560"/>
          </a:xfrm>
          <a:prstGeom prst="rect">
            <a:avLst/>
          </a:prstGeom>
        </p:spPr>
        <p:txBody>
          <a:bodyPr lIns="0" tIns="0" rIns="0" bIns="0" rtlCol="0" anchor="t">
            <a:spAutoFit/>
          </a:bodyPr>
          <a:lstStyle/>
          <a:p>
            <a:pPr algn="ctr">
              <a:lnSpc>
                <a:spcPts val="4516"/>
              </a:lnSpc>
            </a:pPr>
            <a:r>
              <a:rPr lang="en-US" sz="5400" dirty="0">
                <a:solidFill>
                  <a:srgbClr val="004AAD"/>
                </a:solidFill>
                <a:latin typeface="League Spartan"/>
                <a:ea typeface="League Spartan"/>
                <a:cs typeface="League Spartan"/>
                <a:sym typeface="League Spartan"/>
              </a:rPr>
              <a:t>SaaS &amp; User Experience</a:t>
            </a:r>
          </a:p>
        </p:txBody>
      </p:sp>
      <p:sp>
        <p:nvSpPr>
          <p:cNvPr id="17" name="TextBox 17">
            <a:extLst>
              <a:ext uri="{FF2B5EF4-FFF2-40B4-BE49-F238E27FC236}">
                <a16:creationId xmlns:a16="http://schemas.microsoft.com/office/drawing/2014/main" id="{A237A2FD-9AC4-8B09-2438-B2BF307E9C50}"/>
              </a:ext>
            </a:extLst>
          </p:cNvPr>
          <p:cNvSpPr txBox="1"/>
          <p:nvPr/>
        </p:nvSpPr>
        <p:spPr>
          <a:xfrm>
            <a:off x="3639054" y="7931940"/>
            <a:ext cx="10914816" cy="640560"/>
          </a:xfrm>
          <a:prstGeom prst="rect">
            <a:avLst/>
          </a:prstGeom>
        </p:spPr>
        <p:txBody>
          <a:bodyPr lIns="0" tIns="0" rIns="0" bIns="0" rtlCol="0" anchor="t">
            <a:spAutoFit/>
          </a:bodyPr>
          <a:lstStyle/>
          <a:p>
            <a:pPr algn="ctr">
              <a:lnSpc>
                <a:spcPts val="4516"/>
              </a:lnSpc>
            </a:pPr>
            <a:r>
              <a:rPr lang="en-US" sz="5400" dirty="0">
                <a:solidFill>
                  <a:srgbClr val="366BC7"/>
                </a:solidFill>
                <a:latin typeface="League Spartan"/>
                <a:ea typeface="League Spartan"/>
                <a:cs typeface="League Spartan"/>
                <a:sym typeface="League Spartan"/>
              </a:rPr>
              <a:t>Self-Reflection Mechanism</a:t>
            </a:r>
          </a:p>
        </p:txBody>
      </p:sp>
      <p:sp>
        <p:nvSpPr>
          <p:cNvPr id="18" name="TextBox 18">
            <a:extLst>
              <a:ext uri="{FF2B5EF4-FFF2-40B4-BE49-F238E27FC236}">
                <a16:creationId xmlns:a16="http://schemas.microsoft.com/office/drawing/2014/main" id="{339ED6F1-D1C8-DFC4-BD73-77F2D4B730A6}"/>
              </a:ext>
            </a:extLst>
          </p:cNvPr>
          <p:cNvSpPr txBox="1"/>
          <p:nvPr/>
        </p:nvSpPr>
        <p:spPr>
          <a:xfrm>
            <a:off x="19946184" y="7931940"/>
            <a:ext cx="10914816" cy="640560"/>
          </a:xfrm>
          <a:prstGeom prst="rect">
            <a:avLst/>
          </a:prstGeom>
        </p:spPr>
        <p:txBody>
          <a:bodyPr lIns="0" tIns="0" rIns="0" bIns="0" rtlCol="0" anchor="t">
            <a:spAutoFit/>
          </a:bodyPr>
          <a:lstStyle/>
          <a:p>
            <a:pPr algn="ctr">
              <a:lnSpc>
                <a:spcPts val="4516"/>
              </a:lnSpc>
            </a:pPr>
            <a:r>
              <a:rPr lang="en-US" sz="5400" dirty="0">
                <a:solidFill>
                  <a:srgbClr val="3886E1"/>
                </a:solidFill>
                <a:latin typeface="League Spartan"/>
                <a:ea typeface="League Spartan"/>
                <a:cs typeface="League Spartan"/>
                <a:sym typeface="League Spartan"/>
              </a:rPr>
              <a:t>Black Swan Prediction Module</a:t>
            </a:r>
          </a:p>
        </p:txBody>
      </p:sp>
      <p:grpSp>
        <p:nvGrpSpPr>
          <p:cNvPr id="6" name="组合 5">
            <a:extLst>
              <a:ext uri="{FF2B5EF4-FFF2-40B4-BE49-F238E27FC236}">
                <a16:creationId xmlns:a16="http://schemas.microsoft.com/office/drawing/2014/main" id="{A790855E-E33C-2780-1446-2E0882E9A8EC}"/>
              </a:ext>
            </a:extLst>
          </p:cNvPr>
          <p:cNvGrpSpPr/>
          <p:nvPr/>
        </p:nvGrpSpPr>
        <p:grpSpPr>
          <a:xfrm>
            <a:off x="-30867125" y="2857572"/>
            <a:ext cx="79927173" cy="4571852"/>
            <a:chOff x="-3657600" y="15082946"/>
            <a:chExt cx="79927173" cy="4571852"/>
          </a:xfrm>
        </p:grpSpPr>
        <p:grpSp>
          <p:nvGrpSpPr>
            <p:cNvPr id="7" name="组合 6">
              <a:extLst>
                <a:ext uri="{FF2B5EF4-FFF2-40B4-BE49-F238E27FC236}">
                  <a16:creationId xmlns:a16="http://schemas.microsoft.com/office/drawing/2014/main" id="{0D8AC346-F52F-7D0F-E0DE-5F223BB0C2A0}"/>
                </a:ext>
              </a:extLst>
            </p:cNvPr>
            <p:cNvGrpSpPr/>
            <p:nvPr/>
          </p:nvGrpSpPr>
          <p:grpSpPr>
            <a:xfrm>
              <a:off x="-3657600" y="15082946"/>
              <a:ext cx="26575908" cy="4571852"/>
              <a:chOff x="-3505200" y="3057497"/>
              <a:chExt cx="26575908" cy="4571852"/>
            </a:xfrm>
          </p:grpSpPr>
          <p:sp>
            <p:nvSpPr>
              <p:cNvPr id="41" name="Freeform 12">
                <a:extLst>
                  <a:ext uri="{FF2B5EF4-FFF2-40B4-BE49-F238E27FC236}">
                    <a16:creationId xmlns:a16="http://schemas.microsoft.com/office/drawing/2014/main" id="{2EB235E6-58EF-2D38-5970-7EE375B1D3DA}"/>
                  </a:ext>
                </a:extLst>
              </p:cNvPr>
              <p:cNvSpPr/>
              <p:nvPr/>
            </p:nvSpPr>
            <p:spPr>
              <a:xfrm>
                <a:off x="-3505200" y="3057497"/>
                <a:ext cx="8733842" cy="4571852"/>
              </a:xfrm>
              <a:custGeom>
                <a:avLst/>
                <a:gdLst/>
                <a:ahLst/>
                <a:cxnLst/>
                <a:rect l="l" t="t" r="r" b="b"/>
                <a:pathLst>
                  <a:path w="5315784" h="2739093">
                    <a:moveTo>
                      <a:pt x="0" y="0"/>
                    </a:moveTo>
                    <a:lnTo>
                      <a:pt x="5315784" y="0"/>
                    </a:lnTo>
                    <a:lnTo>
                      <a:pt x="5315784" y="2739094"/>
                    </a:lnTo>
                    <a:lnTo>
                      <a:pt x="0" y="2739094"/>
                    </a:lnTo>
                    <a:lnTo>
                      <a:pt x="0" y="0"/>
                    </a:lnTo>
                    <a:close/>
                  </a:path>
                </a:pathLst>
              </a:custGeom>
              <a:blipFill>
                <a:blip r:embed="rId3"/>
                <a:stretch>
                  <a:fillRect l="-4615" b="-35268"/>
                </a:stretch>
              </a:blipFill>
            </p:spPr>
            <p:txBody>
              <a:bodyPr/>
              <a:lstStyle/>
              <a:p>
                <a:endParaRPr lang="zh-CN" altLang="en-US"/>
              </a:p>
            </p:txBody>
          </p:sp>
          <p:sp>
            <p:nvSpPr>
              <p:cNvPr id="42" name="Freeform 13">
                <a:extLst>
                  <a:ext uri="{FF2B5EF4-FFF2-40B4-BE49-F238E27FC236}">
                    <a16:creationId xmlns:a16="http://schemas.microsoft.com/office/drawing/2014/main" id="{B32ED537-8B71-4B05-5E3C-79691B002464}"/>
                  </a:ext>
                </a:extLst>
              </p:cNvPr>
              <p:cNvSpPr/>
              <p:nvPr/>
            </p:nvSpPr>
            <p:spPr>
              <a:xfrm>
                <a:off x="5286955" y="3057497"/>
                <a:ext cx="8991599" cy="4571852"/>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4"/>
                <a:stretch>
                  <a:fillRect t="-45028" b="-51171"/>
                </a:stretch>
              </a:blipFill>
            </p:spPr>
            <p:txBody>
              <a:bodyPr/>
              <a:lstStyle/>
              <a:p>
                <a:endParaRPr lang="zh-CN" altLang="en-US"/>
              </a:p>
            </p:txBody>
          </p:sp>
          <p:sp>
            <p:nvSpPr>
              <p:cNvPr id="43" name="Freeform 14">
                <a:extLst>
                  <a:ext uri="{FF2B5EF4-FFF2-40B4-BE49-F238E27FC236}">
                    <a16:creationId xmlns:a16="http://schemas.microsoft.com/office/drawing/2014/main" id="{A772EB2B-E6BD-7687-8FCA-39D6D09556DB}"/>
                  </a:ext>
                </a:extLst>
              </p:cNvPr>
              <p:cNvSpPr/>
              <p:nvPr/>
            </p:nvSpPr>
            <p:spPr>
              <a:xfrm>
                <a:off x="14336865" y="3057497"/>
                <a:ext cx="8733843" cy="4571851"/>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5"/>
                <a:stretch>
                  <a:fillRect l="-636" t="-6243" r="-504" b="-25966"/>
                </a:stretch>
              </a:blipFill>
            </p:spPr>
            <p:txBody>
              <a:bodyPr/>
              <a:lstStyle/>
              <a:p>
                <a:endParaRPr lang="zh-CN" altLang="en-US"/>
              </a:p>
            </p:txBody>
          </p:sp>
        </p:grpSp>
        <p:grpSp>
          <p:nvGrpSpPr>
            <p:cNvPr id="8" name="组合 7">
              <a:extLst>
                <a:ext uri="{FF2B5EF4-FFF2-40B4-BE49-F238E27FC236}">
                  <a16:creationId xmlns:a16="http://schemas.microsoft.com/office/drawing/2014/main" id="{FA50457E-B73D-79F1-3192-66BDD862516F}"/>
                </a:ext>
              </a:extLst>
            </p:cNvPr>
            <p:cNvGrpSpPr/>
            <p:nvPr/>
          </p:nvGrpSpPr>
          <p:grpSpPr>
            <a:xfrm>
              <a:off x="23059446" y="15082946"/>
              <a:ext cx="26575908" cy="4571852"/>
              <a:chOff x="-3505200" y="3057497"/>
              <a:chExt cx="26575908" cy="4571852"/>
            </a:xfrm>
          </p:grpSpPr>
          <p:sp>
            <p:nvSpPr>
              <p:cNvPr id="38" name="Freeform 12">
                <a:extLst>
                  <a:ext uri="{FF2B5EF4-FFF2-40B4-BE49-F238E27FC236}">
                    <a16:creationId xmlns:a16="http://schemas.microsoft.com/office/drawing/2014/main" id="{243BD8A0-055B-4D9E-BD6F-8BDC8350217D}"/>
                  </a:ext>
                </a:extLst>
              </p:cNvPr>
              <p:cNvSpPr/>
              <p:nvPr/>
            </p:nvSpPr>
            <p:spPr>
              <a:xfrm>
                <a:off x="-3505200" y="3057497"/>
                <a:ext cx="8733842" cy="4571852"/>
              </a:xfrm>
              <a:custGeom>
                <a:avLst/>
                <a:gdLst/>
                <a:ahLst/>
                <a:cxnLst/>
                <a:rect l="l" t="t" r="r" b="b"/>
                <a:pathLst>
                  <a:path w="5315784" h="2739093">
                    <a:moveTo>
                      <a:pt x="0" y="0"/>
                    </a:moveTo>
                    <a:lnTo>
                      <a:pt x="5315784" y="0"/>
                    </a:lnTo>
                    <a:lnTo>
                      <a:pt x="5315784" y="2739094"/>
                    </a:lnTo>
                    <a:lnTo>
                      <a:pt x="0" y="2739094"/>
                    </a:lnTo>
                    <a:lnTo>
                      <a:pt x="0" y="0"/>
                    </a:lnTo>
                    <a:close/>
                  </a:path>
                </a:pathLst>
              </a:custGeom>
              <a:blipFill>
                <a:blip r:embed="rId3"/>
                <a:stretch>
                  <a:fillRect l="-4615" b="-35268"/>
                </a:stretch>
              </a:blipFill>
            </p:spPr>
            <p:txBody>
              <a:bodyPr/>
              <a:lstStyle/>
              <a:p>
                <a:endParaRPr lang="zh-CN" altLang="en-US"/>
              </a:p>
            </p:txBody>
          </p:sp>
          <p:sp>
            <p:nvSpPr>
              <p:cNvPr id="39" name="Freeform 13">
                <a:extLst>
                  <a:ext uri="{FF2B5EF4-FFF2-40B4-BE49-F238E27FC236}">
                    <a16:creationId xmlns:a16="http://schemas.microsoft.com/office/drawing/2014/main" id="{254747EF-8E70-BDA4-08EB-3852D58B0865}"/>
                  </a:ext>
                </a:extLst>
              </p:cNvPr>
              <p:cNvSpPr/>
              <p:nvPr/>
            </p:nvSpPr>
            <p:spPr>
              <a:xfrm>
                <a:off x="5286955" y="3057497"/>
                <a:ext cx="8991599" cy="4571852"/>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4"/>
                <a:stretch>
                  <a:fillRect t="-45028" b="-51171"/>
                </a:stretch>
              </a:blipFill>
            </p:spPr>
            <p:txBody>
              <a:bodyPr/>
              <a:lstStyle/>
              <a:p>
                <a:endParaRPr lang="zh-CN" altLang="en-US"/>
              </a:p>
            </p:txBody>
          </p:sp>
          <p:sp>
            <p:nvSpPr>
              <p:cNvPr id="40" name="Freeform 14">
                <a:extLst>
                  <a:ext uri="{FF2B5EF4-FFF2-40B4-BE49-F238E27FC236}">
                    <a16:creationId xmlns:a16="http://schemas.microsoft.com/office/drawing/2014/main" id="{D27093E3-9F05-A53F-E37E-0A6E762DFF1C}"/>
                  </a:ext>
                </a:extLst>
              </p:cNvPr>
              <p:cNvSpPr/>
              <p:nvPr/>
            </p:nvSpPr>
            <p:spPr>
              <a:xfrm>
                <a:off x="14336865" y="3057497"/>
                <a:ext cx="8733843" cy="4571851"/>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5"/>
                <a:stretch>
                  <a:fillRect l="-636" t="-6243" r="-504" b="-25966"/>
                </a:stretch>
              </a:blipFill>
            </p:spPr>
            <p:txBody>
              <a:bodyPr/>
              <a:lstStyle/>
              <a:p>
                <a:endParaRPr lang="zh-CN" altLang="en-US"/>
              </a:p>
            </p:txBody>
          </p:sp>
        </p:grpSp>
        <p:grpSp>
          <p:nvGrpSpPr>
            <p:cNvPr id="9" name="组合 8">
              <a:extLst>
                <a:ext uri="{FF2B5EF4-FFF2-40B4-BE49-F238E27FC236}">
                  <a16:creationId xmlns:a16="http://schemas.microsoft.com/office/drawing/2014/main" id="{E4725F3F-F80E-5968-496A-F5B4E8148EF3}"/>
                </a:ext>
              </a:extLst>
            </p:cNvPr>
            <p:cNvGrpSpPr/>
            <p:nvPr/>
          </p:nvGrpSpPr>
          <p:grpSpPr>
            <a:xfrm>
              <a:off x="49693665" y="15082946"/>
              <a:ext cx="26575908" cy="4571852"/>
              <a:chOff x="-3505200" y="3057497"/>
              <a:chExt cx="26575908" cy="4571852"/>
            </a:xfrm>
          </p:grpSpPr>
          <p:sp>
            <p:nvSpPr>
              <p:cNvPr id="10" name="Freeform 12">
                <a:extLst>
                  <a:ext uri="{FF2B5EF4-FFF2-40B4-BE49-F238E27FC236}">
                    <a16:creationId xmlns:a16="http://schemas.microsoft.com/office/drawing/2014/main" id="{57B875FF-F238-9516-5E56-440E948E62E3}"/>
                  </a:ext>
                </a:extLst>
              </p:cNvPr>
              <p:cNvSpPr/>
              <p:nvPr/>
            </p:nvSpPr>
            <p:spPr>
              <a:xfrm>
                <a:off x="-3505200" y="3057497"/>
                <a:ext cx="8733842" cy="4571852"/>
              </a:xfrm>
              <a:custGeom>
                <a:avLst/>
                <a:gdLst/>
                <a:ahLst/>
                <a:cxnLst/>
                <a:rect l="l" t="t" r="r" b="b"/>
                <a:pathLst>
                  <a:path w="5315784" h="2739093">
                    <a:moveTo>
                      <a:pt x="0" y="0"/>
                    </a:moveTo>
                    <a:lnTo>
                      <a:pt x="5315784" y="0"/>
                    </a:lnTo>
                    <a:lnTo>
                      <a:pt x="5315784" y="2739094"/>
                    </a:lnTo>
                    <a:lnTo>
                      <a:pt x="0" y="2739094"/>
                    </a:lnTo>
                    <a:lnTo>
                      <a:pt x="0" y="0"/>
                    </a:lnTo>
                    <a:close/>
                  </a:path>
                </a:pathLst>
              </a:custGeom>
              <a:blipFill>
                <a:blip r:embed="rId3"/>
                <a:stretch>
                  <a:fillRect l="-4615" b="-35268"/>
                </a:stretch>
              </a:blipFill>
            </p:spPr>
            <p:txBody>
              <a:bodyPr/>
              <a:lstStyle/>
              <a:p>
                <a:endParaRPr lang="zh-CN" altLang="en-US"/>
              </a:p>
            </p:txBody>
          </p:sp>
          <p:sp>
            <p:nvSpPr>
              <p:cNvPr id="11" name="Freeform 13">
                <a:extLst>
                  <a:ext uri="{FF2B5EF4-FFF2-40B4-BE49-F238E27FC236}">
                    <a16:creationId xmlns:a16="http://schemas.microsoft.com/office/drawing/2014/main" id="{CF7456AC-8427-C8CE-C5B2-F8979D0423CC}"/>
                  </a:ext>
                </a:extLst>
              </p:cNvPr>
              <p:cNvSpPr/>
              <p:nvPr/>
            </p:nvSpPr>
            <p:spPr>
              <a:xfrm>
                <a:off x="5286955" y="3057497"/>
                <a:ext cx="8991599" cy="4571852"/>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4"/>
                <a:stretch>
                  <a:fillRect t="-45028" b="-51171"/>
                </a:stretch>
              </a:blipFill>
            </p:spPr>
            <p:txBody>
              <a:bodyPr/>
              <a:lstStyle/>
              <a:p>
                <a:endParaRPr lang="zh-CN" altLang="en-US"/>
              </a:p>
            </p:txBody>
          </p:sp>
          <p:sp>
            <p:nvSpPr>
              <p:cNvPr id="20" name="Freeform 14">
                <a:extLst>
                  <a:ext uri="{FF2B5EF4-FFF2-40B4-BE49-F238E27FC236}">
                    <a16:creationId xmlns:a16="http://schemas.microsoft.com/office/drawing/2014/main" id="{0444978B-40A6-B325-4923-D99D5833AC08}"/>
                  </a:ext>
                </a:extLst>
              </p:cNvPr>
              <p:cNvSpPr/>
              <p:nvPr/>
            </p:nvSpPr>
            <p:spPr>
              <a:xfrm>
                <a:off x="14336865" y="3057497"/>
                <a:ext cx="8733843" cy="4571851"/>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5"/>
                <a:stretch>
                  <a:fillRect l="-636" t="-6243" r="-504" b="-25966"/>
                </a:stretch>
              </a:blipFill>
            </p:spPr>
            <p:txBody>
              <a:bodyPr/>
              <a:lstStyle/>
              <a:p>
                <a:endParaRPr lang="zh-CN" altLang="en-US"/>
              </a:p>
            </p:txBody>
          </p:sp>
        </p:grpSp>
      </p:grpSp>
      <p:grpSp>
        <p:nvGrpSpPr>
          <p:cNvPr id="26" name="Group 4">
            <a:extLst>
              <a:ext uri="{FF2B5EF4-FFF2-40B4-BE49-F238E27FC236}">
                <a16:creationId xmlns:a16="http://schemas.microsoft.com/office/drawing/2014/main" id="{6A58A902-D082-362B-C49A-23DA10D34DB9}"/>
              </a:ext>
            </a:extLst>
          </p:cNvPr>
          <p:cNvGrpSpPr/>
          <p:nvPr/>
        </p:nvGrpSpPr>
        <p:grpSpPr>
          <a:xfrm rot="5400000">
            <a:off x="-1543050" y="4057749"/>
            <a:ext cx="3086100" cy="2171499"/>
            <a:chOff x="0" y="0"/>
            <a:chExt cx="812800" cy="571917"/>
          </a:xfrm>
        </p:grpSpPr>
        <p:sp>
          <p:nvSpPr>
            <p:cNvPr id="27" name="Freeform 5">
              <a:extLst>
                <a:ext uri="{FF2B5EF4-FFF2-40B4-BE49-F238E27FC236}">
                  <a16:creationId xmlns:a16="http://schemas.microsoft.com/office/drawing/2014/main" id="{FC77A2FC-5F9C-08AD-E43D-6BD74FE97B31}"/>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28" name="TextBox 6">
              <a:extLst>
                <a:ext uri="{FF2B5EF4-FFF2-40B4-BE49-F238E27FC236}">
                  <a16:creationId xmlns:a16="http://schemas.microsoft.com/office/drawing/2014/main" id="{5F53DBCD-8AE5-AC6C-67F2-2E97582CE2AA}"/>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29" name="Group 9">
            <a:extLst>
              <a:ext uri="{FF2B5EF4-FFF2-40B4-BE49-F238E27FC236}">
                <a16:creationId xmlns:a16="http://schemas.microsoft.com/office/drawing/2014/main" id="{AA236023-CE84-7DBA-388D-54E2663018F4}"/>
              </a:ext>
            </a:extLst>
          </p:cNvPr>
          <p:cNvGrpSpPr/>
          <p:nvPr/>
        </p:nvGrpSpPr>
        <p:grpSpPr>
          <a:xfrm rot="16200000">
            <a:off x="16699267" y="4057749"/>
            <a:ext cx="3086100" cy="2171499"/>
            <a:chOff x="0" y="0"/>
            <a:chExt cx="812800" cy="571917"/>
          </a:xfrm>
        </p:grpSpPr>
        <p:sp>
          <p:nvSpPr>
            <p:cNvPr id="30" name="Freeform 10">
              <a:extLst>
                <a:ext uri="{FF2B5EF4-FFF2-40B4-BE49-F238E27FC236}">
                  <a16:creationId xmlns:a16="http://schemas.microsoft.com/office/drawing/2014/main" id="{A5DFEA6F-0471-D0B5-1F05-9D1D888772F1}"/>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31" name="TextBox 11">
              <a:extLst>
                <a:ext uri="{FF2B5EF4-FFF2-40B4-BE49-F238E27FC236}">
                  <a16:creationId xmlns:a16="http://schemas.microsoft.com/office/drawing/2014/main" id="{1B10E9DA-1489-50A8-20D8-2AB4DFACF545}"/>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32" name="Group 4">
            <a:extLst>
              <a:ext uri="{FF2B5EF4-FFF2-40B4-BE49-F238E27FC236}">
                <a16:creationId xmlns:a16="http://schemas.microsoft.com/office/drawing/2014/main" id="{090842EA-2A01-616C-8005-23E3F47E3720}"/>
              </a:ext>
            </a:extLst>
          </p:cNvPr>
          <p:cNvGrpSpPr/>
          <p:nvPr/>
        </p:nvGrpSpPr>
        <p:grpSpPr>
          <a:xfrm>
            <a:off x="2335245" y="7561594"/>
            <a:ext cx="13617510" cy="55894"/>
            <a:chOff x="0" y="0"/>
            <a:chExt cx="812800" cy="571917"/>
          </a:xfrm>
        </p:grpSpPr>
        <p:sp>
          <p:nvSpPr>
            <p:cNvPr id="33" name="TextBox 6">
              <a:extLst>
                <a:ext uri="{FF2B5EF4-FFF2-40B4-BE49-F238E27FC236}">
                  <a16:creationId xmlns:a16="http://schemas.microsoft.com/office/drawing/2014/main" id="{F98F4CA9-5086-9097-3DED-5FF2A8EDD566}"/>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34" name="Freeform 5">
              <a:extLst>
                <a:ext uri="{FF2B5EF4-FFF2-40B4-BE49-F238E27FC236}">
                  <a16:creationId xmlns:a16="http://schemas.microsoft.com/office/drawing/2014/main" id="{C015952B-BACE-B4EA-83E0-CDEC3CA1F72B}"/>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35" name="Group 4">
            <a:extLst>
              <a:ext uri="{FF2B5EF4-FFF2-40B4-BE49-F238E27FC236}">
                <a16:creationId xmlns:a16="http://schemas.microsoft.com/office/drawing/2014/main" id="{2FCB5528-A333-1AB0-6CBC-B3D40F33B548}"/>
              </a:ext>
            </a:extLst>
          </p:cNvPr>
          <p:cNvGrpSpPr/>
          <p:nvPr/>
        </p:nvGrpSpPr>
        <p:grpSpPr>
          <a:xfrm>
            <a:off x="2487645" y="2705100"/>
            <a:ext cx="13617510" cy="55894"/>
            <a:chOff x="0" y="0"/>
            <a:chExt cx="812800" cy="571917"/>
          </a:xfrm>
        </p:grpSpPr>
        <p:sp>
          <p:nvSpPr>
            <p:cNvPr id="36" name="TextBox 6">
              <a:extLst>
                <a:ext uri="{FF2B5EF4-FFF2-40B4-BE49-F238E27FC236}">
                  <a16:creationId xmlns:a16="http://schemas.microsoft.com/office/drawing/2014/main" id="{3C5CD6D5-B584-B5F5-66CF-B529482FE66D}"/>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37" name="Freeform 5">
              <a:extLst>
                <a:ext uri="{FF2B5EF4-FFF2-40B4-BE49-F238E27FC236}">
                  <a16:creationId xmlns:a16="http://schemas.microsoft.com/office/drawing/2014/main" id="{A513BA11-3C82-D3BF-D164-E479E3EE3B0E}"/>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spTree>
    <p:extLst>
      <p:ext uri="{BB962C8B-B14F-4D97-AF65-F5344CB8AC3E}">
        <p14:creationId xmlns:p14="http://schemas.microsoft.com/office/powerpoint/2010/main" val="4277582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3FB0-7EBF-6FA3-E541-F20EA356C48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C06CE34-BC93-D4FD-5E8F-77E6D10FE46D}"/>
              </a:ext>
            </a:extLst>
          </p:cNvPr>
          <p:cNvSpPr>
            <a:spLocks noGrp="1" noRot="1" noMove="1" noResize="1" noEditPoints="1" noAdjustHandles="1" noChangeArrowheads="1" noChangeShapeType="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grpSp>
        <p:nvGrpSpPr>
          <p:cNvPr id="3" name="Group 3">
            <a:extLst>
              <a:ext uri="{FF2B5EF4-FFF2-40B4-BE49-F238E27FC236}">
                <a16:creationId xmlns:a16="http://schemas.microsoft.com/office/drawing/2014/main" id="{4A502B7F-1543-75AB-D76C-BD868CBA3BD4}"/>
              </a:ext>
            </a:extLst>
          </p:cNvPr>
          <p:cNvGrpSpPr/>
          <p:nvPr/>
        </p:nvGrpSpPr>
        <p:grpSpPr>
          <a:xfrm>
            <a:off x="763833" y="9471696"/>
            <a:ext cx="2514600" cy="260350"/>
            <a:chOff x="0" y="0"/>
            <a:chExt cx="662281" cy="68570"/>
          </a:xfrm>
        </p:grpSpPr>
        <p:sp>
          <p:nvSpPr>
            <p:cNvPr id="4" name="Freeform 4">
              <a:extLst>
                <a:ext uri="{FF2B5EF4-FFF2-40B4-BE49-F238E27FC236}">
                  <a16:creationId xmlns:a16="http://schemas.microsoft.com/office/drawing/2014/main" id="{57F430FD-CEB5-1256-5889-9C35F88C05DB}"/>
                </a:ext>
              </a:extLst>
            </p:cNvPr>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zh-CN" altLang="en-US"/>
            </a:p>
          </p:txBody>
        </p:sp>
        <p:sp>
          <p:nvSpPr>
            <p:cNvPr id="5" name="TextBox 5">
              <a:extLst>
                <a:ext uri="{FF2B5EF4-FFF2-40B4-BE49-F238E27FC236}">
                  <a16:creationId xmlns:a16="http://schemas.microsoft.com/office/drawing/2014/main" id="{BF8F5D09-E4FB-FDE5-6591-7AF3D5D590D4}"/>
                </a:ext>
              </a:extLst>
            </p:cNvPr>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sp>
        <p:nvSpPr>
          <p:cNvPr id="15" name="TextBox 15">
            <a:extLst>
              <a:ext uri="{FF2B5EF4-FFF2-40B4-BE49-F238E27FC236}">
                <a16:creationId xmlns:a16="http://schemas.microsoft.com/office/drawing/2014/main" id="{F09C402C-D514-2856-5D6B-E63F3D2CB4F0}"/>
              </a:ext>
            </a:extLst>
          </p:cNvPr>
          <p:cNvSpPr txBox="1"/>
          <p:nvPr/>
        </p:nvSpPr>
        <p:spPr>
          <a:xfrm>
            <a:off x="763833" y="913997"/>
            <a:ext cx="10914816"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FUTURE DIRECTION</a:t>
            </a:r>
          </a:p>
        </p:txBody>
      </p:sp>
      <p:sp>
        <p:nvSpPr>
          <p:cNvPr id="16" name="TextBox 16">
            <a:extLst>
              <a:ext uri="{FF2B5EF4-FFF2-40B4-BE49-F238E27FC236}">
                <a16:creationId xmlns:a16="http://schemas.microsoft.com/office/drawing/2014/main" id="{A658CFC5-D396-6568-48C1-2D37BF174E83}"/>
              </a:ext>
            </a:extLst>
          </p:cNvPr>
          <p:cNvSpPr txBox="1"/>
          <p:nvPr/>
        </p:nvSpPr>
        <p:spPr>
          <a:xfrm>
            <a:off x="-28638426" y="7931940"/>
            <a:ext cx="10914816" cy="640560"/>
          </a:xfrm>
          <a:prstGeom prst="rect">
            <a:avLst/>
          </a:prstGeom>
        </p:spPr>
        <p:txBody>
          <a:bodyPr lIns="0" tIns="0" rIns="0" bIns="0" rtlCol="0" anchor="t">
            <a:spAutoFit/>
          </a:bodyPr>
          <a:lstStyle/>
          <a:p>
            <a:pPr algn="ctr">
              <a:lnSpc>
                <a:spcPts val="4516"/>
              </a:lnSpc>
            </a:pPr>
            <a:r>
              <a:rPr lang="en-US" sz="5400" dirty="0">
                <a:solidFill>
                  <a:srgbClr val="004AAD"/>
                </a:solidFill>
                <a:latin typeface="League Spartan"/>
                <a:ea typeface="League Spartan"/>
                <a:cs typeface="League Spartan"/>
                <a:sym typeface="League Spartan"/>
              </a:rPr>
              <a:t>SaaS &amp; User Experience</a:t>
            </a:r>
          </a:p>
        </p:txBody>
      </p:sp>
      <p:sp>
        <p:nvSpPr>
          <p:cNvPr id="17" name="TextBox 17">
            <a:extLst>
              <a:ext uri="{FF2B5EF4-FFF2-40B4-BE49-F238E27FC236}">
                <a16:creationId xmlns:a16="http://schemas.microsoft.com/office/drawing/2014/main" id="{106A3EF9-B5DE-3568-5455-3C95915FFA6E}"/>
              </a:ext>
            </a:extLst>
          </p:cNvPr>
          <p:cNvSpPr txBox="1"/>
          <p:nvPr/>
        </p:nvSpPr>
        <p:spPr>
          <a:xfrm>
            <a:off x="-12210546" y="7931940"/>
            <a:ext cx="10914816" cy="640560"/>
          </a:xfrm>
          <a:prstGeom prst="rect">
            <a:avLst/>
          </a:prstGeom>
        </p:spPr>
        <p:txBody>
          <a:bodyPr lIns="0" tIns="0" rIns="0" bIns="0" rtlCol="0" anchor="t">
            <a:spAutoFit/>
          </a:bodyPr>
          <a:lstStyle/>
          <a:p>
            <a:pPr algn="ctr">
              <a:lnSpc>
                <a:spcPts val="4516"/>
              </a:lnSpc>
            </a:pPr>
            <a:r>
              <a:rPr lang="en-US" sz="5400" dirty="0">
                <a:solidFill>
                  <a:srgbClr val="366BC7"/>
                </a:solidFill>
                <a:latin typeface="League Spartan"/>
                <a:ea typeface="League Spartan"/>
                <a:cs typeface="League Spartan"/>
                <a:sym typeface="League Spartan"/>
              </a:rPr>
              <a:t>Self-Reflection Mechanism</a:t>
            </a:r>
          </a:p>
        </p:txBody>
      </p:sp>
      <p:sp>
        <p:nvSpPr>
          <p:cNvPr id="18" name="TextBox 18">
            <a:extLst>
              <a:ext uri="{FF2B5EF4-FFF2-40B4-BE49-F238E27FC236}">
                <a16:creationId xmlns:a16="http://schemas.microsoft.com/office/drawing/2014/main" id="{8BD3F106-D10C-0ED6-ECB7-EC2EA6EB825B}"/>
              </a:ext>
            </a:extLst>
          </p:cNvPr>
          <p:cNvSpPr txBox="1"/>
          <p:nvPr/>
        </p:nvSpPr>
        <p:spPr>
          <a:xfrm>
            <a:off x="4096584" y="7931940"/>
            <a:ext cx="10914816" cy="640560"/>
          </a:xfrm>
          <a:prstGeom prst="rect">
            <a:avLst/>
          </a:prstGeom>
        </p:spPr>
        <p:txBody>
          <a:bodyPr lIns="0" tIns="0" rIns="0" bIns="0" rtlCol="0" anchor="t">
            <a:spAutoFit/>
          </a:bodyPr>
          <a:lstStyle/>
          <a:p>
            <a:pPr algn="ctr">
              <a:lnSpc>
                <a:spcPts val="4516"/>
              </a:lnSpc>
            </a:pPr>
            <a:r>
              <a:rPr lang="en-US" sz="5400" dirty="0">
                <a:solidFill>
                  <a:srgbClr val="3886E1"/>
                </a:solidFill>
                <a:latin typeface="League Spartan"/>
                <a:ea typeface="League Spartan"/>
                <a:cs typeface="League Spartan"/>
                <a:sym typeface="League Spartan"/>
              </a:rPr>
              <a:t>Black Swan Prediction Module</a:t>
            </a:r>
          </a:p>
        </p:txBody>
      </p:sp>
      <p:grpSp>
        <p:nvGrpSpPr>
          <p:cNvPr id="6" name="组合 5">
            <a:extLst>
              <a:ext uri="{FF2B5EF4-FFF2-40B4-BE49-F238E27FC236}">
                <a16:creationId xmlns:a16="http://schemas.microsoft.com/office/drawing/2014/main" id="{720D8B0B-0101-850A-43FD-B855A36AD0AC}"/>
              </a:ext>
            </a:extLst>
          </p:cNvPr>
          <p:cNvGrpSpPr/>
          <p:nvPr/>
        </p:nvGrpSpPr>
        <p:grpSpPr>
          <a:xfrm>
            <a:off x="-39873174" y="2827862"/>
            <a:ext cx="79927173" cy="4571852"/>
            <a:chOff x="-3657600" y="15082946"/>
            <a:chExt cx="79927173" cy="4571852"/>
          </a:xfrm>
        </p:grpSpPr>
        <p:grpSp>
          <p:nvGrpSpPr>
            <p:cNvPr id="7" name="组合 6">
              <a:extLst>
                <a:ext uri="{FF2B5EF4-FFF2-40B4-BE49-F238E27FC236}">
                  <a16:creationId xmlns:a16="http://schemas.microsoft.com/office/drawing/2014/main" id="{1F318026-E8A2-1093-2D11-4132312DD710}"/>
                </a:ext>
              </a:extLst>
            </p:cNvPr>
            <p:cNvGrpSpPr/>
            <p:nvPr/>
          </p:nvGrpSpPr>
          <p:grpSpPr>
            <a:xfrm>
              <a:off x="-3657600" y="15082946"/>
              <a:ext cx="26575908" cy="4571852"/>
              <a:chOff x="-3505200" y="3057497"/>
              <a:chExt cx="26575908" cy="4571852"/>
            </a:xfrm>
          </p:grpSpPr>
          <p:sp>
            <p:nvSpPr>
              <p:cNvPr id="41" name="Freeform 12">
                <a:extLst>
                  <a:ext uri="{FF2B5EF4-FFF2-40B4-BE49-F238E27FC236}">
                    <a16:creationId xmlns:a16="http://schemas.microsoft.com/office/drawing/2014/main" id="{8BECDC9B-D400-4079-ECB5-59331BE47FA2}"/>
                  </a:ext>
                </a:extLst>
              </p:cNvPr>
              <p:cNvSpPr/>
              <p:nvPr/>
            </p:nvSpPr>
            <p:spPr>
              <a:xfrm>
                <a:off x="-3505200" y="3057497"/>
                <a:ext cx="8733842" cy="4571852"/>
              </a:xfrm>
              <a:custGeom>
                <a:avLst/>
                <a:gdLst/>
                <a:ahLst/>
                <a:cxnLst/>
                <a:rect l="l" t="t" r="r" b="b"/>
                <a:pathLst>
                  <a:path w="5315784" h="2739093">
                    <a:moveTo>
                      <a:pt x="0" y="0"/>
                    </a:moveTo>
                    <a:lnTo>
                      <a:pt x="5315784" y="0"/>
                    </a:lnTo>
                    <a:lnTo>
                      <a:pt x="5315784" y="2739094"/>
                    </a:lnTo>
                    <a:lnTo>
                      <a:pt x="0" y="2739094"/>
                    </a:lnTo>
                    <a:lnTo>
                      <a:pt x="0" y="0"/>
                    </a:lnTo>
                    <a:close/>
                  </a:path>
                </a:pathLst>
              </a:custGeom>
              <a:blipFill>
                <a:blip r:embed="rId3"/>
                <a:stretch>
                  <a:fillRect l="-4615" b="-35268"/>
                </a:stretch>
              </a:blipFill>
            </p:spPr>
            <p:txBody>
              <a:bodyPr/>
              <a:lstStyle/>
              <a:p>
                <a:endParaRPr lang="zh-CN" altLang="en-US"/>
              </a:p>
            </p:txBody>
          </p:sp>
          <p:sp>
            <p:nvSpPr>
              <p:cNvPr id="42" name="Freeform 13">
                <a:extLst>
                  <a:ext uri="{FF2B5EF4-FFF2-40B4-BE49-F238E27FC236}">
                    <a16:creationId xmlns:a16="http://schemas.microsoft.com/office/drawing/2014/main" id="{1ED2EAA9-E47B-EF43-42E5-3ADB907B5553}"/>
                  </a:ext>
                </a:extLst>
              </p:cNvPr>
              <p:cNvSpPr/>
              <p:nvPr/>
            </p:nvSpPr>
            <p:spPr>
              <a:xfrm>
                <a:off x="5286955" y="3057497"/>
                <a:ext cx="8991599" cy="4571852"/>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4"/>
                <a:stretch>
                  <a:fillRect t="-45028" b="-51171"/>
                </a:stretch>
              </a:blipFill>
            </p:spPr>
            <p:txBody>
              <a:bodyPr/>
              <a:lstStyle/>
              <a:p>
                <a:endParaRPr lang="zh-CN" altLang="en-US"/>
              </a:p>
            </p:txBody>
          </p:sp>
          <p:sp>
            <p:nvSpPr>
              <p:cNvPr id="43" name="Freeform 14">
                <a:extLst>
                  <a:ext uri="{FF2B5EF4-FFF2-40B4-BE49-F238E27FC236}">
                    <a16:creationId xmlns:a16="http://schemas.microsoft.com/office/drawing/2014/main" id="{B7799439-B437-B45E-1D4E-9298750D7DAC}"/>
                  </a:ext>
                </a:extLst>
              </p:cNvPr>
              <p:cNvSpPr/>
              <p:nvPr/>
            </p:nvSpPr>
            <p:spPr>
              <a:xfrm>
                <a:off x="14336865" y="3057497"/>
                <a:ext cx="8733843" cy="4571851"/>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5"/>
                <a:stretch>
                  <a:fillRect l="-636" t="-6243" r="-504" b="-25966"/>
                </a:stretch>
              </a:blipFill>
            </p:spPr>
            <p:txBody>
              <a:bodyPr/>
              <a:lstStyle/>
              <a:p>
                <a:endParaRPr lang="zh-CN" altLang="en-US"/>
              </a:p>
            </p:txBody>
          </p:sp>
        </p:grpSp>
        <p:grpSp>
          <p:nvGrpSpPr>
            <p:cNvPr id="8" name="组合 7">
              <a:extLst>
                <a:ext uri="{FF2B5EF4-FFF2-40B4-BE49-F238E27FC236}">
                  <a16:creationId xmlns:a16="http://schemas.microsoft.com/office/drawing/2014/main" id="{6DADEAE4-4FB3-BC66-C72C-AB1AE33105D0}"/>
                </a:ext>
              </a:extLst>
            </p:cNvPr>
            <p:cNvGrpSpPr/>
            <p:nvPr/>
          </p:nvGrpSpPr>
          <p:grpSpPr>
            <a:xfrm>
              <a:off x="23059446" y="15082946"/>
              <a:ext cx="26575908" cy="4571852"/>
              <a:chOff x="-3505200" y="3057497"/>
              <a:chExt cx="26575908" cy="4571852"/>
            </a:xfrm>
          </p:grpSpPr>
          <p:sp>
            <p:nvSpPr>
              <p:cNvPr id="38" name="Freeform 12">
                <a:extLst>
                  <a:ext uri="{FF2B5EF4-FFF2-40B4-BE49-F238E27FC236}">
                    <a16:creationId xmlns:a16="http://schemas.microsoft.com/office/drawing/2014/main" id="{550BCC2B-87CD-95AC-D5B8-35B88324E25A}"/>
                  </a:ext>
                </a:extLst>
              </p:cNvPr>
              <p:cNvSpPr/>
              <p:nvPr/>
            </p:nvSpPr>
            <p:spPr>
              <a:xfrm>
                <a:off x="-3505200" y="3057497"/>
                <a:ext cx="8733842" cy="4571852"/>
              </a:xfrm>
              <a:custGeom>
                <a:avLst/>
                <a:gdLst/>
                <a:ahLst/>
                <a:cxnLst/>
                <a:rect l="l" t="t" r="r" b="b"/>
                <a:pathLst>
                  <a:path w="5315784" h="2739093">
                    <a:moveTo>
                      <a:pt x="0" y="0"/>
                    </a:moveTo>
                    <a:lnTo>
                      <a:pt x="5315784" y="0"/>
                    </a:lnTo>
                    <a:lnTo>
                      <a:pt x="5315784" y="2739094"/>
                    </a:lnTo>
                    <a:lnTo>
                      <a:pt x="0" y="2739094"/>
                    </a:lnTo>
                    <a:lnTo>
                      <a:pt x="0" y="0"/>
                    </a:lnTo>
                    <a:close/>
                  </a:path>
                </a:pathLst>
              </a:custGeom>
              <a:blipFill>
                <a:blip r:embed="rId3"/>
                <a:stretch>
                  <a:fillRect l="-4615" b="-35268"/>
                </a:stretch>
              </a:blipFill>
            </p:spPr>
            <p:txBody>
              <a:bodyPr/>
              <a:lstStyle/>
              <a:p>
                <a:endParaRPr lang="zh-CN" altLang="en-US"/>
              </a:p>
            </p:txBody>
          </p:sp>
          <p:sp>
            <p:nvSpPr>
              <p:cNvPr id="39" name="Freeform 13">
                <a:extLst>
                  <a:ext uri="{FF2B5EF4-FFF2-40B4-BE49-F238E27FC236}">
                    <a16:creationId xmlns:a16="http://schemas.microsoft.com/office/drawing/2014/main" id="{572D28A3-26A2-EFFA-92AC-E526F0B62F9A}"/>
                  </a:ext>
                </a:extLst>
              </p:cNvPr>
              <p:cNvSpPr/>
              <p:nvPr/>
            </p:nvSpPr>
            <p:spPr>
              <a:xfrm>
                <a:off x="5286955" y="3057497"/>
                <a:ext cx="8991599" cy="4571852"/>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4"/>
                <a:stretch>
                  <a:fillRect t="-45028" b="-51171"/>
                </a:stretch>
              </a:blipFill>
            </p:spPr>
            <p:txBody>
              <a:bodyPr/>
              <a:lstStyle/>
              <a:p>
                <a:endParaRPr lang="zh-CN" altLang="en-US"/>
              </a:p>
            </p:txBody>
          </p:sp>
          <p:sp>
            <p:nvSpPr>
              <p:cNvPr id="40" name="Freeform 14">
                <a:extLst>
                  <a:ext uri="{FF2B5EF4-FFF2-40B4-BE49-F238E27FC236}">
                    <a16:creationId xmlns:a16="http://schemas.microsoft.com/office/drawing/2014/main" id="{5371FA2F-B150-8003-E9AB-A456B88F651E}"/>
                  </a:ext>
                </a:extLst>
              </p:cNvPr>
              <p:cNvSpPr/>
              <p:nvPr/>
            </p:nvSpPr>
            <p:spPr>
              <a:xfrm>
                <a:off x="14336865" y="3057497"/>
                <a:ext cx="8733843" cy="4571851"/>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5"/>
                <a:stretch>
                  <a:fillRect l="-636" t="-6243" r="-504" b="-25966"/>
                </a:stretch>
              </a:blipFill>
            </p:spPr>
            <p:txBody>
              <a:bodyPr/>
              <a:lstStyle/>
              <a:p>
                <a:endParaRPr lang="zh-CN" altLang="en-US"/>
              </a:p>
            </p:txBody>
          </p:sp>
        </p:grpSp>
        <p:grpSp>
          <p:nvGrpSpPr>
            <p:cNvPr id="9" name="组合 8">
              <a:extLst>
                <a:ext uri="{FF2B5EF4-FFF2-40B4-BE49-F238E27FC236}">
                  <a16:creationId xmlns:a16="http://schemas.microsoft.com/office/drawing/2014/main" id="{58D3F0EE-FF73-3AFC-232E-48CE5C86DF26}"/>
                </a:ext>
              </a:extLst>
            </p:cNvPr>
            <p:cNvGrpSpPr/>
            <p:nvPr/>
          </p:nvGrpSpPr>
          <p:grpSpPr>
            <a:xfrm>
              <a:off x="49693665" y="15082946"/>
              <a:ext cx="26575908" cy="4571852"/>
              <a:chOff x="-3505200" y="3057497"/>
              <a:chExt cx="26575908" cy="4571852"/>
            </a:xfrm>
          </p:grpSpPr>
          <p:sp>
            <p:nvSpPr>
              <p:cNvPr id="10" name="Freeform 12">
                <a:extLst>
                  <a:ext uri="{FF2B5EF4-FFF2-40B4-BE49-F238E27FC236}">
                    <a16:creationId xmlns:a16="http://schemas.microsoft.com/office/drawing/2014/main" id="{97A8B79F-8C17-FD28-2831-2C1C46FB523B}"/>
                  </a:ext>
                </a:extLst>
              </p:cNvPr>
              <p:cNvSpPr/>
              <p:nvPr/>
            </p:nvSpPr>
            <p:spPr>
              <a:xfrm>
                <a:off x="-3505200" y="3057497"/>
                <a:ext cx="8733842" cy="4571852"/>
              </a:xfrm>
              <a:custGeom>
                <a:avLst/>
                <a:gdLst/>
                <a:ahLst/>
                <a:cxnLst/>
                <a:rect l="l" t="t" r="r" b="b"/>
                <a:pathLst>
                  <a:path w="5315784" h="2739093">
                    <a:moveTo>
                      <a:pt x="0" y="0"/>
                    </a:moveTo>
                    <a:lnTo>
                      <a:pt x="5315784" y="0"/>
                    </a:lnTo>
                    <a:lnTo>
                      <a:pt x="5315784" y="2739094"/>
                    </a:lnTo>
                    <a:lnTo>
                      <a:pt x="0" y="2739094"/>
                    </a:lnTo>
                    <a:lnTo>
                      <a:pt x="0" y="0"/>
                    </a:lnTo>
                    <a:close/>
                  </a:path>
                </a:pathLst>
              </a:custGeom>
              <a:blipFill>
                <a:blip r:embed="rId3"/>
                <a:stretch>
                  <a:fillRect l="-4615" b="-35268"/>
                </a:stretch>
              </a:blipFill>
            </p:spPr>
            <p:txBody>
              <a:bodyPr/>
              <a:lstStyle/>
              <a:p>
                <a:endParaRPr lang="zh-CN" altLang="en-US"/>
              </a:p>
            </p:txBody>
          </p:sp>
          <p:sp>
            <p:nvSpPr>
              <p:cNvPr id="11" name="Freeform 13">
                <a:extLst>
                  <a:ext uri="{FF2B5EF4-FFF2-40B4-BE49-F238E27FC236}">
                    <a16:creationId xmlns:a16="http://schemas.microsoft.com/office/drawing/2014/main" id="{611EB4D6-90BD-124F-542D-1A3EC6C2241F}"/>
                  </a:ext>
                </a:extLst>
              </p:cNvPr>
              <p:cNvSpPr/>
              <p:nvPr/>
            </p:nvSpPr>
            <p:spPr>
              <a:xfrm>
                <a:off x="5286955" y="3057497"/>
                <a:ext cx="8991599" cy="4571852"/>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4"/>
                <a:stretch>
                  <a:fillRect t="-45028" b="-51171"/>
                </a:stretch>
              </a:blipFill>
            </p:spPr>
            <p:txBody>
              <a:bodyPr/>
              <a:lstStyle/>
              <a:p>
                <a:endParaRPr lang="zh-CN" altLang="en-US"/>
              </a:p>
            </p:txBody>
          </p:sp>
          <p:sp>
            <p:nvSpPr>
              <p:cNvPr id="20" name="Freeform 14">
                <a:extLst>
                  <a:ext uri="{FF2B5EF4-FFF2-40B4-BE49-F238E27FC236}">
                    <a16:creationId xmlns:a16="http://schemas.microsoft.com/office/drawing/2014/main" id="{68EE6571-0325-BFEB-6179-35CE98F33E9E}"/>
                  </a:ext>
                </a:extLst>
              </p:cNvPr>
              <p:cNvSpPr/>
              <p:nvPr/>
            </p:nvSpPr>
            <p:spPr>
              <a:xfrm>
                <a:off x="14336865" y="3057497"/>
                <a:ext cx="8733843" cy="4571851"/>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r:embed="rId5"/>
                <a:stretch>
                  <a:fillRect l="-636" t="-6243" r="-504" b="-25966"/>
                </a:stretch>
              </a:blipFill>
            </p:spPr>
            <p:txBody>
              <a:bodyPr/>
              <a:lstStyle/>
              <a:p>
                <a:endParaRPr lang="zh-CN" altLang="en-US"/>
              </a:p>
            </p:txBody>
          </p:sp>
        </p:grpSp>
      </p:grpSp>
      <p:grpSp>
        <p:nvGrpSpPr>
          <p:cNvPr id="26" name="Group 4">
            <a:extLst>
              <a:ext uri="{FF2B5EF4-FFF2-40B4-BE49-F238E27FC236}">
                <a16:creationId xmlns:a16="http://schemas.microsoft.com/office/drawing/2014/main" id="{8C06D54F-F309-DB9D-9BE8-AC8250192A88}"/>
              </a:ext>
            </a:extLst>
          </p:cNvPr>
          <p:cNvGrpSpPr/>
          <p:nvPr/>
        </p:nvGrpSpPr>
        <p:grpSpPr>
          <a:xfrm rot="5400000">
            <a:off x="-1543050" y="4057749"/>
            <a:ext cx="3086100" cy="2171499"/>
            <a:chOff x="0" y="0"/>
            <a:chExt cx="812800" cy="571917"/>
          </a:xfrm>
        </p:grpSpPr>
        <p:sp>
          <p:nvSpPr>
            <p:cNvPr id="27" name="Freeform 5">
              <a:extLst>
                <a:ext uri="{FF2B5EF4-FFF2-40B4-BE49-F238E27FC236}">
                  <a16:creationId xmlns:a16="http://schemas.microsoft.com/office/drawing/2014/main" id="{EC25D91B-D335-F742-FBEE-213A99A2805B}"/>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28" name="TextBox 6">
              <a:extLst>
                <a:ext uri="{FF2B5EF4-FFF2-40B4-BE49-F238E27FC236}">
                  <a16:creationId xmlns:a16="http://schemas.microsoft.com/office/drawing/2014/main" id="{4EF8D066-8988-7B5D-E58D-1947CD5DDA3E}"/>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29" name="Group 9">
            <a:extLst>
              <a:ext uri="{FF2B5EF4-FFF2-40B4-BE49-F238E27FC236}">
                <a16:creationId xmlns:a16="http://schemas.microsoft.com/office/drawing/2014/main" id="{DCBAA885-08BD-E275-9840-765A9AEBE04C}"/>
              </a:ext>
            </a:extLst>
          </p:cNvPr>
          <p:cNvGrpSpPr/>
          <p:nvPr/>
        </p:nvGrpSpPr>
        <p:grpSpPr>
          <a:xfrm rot="16200000">
            <a:off x="16699267" y="4057749"/>
            <a:ext cx="3086100" cy="2171499"/>
            <a:chOff x="0" y="0"/>
            <a:chExt cx="812800" cy="571917"/>
          </a:xfrm>
        </p:grpSpPr>
        <p:sp>
          <p:nvSpPr>
            <p:cNvPr id="30" name="Freeform 10">
              <a:extLst>
                <a:ext uri="{FF2B5EF4-FFF2-40B4-BE49-F238E27FC236}">
                  <a16:creationId xmlns:a16="http://schemas.microsoft.com/office/drawing/2014/main" id="{79606217-0C73-3EC5-E274-3834275CFF23}"/>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zh-CN" altLang="en-US"/>
            </a:p>
          </p:txBody>
        </p:sp>
        <p:sp>
          <p:nvSpPr>
            <p:cNvPr id="31" name="TextBox 11">
              <a:extLst>
                <a:ext uri="{FF2B5EF4-FFF2-40B4-BE49-F238E27FC236}">
                  <a16:creationId xmlns:a16="http://schemas.microsoft.com/office/drawing/2014/main" id="{AECF0A43-97FF-35BD-2FD1-9604320D1830}"/>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32" name="Group 4">
            <a:extLst>
              <a:ext uri="{FF2B5EF4-FFF2-40B4-BE49-F238E27FC236}">
                <a16:creationId xmlns:a16="http://schemas.microsoft.com/office/drawing/2014/main" id="{935F391C-B963-7E2C-0A09-FC9C304F5AB0}"/>
              </a:ext>
            </a:extLst>
          </p:cNvPr>
          <p:cNvGrpSpPr/>
          <p:nvPr/>
        </p:nvGrpSpPr>
        <p:grpSpPr>
          <a:xfrm>
            <a:off x="2335245" y="7561594"/>
            <a:ext cx="13617510" cy="55894"/>
            <a:chOff x="0" y="0"/>
            <a:chExt cx="812800" cy="571917"/>
          </a:xfrm>
        </p:grpSpPr>
        <p:sp>
          <p:nvSpPr>
            <p:cNvPr id="33" name="TextBox 6">
              <a:extLst>
                <a:ext uri="{FF2B5EF4-FFF2-40B4-BE49-F238E27FC236}">
                  <a16:creationId xmlns:a16="http://schemas.microsoft.com/office/drawing/2014/main" id="{943BF588-2189-9C38-F97A-5F0468B06706}"/>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34" name="Freeform 5">
              <a:extLst>
                <a:ext uri="{FF2B5EF4-FFF2-40B4-BE49-F238E27FC236}">
                  <a16:creationId xmlns:a16="http://schemas.microsoft.com/office/drawing/2014/main" id="{47208CAA-80A0-1A3E-1853-BDD23D768E10}"/>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35" name="Group 4">
            <a:extLst>
              <a:ext uri="{FF2B5EF4-FFF2-40B4-BE49-F238E27FC236}">
                <a16:creationId xmlns:a16="http://schemas.microsoft.com/office/drawing/2014/main" id="{5EE37CA4-0669-D0A7-933E-E332966604DA}"/>
              </a:ext>
            </a:extLst>
          </p:cNvPr>
          <p:cNvGrpSpPr/>
          <p:nvPr/>
        </p:nvGrpSpPr>
        <p:grpSpPr>
          <a:xfrm>
            <a:off x="2487645" y="2705100"/>
            <a:ext cx="13617510" cy="55894"/>
            <a:chOff x="0" y="0"/>
            <a:chExt cx="812800" cy="571917"/>
          </a:xfrm>
        </p:grpSpPr>
        <p:sp>
          <p:nvSpPr>
            <p:cNvPr id="36" name="TextBox 6">
              <a:extLst>
                <a:ext uri="{FF2B5EF4-FFF2-40B4-BE49-F238E27FC236}">
                  <a16:creationId xmlns:a16="http://schemas.microsoft.com/office/drawing/2014/main" id="{AECDCCE8-BE9C-57A2-595D-B05318B6945E}"/>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37" name="Freeform 5">
              <a:extLst>
                <a:ext uri="{FF2B5EF4-FFF2-40B4-BE49-F238E27FC236}">
                  <a16:creationId xmlns:a16="http://schemas.microsoft.com/office/drawing/2014/main" id="{35D76668-FFF8-82E1-65F6-9FBAF7011743}"/>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spTree>
    <p:extLst>
      <p:ext uri="{BB962C8B-B14F-4D97-AF65-F5344CB8AC3E}">
        <p14:creationId xmlns:p14="http://schemas.microsoft.com/office/powerpoint/2010/main" val="1037561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37E96-9FA8-6724-76F7-EEFB1E729A4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5BAAA5-46A3-CCCB-BFA7-F96565312ED9}"/>
              </a:ext>
            </a:extLst>
          </p:cNvPr>
          <p:cNvSpPr>
            <a:spLocks noGrp="1" noRot="1" noMove="1" noResize="1" noEditPoints="1" noAdjustHandles="1" noChangeArrowheads="1" noChangeShapeType="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grpSp>
        <p:nvGrpSpPr>
          <p:cNvPr id="3" name="Group 3">
            <a:extLst>
              <a:ext uri="{FF2B5EF4-FFF2-40B4-BE49-F238E27FC236}">
                <a16:creationId xmlns:a16="http://schemas.microsoft.com/office/drawing/2014/main" id="{0D79D011-4FBE-0002-F49A-8F068C9D1D52}"/>
              </a:ext>
            </a:extLst>
          </p:cNvPr>
          <p:cNvGrpSpPr/>
          <p:nvPr/>
        </p:nvGrpSpPr>
        <p:grpSpPr>
          <a:xfrm>
            <a:off x="763833" y="9471696"/>
            <a:ext cx="2514600" cy="260350"/>
            <a:chOff x="0" y="0"/>
            <a:chExt cx="662281" cy="68570"/>
          </a:xfrm>
        </p:grpSpPr>
        <p:sp>
          <p:nvSpPr>
            <p:cNvPr id="4" name="Freeform 4">
              <a:extLst>
                <a:ext uri="{FF2B5EF4-FFF2-40B4-BE49-F238E27FC236}">
                  <a16:creationId xmlns:a16="http://schemas.microsoft.com/office/drawing/2014/main" id="{95672649-C67E-242B-CEE7-EF97F33A105A}"/>
                </a:ext>
              </a:extLst>
            </p:cNvPr>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zh-CN" altLang="en-US"/>
            </a:p>
          </p:txBody>
        </p:sp>
        <p:sp>
          <p:nvSpPr>
            <p:cNvPr id="5" name="TextBox 5">
              <a:extLst>
                <a:ext uri="{FF2B5EF4-FFF2-40B4-BE49-F238E27FC236}">
                  <a16:creationId xmlns:a16="http://schemas.microsoft.com/office/drawing/2014/main" id="{B108D0A1-6777-1D9D-4432-A923F5F962E1}"/>
                </a:ext>
              </a:extLst>
            </p:cNvPr>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sp>
        <p:nvSpPr>
          <p:cNvPr id="15" name="TextBox 15">
            <a:extLst>
              <a:ext uri="{FF2B5EF4-FFF2-40B4-BE49-F238E27FC236}">
                <a16:creationId xmlns:a16="http://schemas.microsoft.com/office/drawing/2014/main" id="{06FE5102-A52F-EBAD-224A-5E0B7C1CCE67}"/>
              </a:ext>
            </a:extLst>
          </p:cNvPr>
          <p:cNvSpPr txBox="1"/>
          <p:nvPr/>
        </p:nvSpPr>
        <p:spPr>
          <a:xfrm>
            <a:off x="3686592" y="1485900"/>
            <a:ext cx="10914816" cy="912915"/>
          </a:xfrm>
          <a:prstGeom prst="rect">
            <a:avLst/>
          </a:prstGeom>
        </p:spPr>
        <p:txBody>
          <a:bodyPr lIns="0" tIns="0" rIns="0" bIns="0" rtlCol="0" anchor="t">
            <a:spAutoFit/>
          </a:bodyPr>
          <a:lstStyle/>
          <a:p>
            <a:pPr algn="ctr">
              <a:lnSpc>
                <a:spcPts val="7431"/>
              </a:lnSpc>
            </a:pPr>
            <a:r>
              <a:rPr lang="en-US" sz="5308" b="1" dirty="0">
                <a:solidFill>
                  <a:srgbClr val="004AAD"/>
                </a:solidFill>
                <a:latin typeface="League Spartan"/>
                <a:ea typeface="League Spartan"/>
                <a:cs typeface="League Spartan"/>
                <a:sym typeface="League Spartan"/>
              </a:rPr>
              <a:t>CONCLUSION</a:t>
            </a:r>
          </a:p>
        </p:txBody>
      </p:sp>
      <p:sp>
        <p:nvSpPr>
          <p:cNvPr id="16" name="TextBox 16">
            <a:extLst>
              <a:ext uri="{FF2B5EF4-FFF2-40B4-BE49-F238E27FC236}">
                <a16:creationId xmlns:a16="http://schemas.microsoft.com/office/drawing/2014/main" id="{A3A0B8A6-D40E-773E-A53D-4C5BB95097E7}"/>
              </a:ext>
            </a:extLst>
          </p:cNvPr>
          <p:cNvSpPr txBox="1"/>
          <p:nvPr/>
        </p:nvSpPr>
        <p:spPr>
          <a:xfrm>
            <a:off x="-28638426" y="7931940"/>
            <a:ext cx="10914816" cy="640560"/>
          </a:xfrm>
          <a:prstGeom prst="rect">
            <a:avLst/>
          </a:prstGeom>
        </p:spPr>
        <p:txBody>
          <a:bodyPr lIns="0" tIns="0" rIns="0" bIns="0" rtlCol="0" anchor="t">
            <a:spAutoFit/>
          </a:bodyPr>
          <a:lstStyle/>
          <a:p>
            <a:pPr algn="ctr">
              <a:lnSpc>
                <a:spcPts val="4516"/>
              </a:lnSpc>
            </a:pPr>
            <a:r>
              <a:rPr lang="en-US" sz="5400" dirty="0">
                <a:solidFill>
                  <a:srgbClr val="004AAD"/>
                </a:solidFill>
                <a:latin typeface="League Spartan"/>
                <a:ea typeface="League Spartan"/>
                <a:cs typeface="League Spartan"/>
                <a:sym typeface="League Spartan"/>
              </a:rPr>
              <a:t>SaaS &amp; User Experience</a:t>
            </a:r>
          </a:p>
        </p:txBody>
      </p:sp>
      <p:sp>
        <p:nvSpPr>
          <p:cNvPr id="17" name="TextBox 17">
            <a:extLst>
              <a:ext uri="{FF2B5EF4-FFF2-40B4-BE49-F238E27FC236}">
                <a16:creationId xmlns:a16="http://schemas.microsoft.com/office/drawing/2014/main" id="{274BD6B6-8FE2-EA11-985A-F8581BCE4AF3}"/>
              </a:ext>
            </a:extLst>
          </p:cNvPr>
          <p:cNvSpPr txBox="1"/>
          <p:nvPr/>
        </p:nvSpPr>
        <p:spPr>
          <a:xfrm>
            <a:off x="-12210546" y="7931940"/>
            <a:ext cx="10914816" cy="640560"/>
          </a:xfrm>
          <a:prstGeom prst="rect">
            <a:avLst/>
          </a:prstGeom>
        </p:spPr>
        <p:txBody>
          <a:bodyPr lIns="0" tIns="0" rIns="0" bIns="0" rtlCol="0" anchor="t">
            <a:spAutoFit/>
          </a:bodyPr>
          <a:lstStyle/>
          <a:p>
            <a:pPr algn="ctr">
              <a:lnSpc>
                <a:spcPts val="4516"/>
              </a:lnSpc>
            </a:pPr>
            <a:r>
              <a:rPr lang="en-US" sz="5400" dirty="0">
                <a:solidFill>
                  <a:srgbClr val="366BC7"/>
                </a:solidFill>
                <a:latin typeface="League Spartan"/>
                <a:ea typeface="League Spartan"/>
                <a:cs typeface="League Spartan"/>
                <a:sym typeface="League Spartan"/>
              </a:rPr>
              <a:t>Self-Reflection Mechanism</a:t>
            </a:r>
          </a:p>
        </p:txBody>
      </p:sp>
      <p:sp>
        <p:nvSpPr>
          <p:cNvPr id="18" name="TextBox 18">
            <a:extLst>
              <a:ext uri="{FF2B5EF4-FFF2-40B4-BE49-F238E27FC236}">
                <a16:creationId xmlns:a16="http://schemas.microsoft.com/office/drawing/2014/main" id="{1946FE63-4948-5DEF-8F65-E5BA7E7C3E68}"/>
              </a:ext>
            </a:extLst>
          </p:cNvPr>
          <p:cNvSpPr txBox="1"/>
          <p:nvPr/>
        </p:nvSpPr>
        <p:spPr>
          <a:xfrm>
            <a:off x="2925838" y="2849880"/>
            <a:ext cx="12436324" cy="4616648"/>
          </a:xfrm>
          <a:prstGeom prst="rect">
            <a:avLst/>
          </a:prstGeom>
        </p:spPr>
        <p:txBody>
          <a:bodyPr wrap="square" lIns="0" tIns="0" rIns="0" bIns="0" rtlCol="0" anchor="t">
            <a:spAutoFit/>
          </a:bodyPr>
          <a:lstStyle/>
          <a:p>
            <a:pPr algn="just"/>
            <a:r>
              <a:rPr lang="en-US" sz="5000" b="1" dirty="0">
                <a:solidFill>
                  <a:srgbClr val="3886E1"/>
                </a:solidFill>
                <a:latin typeface="Arial" panose="020B0604020202020204" pitchFamily="34" charset="0"/>
                <a:ea typeface="League Spartan"/>
                <a:cs typeface="Arial" panose="020B0604020202020204" pitchFamily="34" charset="0"/>
                <a:sym typeface="League Spartan"/>
              </a:rPr>
              <a:t>This framework represents a significant step towards democratizing professional asset management. It offers a more intelligent, transparent, and accessible approach for navigating the complexities of cryptocurrency investment.</a:t>
            </a:r>
          </a:p>
        </p:txBody>
      </p:sp>
      <p:grpSp>
        <p:nvGrpSpPr>
          <p:cNvPr id="25" name="组合 24">
            <a:extLst>
              <a:ext uri="{FF2B5EF4-FFF2-40B4-BE49-F238E27FC236}">
                <a16:creationId xmlns:a16="http://schemas.microsoft.com/office/drawing/2014/main" id="{DF2A5120-95E1-0164-824C-7ACFB8544A57}"/>
              </a:ext>
            </a:extLst>
          </p:cNvPr>
          <p:cNvGrpSpPr/>
          <p:nvPr/>
        </p:nvGrpSpPr>
        <p:grpSpPr>
          <a:xfrm>
            <a:off x="-21793200" y="-5676900"/>
            <a:ext cx="62002299" cy="4571853"/>
            <a:chOff x="-19688757" y="3695921"/>
            <a:chExt cx="62002299" cy="4571853"/>
          </a:xfrm>
        </p:grpSpPr>
        <p:grpSp>
          <p:nvGrpSpPr>
            <p:cNvPr id="23" name="组合 22">
              <a:extLst>
                <a:ext uri="{FF2B5EF4-FFF2-40B4-BE49-F238E27FC236}">
                  <a16:creationId xmlns:a16="http://schemas.microsoft.com/office/drawing/2014/main" id="{2B41241C-8A36-2AC9-F236-6FEF2CD844BF}"/>
                </a:ext>
              </a:extLst>
            </p:cNvPr>
            <p:cNvGrpSpPr/>
            <p:nvPr/>
          </p:nvGrpSpPr>
          <p:grpSpPr>
            <a:xfrm>
              <a:off x="-10896600" y="3695922"/>
              <a:ext cx="53210142" cy="4571852"/>
              <a:chOff x="-4630314" y="3791567"/>
              <a:chExt cx="53210142" cy="4571852"/>
            </a:xfrm>
          </p:grpSpPr>
          <p:sp>
            <p:nvSpPr>
              <p:cNvPr id="12" name="Freeform 12">
                <a:extLst>
                  <a:ext uri="{FF2B5EF4-FFF2-40B4-BE49-F238E27FC236}">
                    <a16:creationId xmlns:a16="http://schemas.microsoft.com/office/drawing/2014/main" id="{4478454B-FD47-AD2A-15DB-6B9AB92AF48E}"/>
                  </a:ext>
                </a:extLst>
              </p:cNvPr>
              <p:cNvSpPr/>
              <p:nvPr/>
            </p:nvSpPr>
            <p:spPr>
              <a:xfrm>
                <a:off x="-4630314" y="3791567"/>
                <a:ext cx="8991600" cy="4571852"/>
              </a:xfrm>
              <a:custGeom>
                <a:avLst/>
                <a:gdLst/>
                <a:ahLst/>
                <a:cxnLst/>
                <a:rect l="l" t="t" r="r" b="b"/>
                <a:pathLst>
                  <a:path w="5315784" h="2739093">
                    <a:moveTo>
                      <a:pt x="0" y="0"/>
                    </a:moveTo>
                    <a:lnTo>
                      <a:pt x="5315784" y="0"/>
                    </a:lnTo>
                    <a:lnTo>
                      <a:pt x="5315784" y="2739094"/>
                    </a:lnTo>
                    <a:lnTo>
                      <a:pt x="0" y="2739094"/>
                    </a:lnTo>
                    <a:lnTo>
                      <a:pt x="0" y="0"/>
                    </a:lnTo>
                    <a:close/>
                  </a:path>
                </a:pathLst>
              </a:custGeom>
              <a:blipFill>
                <a:blip/>
                <a:stretch>
                  <a:fillRect l="-4615" b="-35268"/>
                </a:stretch>
              </a:blipFill>
            </p:spPr>
            <p:txBody>
              <a:bodyPr/>
              <a:lstStyle/>
              <a:p>
                <a:endParaRPr lang="zh-CN" altLang="en-US"/>
              </a:p>
            </p:txBody>
          </p:sp>
          <p:sp>
            <p:nvSpPr>
              <p:cNvPr id="13" name="Freeform 13">
                <a:extLst>
                  <a:ext uri="{FF2B5EF4-FFF2-40B4-BE49-F238E27FC236}">
                    <a16:creationId xmlns:a16="http://schemas.microsoft.com/office/drawing/2014/main" id="{A1C7AB46-273D-B760-7C69-A7869213A547}"/>
                  </a:ext>
                </a:extLst>
              </p:cNvPr>
              <p:cNvSpPr/>
              <p:nvPr/>
            </p:nvSpPr>
            <p:spPr>
              <a:xfrm>
                <a:off x="4419600" y="3791567"/>
                <a:ext cx="8733843" cy="4571851"/>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a:stretch>
                  <a:fillRect t="-45028" b="-51171"/>
                </a:stretch>
              </a:blipFill>
            </p:spPr>
            <p:txBody>
              <a:bodyPr/>
              <a:lstStyle/>
              <a:p>
                <a:endParaRPr lang="zh-CN" altLang="en-US"/>
              </a:p>
            </p:txBody>
          </p:sp>
          <p:sp>
            <p:nvSpPr>
              <p:cNvPr id="14" name="Freeform 14">
                <a:extLst>
                  <a:ext uri="{FF2B5EF4-FFF2-40B4-BE49-F238E27FC236}">
                    <a16:creationId xmlns:a16="http://schemas.microsoft.com/office/drawing/2014/main" id="{CEB8982E-D852-1AEC-0D66-AE0B3D258DFD}"/>
                  </a:ext>
                </a:extLst>
              </p:cNvPr>
              <p:cNvSpPr/>
              <p:nvPr/>
            </p:nvSpPr>
            <p:spPr>
              <a:xfrm>
                <a:off x="13211757" y="3791567"/>
                <a:ext cx="8733843" cy="4571851"/>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a:stretch>
                  <a:fillRect l="-636" t="-6243" r="-504" b="-25966"/>
                </a:stretch>
              </a:blipFill>
            </p:spPr>
            <p:txBody>
              <a:bodyPr/>
              <a:lstStyle/>
              <a:p>
                <a:endParaRPr lang="zh-CN" altLang="en-US"/>
              </a:p>
            </p:txBody>
          </p:sp>
          <p:sp>
            <p:nvSpPr>
              <p:cNvPr id="19" name="Freeform 12">
                <a:extLst>
                  <a:ext uri="{FF2B5EF4-FFF2-40B4-BE49-F238E27FC236}">
                    <a16:creationId xmlns:a16="http://schemas.microsoft.com/office/drawing/2014/main" id="{914F160B-AD10-FCF9-051B-AA3708D924E4}"/>
                  </a:ext>
                </a:extLst>
              </p:cNvPr>
              <p:cNvSpPr/>
              <p:nvPr/>
            </p:nvSpPr>
            <p:spPr>
              <a:xfrm>
                <a:off x="22003914" y="3791567"/>
                <a:ext cx="8991600" cy="4571852"/>
              </a:xfrm>
              <a:custGeom>
                <a:avLst/>
                <a:gdLst/>
                <a:ahLst/>
                <a:cxnLst/>
                <a:rect l="l" t="t" r="r" b="b"/>
                <a:pathLst>
                  <a:path w="5315784" h="2739093">
                    <a:moveTo>
                      <a:pt x="0" y="0"/>
                    </a:moveTo>
                    <a:lnTo>
                      <a:pt x="5315784" y="0"/>
                    </a:lnTo>
                    <a:lnTo>
                      <a:pt x="5315784" y="2739094"/>
                    </a:lnTo>
                    <a:lnTo>
                      <a:pt x="0" y="2739094"/>
                    </a:lnTo>
                    <a:lnTo>
                      <a:pt x="0" y="0"/>
                    </a:lnTo>
                    <a:close/>
                  </a:path>
                </a:pathLst>
              </a:custGeom>
              <a:blipFill>
                <a:blip/>
                <a:stretch>
                  <a:fillRect l="-4615" b="-35268"/>
                </a:stretch>
              </a:blipFill>
            </p:spPr>
            <p:txBody>
              <a:bodyPr/>
              <a:lstStyle/>
              <a:p>
                <a:endParaRPr lang="zh-CN" altLang="en-US"/>
              </a:p>
            </p:txBody>
          </p:sp>
          <p:sp>
            <p:nvSpPr>
              <p:cNvPr id="21" name="Freeform 13">
                <a:extLst>
                  <a:ext uri="{FF2B5EF4-FFF2-40B4-BE49-F238E27FC236}">
                    <a16:creationId xmlns:a16="http://schemas.microsoft.com/office/drawing/2014/main" id="{A71E0EC2-63E3-59BE-6282-F33ABBCD895F}"/>
                  </a:ext>
                </a:extLst>
              </p:cNvPr>
              <p:cNvSpPr/>
              <p:nvPr/>
            </p:nvSpPr>
            <p:spPr>
              <a:xfrm>
                <a:off x="31053828" y="3791567"/>
                <a:ext cx="8733843" cy="4571851"/>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a:stretch>
                  <a:fillRect t="-45028" b="-51171"/>
                </a:stretch>
              </a:blipFill>
            </p:spPr>
            <p:txBody>
              <a:bodyPr/>
              <a:lstStyle/>
              <a:p>
                <a:endParaRPr lang="zh-CN" altLang="en-US"/>
              </a:p>
            </p:txBody>
          </p:sp>
          <p:sp>
            <p:nvSpPr>
              <p:cNvPr id="22" name="Freeform 14">
                <a:extLst>
                  <a:ext uri="{FF2B5EF4-FFF2-40B4-BE49-F238E27FC236}">
                    <a16:creationId xmlns:a16="http://schemas.microsoft.com/office/drawing/2014/main" id="{91C8B791-30B2-5FEA-ACF6-C5ED2D992103}"/>
                  </a:ext>
                </a:extLst>
              </p:cNvPr>
              <p:cNvSpPr/>
              <p:nvPr/>
            </p:nvSpPr>
            <p:spPr>
              <a:xfrm>
                <a:off x="39845985" y="3791567"/>
                <a:ext cx="8733843" cy="4571851"/>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a:stretch>
                  <a:fillRect l="-636" t="-6243" r="-504" b="-25966"/>
                </a:stretch>
              </a:blipFill>
            </p:spPr>
            <p:txBody>
              <a:bodyPr/>
              <a:lstStyle/>
              <a:p>
                <a:endParaRPr lang="zh-CN" altLang="en-US"/>
              </a:p>
            </p:txBody>
          </p:sp>
        </p:grpSp>
        <p:sp>
          <p:nvSpPr>
            <p:cNvPr id="24" name="Freeform 14">
              <a:extLst>
                <a:ext uri="{FF2B5EF4-FFF2-40B4-BE49-F238E27FC236}">
                  <a16:creationId xmlns:a16="http://schemas.microsoft.com/office/drawing/2014/main" id="{E717AEDB-F30F-CC86-4030-D53552C8857E}"/>
                </a:ext>
              </a:extLst>
            </p:cNvPr>
            <p:cNvSpPr/>
            <p:nvPr/>
          </p:nvSpPr>
          <p:spPr>
            <a:xfrm>
              <a:off x="-19688757" y="3695921"/>
              <a:ext cx="8733843" cy="4571851"/>
            </a:xfrm>
            <a:custGeom>
              <a:avLst/>
              <a:gdLst/>
              <a:ahLst/>
              <a:cxnLst/>
              <a:rect l="l" t="t" r="r" b="b"/>
              <a:pathLst>
                <a:path w="5315784" h="2709370">
                  <a:moveTo>
                    <a:pt x="0" y="0"/>
                  </a:moveTo>
                  <a:lnTo>
                    <a:pt x="5315784" y="0"/>
                  </a:lnTo>
                  <a:lnTo>
                    <a:pt x="5315784" y="2709370"/>
                  </a:lnTo>
                  <a:lnTo>
                    <a:pt x="0" y="2709370"/>
                  </a:lnTo>
                  <a:lnTo>
                    <a:pt x="0" y="0"/>
                  </a:lnTo>
                  <a:close/>
                </a:path>
              </a:pathLst>
            </a:custGeom>
            <a:blipFill>
              <a:blip/>
              <a:stretch>
                <a:fillRect l="-636" t="-6243" r="-504" b="-25966"/>
              </a:stretch>
            </a:blipFill>
          </p:spPr>
          <p:txBody>
            <a:bodyPr/>
            <a:lstStyle/>
            <a:p>
              <a:endParaRPr lang="zh-CN" altLang="en-US"/>
            </a:p>
          </p:txBody>
        </p:sp>
      </p:grpSp>
      <p:grpSp>
        <p:nvGrpSpPr>
          <p:cNvPr id="32" name="Group 4">
            <a:extLst>
              <a:ext uri="{FF2B5EF4-FFF2-40B4-BE49-F238E27FC236}">
                <a16:creationId xmlns:a16="http://schemas.microsoft.com/office/drawing/2014/main" id="{BCE5CE09-12FC-1467-2B86-010DED61BCE9}"/>
              </a:ext>
            </a:extLst>
          </p:cNvPr>
          <p:cNvGrpSpPr/>
          <p:nvPr/>
        </p:nvGrpSpPr>
        <p:grpSpPr>
          <a:xfrm>
            <a:off x="2335245" y="7830806"/>
            <a:ext cx="13617510" cy="55894"/>
            <a:chOff x="0" y="0"/>
            <a:chExt cx="812800" cy="571917"/>
          </a:xfrm>
        </p:grpSpPr>
        <p:sp>
          <p:nvSpPr>
            <p:cNvPr id="33" name="TextBox 6">
              <a:extLst>
                <a:ext uri="{FF2B5EF4-FFF2-40B4-BE49-F238E27FC236}">
                  <a16:creationId xmlns:a16="http://schemas.microsoft.com/office/drawing/2014/main" id="{0E38ECAB-83F4-213E-DEB4-FF20279EF1A5}"/>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34" name="Freeform 5">
              <a:extLst>
                <a:ext uri="{FF2B5EF4-FFF2-40B4-BE49-F238E27FC236}">
                  <a16:creationId xmlns:a16="http://schemas.microsoft.com/office/drawing/2014/main" id="{C29730C3-00D0-B552-D322-088C801153A7}"/>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grpSp>
        <p:nvGrpSpPr>
          <p:cNvPr id="35" name="Group 4">
            <a:extLst>
              <a:ext uri="{FF2B5EF4-FFF2-40B4-BE49-F238E27FC236}">
                <a16:creationId xmlns:a16="http://schemas.microsoft.com/office/drawing/2014/main" id="{250668B1-6FA7-CBAB-8F85-6E2B9A530647}"/>
              </a:ext>
            </a:extLst>
          </p:cNvPr>
          <p:cNvGrpSpPr/>
          <p:nvPr/>
        </p:nvGrpSpPr>
        <p:grpSpPr>
          <a:xfrm>
            <a:off x="2487645" y="2552700"/>
            <a:ext cx="13617510" cy="55894"/>
            <a:chOff x="0" y="0"/>
            <a:chExt cx="812800" cy="571917"/>
          </a:xfrm>
        </p:grpSpPr>
        <p:sp>
          <p:nvSpPr>
            <p:cNvPr id="36" name="TextBox 6">
              <a:extLst>
                <a:ext uri="{FF2B5EF4-FFF2-40B4-BE49-F238E27FC236}">
                  <a16:creationId xmlns:a16="http://schemas.microsoft.com/office/drawing/2014/main" id="{BE7D1A47-BDFE-A65A-F32E-84262F5490BC}"/>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sp>
          <p:nvSpPr>
            <p:cNvPr id="37" name="Freeform 5">
              <a:extLst>
                <a:ext uri="{FF2B5EF4-FFF2-40B4-BE49-F238E27FC236}">
                  <a16:creationId xmlns:a16="http://schemas.microsoft.com/office/drawing/2014/main" id="{A154B6DE-353C-BF84-719D-A04E444C6887}"/>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2060"/>
            </a:solidFill>
          </p:spPr>
          <p:txBody>
            <a:bodyPr/>
            <a:lstStyle/>
            <a:p>
              <a:endParaRPr lang="zh-CN" altLang="en-US" dirty="0"/>
            </a:p>
          </p:txBody>
        </p:sp>
      </p:grpSp>
    </p:spTree>
    <p:extLst>
      <p:ext uri="{BB962C8B-B14F-4D97-AF65-F5344CB8AC3E}">
        <p14:creationId xmlns:p14="http://schemas.microsoft.com/office/powerpoint/2010/main" val="17625277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nodeType="withEffect">
                                  <p:stCondLst>
                                    <p:cond delay="0"/>
                                  </p:stCondLst>
                                  <p:iterate type="lt">
                                    <p:tmPct val="10000"/>
                                  </p:iterate>
                                  <p:childTnLst>
                                    <p:set>
                                      <p:cBhvr>
                                        <p:cTn id="6" dur="1" fill="hold">
                                          <p:stCondLst>
                                            <p:cond delay="0"/>
                                          </p:stCondLst>
                                        </p:cTn>
                                        <p:tgtEl>
                                          <p:spTgt spid="18">
                                            <p:txEl>
                                              <p:pRg st="0" end="0"/>
                                            </p:txEl>
                                          </p:spTgt>
                                        </p:tgtEl>
                                        <p:attrNameLst>
                                          <p:attrName>style.visibility</p:attrName>
                                        </p:attrNameLst>
                                      </p:cBhvr>
                                      <p:to>
                                        <p:strVal val="visible"/>
                                      </p:to>
                                    </p:set>
                                    <p:anim by="(-#ppt_w*2)" calcmode="lin" valueType="num">
                                      <p:cBhvr rctx="PPT">
                                        <p:cTn id="7" dur="50" autoRev="1" fill="hold">
                                          <p:stCondLst>
                                            <p:cond delay="0"/>
                                          </p:stCondLst>
                                        </p:cTn>
                                        <p:tgtEl>
                                          <p:spTgt spid="18">
                                            <p:txEl>
                                              <p:pRg st="0" end="0"/>
                                            </p:txEl>
                                          </p:spTgt>
                                        </p:tgtEl>
                                        <p:attrNameLst>
                                          <p:attrName>ppt_w</p:attrName>
                                        </p:attrNameLst>
                                      </p:cBhvr>
                                    </p:anim>
                                    <p:anim by="(#ppt_w*0.50)" calcmode="lin" valueType="num">
                                      <p:cBhvr>
                                        <p:cTn id="8" dur="50" decel="50000" autoRev="1" fill="hold">
                                          <p:stCondLst>
                                            <p:cond delay="0"/>
                                          </p:stCondLst>
                                        </p:cTn>
                                        <p:tgtEl>
                                          <p:spTgt spid="18">
                                            <p:txEl>
                                              <p:pRg st="0" end="0"/>
                                            </p:txEl>
                                          </p:spTgt>
                                        </p:tgtEl>
                                        <p:attrNameLst>
                                          <p:attrName>ppt_x</p:attrName>
                                        </p:attrNameLst>
                                      </p:cBhvr>
                                    </p:anim>
                                    <p:anim from="(-#ppt_h/2)" to="(#ppt_y)" calcmode="lin" valueType="num">
                                      <p:cBhvr>
                                        <p:cTn id="9" dur="100" fill="hold">
                                          <p:stCondLst>
                                            <p:cond delay="0"/>
                                          </p:stCondLst>
                                        </p:cTn>
                                        <p:tgtEl>
                                          <p:spTgt spid="18">
                                            <p:txEl>
                                              <p:pRg st="0" end="0"/>
                                            </p:txEl>
                                          </p:spTgt>
                                        </p:tgtEl>
                                        <p:attrNameLst>
                                          <p:attrName>ppt_y</p:attrName>
                                        </p:attrNameLst>
                                      </p:cBhvr>
                                    </p:anim>
                                    <p:animRot by="21600000">
                                      <p:cBhvr>
                                        <p:cTn id="10" dur="100" fill="hold">
                                          <p:stCondLst>
                                            <p:cond delay="0"/>
                                          </p:stCondLst>
                                        </p:cTn>
                                        <p:tgtEl>
                                          <p:spTgt spid="18">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stretch>
              <a:fillRect/>
            </a:stretch>
          </a:blipFill>
        </p:spPr>
        <p:txBody>
          <a:bodyPr/>
          <a:lstStyle/>
          <a:p>
            <a:endParaRPr lang="zh-CN" altLang="en-US"/>
          </a:p>
        </p:txBody>
      </p:sp>
      <p:grpSp>
        <p:nvGrpSpPr>
          <p:cNvPr id="3" name="Group 3"/>
          <p:cNvGrpSpPr/>
          <p:nvPr/>
        </p:nvGrpSpPr>
        <p:grpSpPr>
          <a:xfrm>
            <a:off x="-635000" y="3810722"/>
            <a:ext cx="5245100" cy="1332778"/>
            <a:chOff x="0" y="0"/>
            <a:chExt cx="1381426" cy="351020"/>
          </a:xfrm>
        </p:grpSpPr>
        <p:sp>
          <p:nvSpPr>
            <p:cNvPr id="4" name="Freeform 4"/>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zh-CN" altLang="en-US"/>
            </a:p>
          </p:txBody>
        </p:sp>
        <p:sp>
          <p:nvSpPr>
            <p:cNvPr id="5" name="TextBox 5"/>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3804900" y="3810722"/>
            <a:ext cx="5118100" cy="1332778"/>
            <a:chOff x="0" y="0"/>
            <a:chExt cx="1347977" cy="351020"/>
          </a:xfrm>
        </p:grpSpPr>
        <p:sp>
          <p:nvSpPr>
            <p:cNvPr id="7" name="Freeform 7"/>
            <p:cNvSpPr/>
            <p:nvPr/>
          </p:nvSpPr>
          <p:spPr>
            <a:xfrm>
              <a:off x="0" y="0"/>
              <a:ext cx="1347977" cy="351020"/>
            </a:xfrm>
            <a:custGeom>
              <a:avLst/>
              <a:gdLst/>
              <a:ahLst/>
              <a:cxnLst/>
              <a:rect l="l" t="t" r="r" b="b"/>
              <a:pathLst>
                <a:path w="1347977" h="351020">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txBody>
            <a:bodyPr/>
            <a:lstStyle/>
            <a:p>
              <a:endParaRPr lang="zh-CN" altLang="en-US"/>
            </a:p>
          </p:txBody>
        </p:sp>
        <p:sp>
          <p:nvSpPr>
            <p:cNvPr id="8" name="TextBox 8"/>
            <p:cNvSpPr txBox="1"/>
            <p:nvPr/>
          </p:nvSpPr>
          <p:spPr>
            <a:xfrm>
              <a:off x="0" y="-47625"/>
              <a:ext cx="1347977" cy="39864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996797" y="3878119"/>
            <a:ext cx="8421405" cy="1265381"/>
          </a:xfrm>
          <a:prstGeom prst="rect">
            <a:avLst/>
          </a:prstGeom>
        </p:spPr>
        <p:txBody>
          <a:bodyPr lIns="0" tIns="0" rIns="0" bIns="0" rtlCol="0" anchor="t">
            <a:spAutoFit/>
          </a:bodyPr>
          <a:lstStyle/>
          <a:p>
            <a:pPr algn="ctr">
              <a:lnSpc>
                <a:spcPts val="10334"/>
              </a:lnSpc>
            </a:pPr>
            <a:r>
              <a:rPr lang="en-US" sz="7382" b="1">
                <a:solidFill>
                  <a:srgbClr val="004AAD"/>
                </a:solidFill>
                <a:latin typeface="League Spartan"/>
                <a:ea typeface="League Spartan"/>
                <a:cs typeface="League Spartan"/>
                <a:sym typeface="League Spartan"/>
              </a:rPr>
              <a:t>THANKS!</a:t>
            </a:r>
          </a:p>
        </p:txBody>
      </p:sp>
      <p:sp>
        <p:nvSpPr>
          <p:cNvPr id="13" name="TextBox 13"/>
          <p:cNvSpPr txBox="1"/>
          <p:nvPr/>
        </p:nvSpPr>
        <p:spPr>
          <a:xfrm>
            <a:off x="7347826" y="6846823"/>
            <a:ext cx="3592349" cy="535981"/>
          </a:xfrm>
          <a:prstGeom prst="rect">
            <a:avLst/>
          </a:prstGeom>
        </p:spPr>
        <p:txBody>
          <a:bodyPr lIns="0" tIns="0" rIns="0" bIns="0" rtlCol="0" anchor="t">
            <a:spAutoFit/>
          </a:bodyPr>
          <a:lstStyle/>
          <a:p>
            <a:pPr algn="ctr">
              <a:lnSpc>
                <a:spcPts val="4408"/>
              </a:lnSpc>
            </a:pPr>
            <a:r>
              <a:rPr lang="en-US" sz="3148">
                <a:solidFill>
                  <a:srgbClr val="FFFFFF"/>
                </a:solidFill>
                <a:latin typeface="League Spartan"/>
                <a:ea typeface="League Spartan"/>
                <a:cs typeface="League Spartan"/>
                <a:sym typeface="League Spartan"/>
              </a:rPr>
              <a:t>Q &amp; A</a:t>
            </a:r>
          </a:p>
        </p:txBody>
      </p:sp>
      <p:sp>
        <p:nvSpPr>
          <p:cNvPr id="14" name="TextBox 3">
            <a:extLst>
              <a:ext uri="{FF2B5EF4-FFF2-40B4-BE49-F238E27FC236}">
                <a16:creationId xmlns:a16="http://schemas.microsoft.com/office/drawing/2014/main" id="{B80795B2-113E-1770-1FB0-02CFFD185E3B}"/>
              </a:ext>
            </a:extLst>
          </p:cNvPr>
          <p:cNvSpPr txBox="1"/>
          <p:nvPr/>
        </p:nvSpPr>
        <p:spPr>
          <a:xfrm>
            <a:off x="2853622" y="5965492"/>
            <a:ext cx="12707754" cy="1762662"/>
          </a:xfrm>
          <a:prstGeom prst="rect">
            <a:avLst/>
          </a:prstGeom>
        </p:spPr>
        <p:txBody>
          <a:bodyPr lIns="0" tIns="0" rIns="0" bIns="0" rtlCol="0" anchor="t">
            <a:spAutoFit/>
          </a:bodyPr>
          <a:lstStyle/>
          <a:p>
            <a:pPr algn="ctr">
              <a:lnSpc>
                <a:spcPts val="7092"/>
              </a:lnSpc>
            </a:pPr>
            <a:r>
              <a:rPr lang="en-US" sz="3200" b="1" dirty="0">
                <a:solidFill>
                  <a:schemeClr val="bg1">
                    <a:lumMod val="85000"/>
                  </a:schemeClr>
                </a:solidFill>
                <a:latin typeface="League Spartan"/>
                <a:ea typeface="League Spartan"/>
                <a:cs typeface="League Spartan"/>
                <a:sym typeface="League Spartan"/>
              </a:rPr>
              <a:t>MULTI-AGENT SYNERGISTIC FRAMEWORK FOR CRYPTOCURRENCY INVESTMENT</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4"/>
                                        </p:tgtEl>
                                        <p:attrNameLst>
                                          <p:attrName>style.visibility</p:attrName>
                                        </p:attrNameLst>
                                      </p:cBhvr>
                                      <p:to>
                                        <p:strVal val="visible"/>
                                      </p:to>
                                    </p:set>
                                    <p:anim calcmode="lin" valueType="num">
                                      <p:cBhvr>
                                        <p:cTn id="7" dur="21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8" dur="210" fill="hold"/>
                                        <p:tgtEl>
                                          <p:spTgt spid="14"/>
                                        </p:tgtEl>
                                        <p:attrNameLst>
                                          <p:attrName>ppt_y</p:attrName>
                                        </p:attrNameLst>
                                      </p:cBhvr>
                                      <p:tavLst>
                                        <p:tav tm="0">
                                          <p:val>
                                            <p:strVal val="#ppt_y"/>
                                          </p:val>
                                        </p:tav>
                                        <p:tav tm="100000">
                                          <p:val>
                                            <p:strVal val="#ppt_y"/>
                                          </p:val>
                                        </p:tav>
                                      </p:tavLst>
                                    </p:anim>
                                    <p:anim calcmode="lin" valueType="num">
                                      <p:cBhvr>
                                        <p:cTn id="9" dur="21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10" dur="21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10" tmFilter="0,0; .5, 1; 1, 1"/>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4143</TotalTime>
  <Words>1947</Words>
  <Application>Microsoft Macintosh PowerPoint</Application>
  <PresentationFormat>自定义</PresentationFormat>
  <Paragraphs>192</Paragraphs>
  <Slides>27</Slides>
  <Notes>26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27</vt:i4>
      </vt:variant>
    </vt:vector>
  </HeadingPairs>
  <TitlesOfParts>
    <vt:vector size="36" baseType="lpstr">
      <vt:lpstr>Calibri</vt:lpstr>
      <vt:lpstr>Poppins Bold</vt:lpstr>
      <vt:lpstr>Poppins</vt:lpstr>
      <vt:lpstr>League Spartan</vt:lpstr>
      <vt:lpstr>Roboto</vt:lpstr>
      <vt:lpstr>等线</vt:lpstr>
      <vt:lpstr>Roboto Bold</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Synergistic Framework for Cryptocurrency Investment</dc:title>
  <dc:subject/>
  <dc:creator/>
  <cp:keywords/>
  <dc:description/>
  <cp:lastModifiedBy>秀芬 邬</cp:lastModifiedBy>
  <cp:revision>7</cp:revision>
  <dcterms:created xsi:type="dcterms:W3CDTF">2006-08-16T00:00:00Z</dcterms:created>
  <dcterms:modified xsi:type="dcterms:W3CDTF">2026-08-19T12:11:12Z</dcterms:modified>
  <cp:category/>
  <dc:identifier>DAG-Ss2X3Vg</dc:identifier>
</cp:coreProperties>
</file>